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2"/>
  </p:sldMasterIdLst>
  <p:notesMasterIdLst>
    <p:notesMasterId r:id="rId21"/>
  </p:notesMasterIdLst>
  <p:sldIdLst>
    <p:sldId id="260" r:id="rId3"/>
    <p:sldId id="256" r:id="rId4"/>
    <p:sldId id="275" r:id="rId5"/>
    <p:sldId id="257" r:id="rId6"/>
    <p:sldId id="277" r:id="rId7"/>
    <p:sldId id="276" r:id="rId8"/>
    <p:sldId id="258" r:id="rId9"/>
    <p:sldId id="278" r:id="rId10"/>
    <p:sldId id="262" r:id="rId11"/>
    <p:sldId id="283" r:id="rId12"/>
    <p:sldId id="259" r:id="rId13"/>
    <p:sldId id="264" r:id="rId14"/>
    <p:sldId id="279" r:id="rId15"/>
    <p:sldId id="281" r:id="rId16"/>
    <p:sldId id="280" r:id="rId17"/>
    <p:sldId id="261" r:id="rId18"/>
    <p:sldId id="282" r:id="rId19"/>
    <p:sldId id="267" r:id="rId20"/>
  </p:sldIdLst>
  <p:sldSz cx="18288000" cy="10287000"/>
  <p:notesSz cx="6858000" cy="9144000"/>
  <p:embeddedFontLst>
    <p:embeddedFont>
      <p:font typeface="Bebas Neue Cyrillic" panose="020B0604020202020204" charset="0"/>
      <p:regular r:id="rId22"/>
    </p:embeddedFont>
    <p:embeddedFont>
      <p:font typeface="Bricolage Grotesque 36" panose="020B0604020202020204" charset="0"/>
      <p:regular r:id="rId23"/>
    </p:embeddedFont>
    <p:embeddedFont>
      <p:font typeface="Bricolage Grotesque 36 Bold" panose="020B0604020202020204" charset="0"/>
      <p:regular r:id="rId24"/>
    </p:embeddedFont>
    <p:embeddedFont>
      <p:font typeface="Bricolage Grotesque 36 Light" panose="020B060402020202020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Montserrat Bold" panose="020B0604020202020204" charset="0"/>
      <p:regular r:id="rId30"/>
    </p:embeddedFont>
    <p:embeddedFont>
      <p:font typeface="Montserrat Ultra-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FA8"/>
    <a:srgbClr val="DDA707"/>
    <a:srgbClr val="7F7F7F"/>
    <a:srgbClr val="0FAF7F"/>
    <a:srgbClr val="E6BF1A"/>
    <a:srgbClr val="298C6D"/>
    <a:srgbClr val="F2F2F2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9" d="100"/>
          <a:sy n="109" d="100"/>
        </p:scale>
        <p:origin x="17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00E144E4-9396-4D52-BEC3-50ECFFCD4585}" type="datetimeFigureOut">
              <a:rPr lang="ar-EG" smtClean="0"/>
              <a:t>22/06/1447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2D4BB55C-BFB3-423E-B3A5-113A91EB9C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8953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A219-8C36-980A-0C4E-28DD19B16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CC696-4E9C-6248-47F1-1E9159BAC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5C146-DE92-38B9-06B0-750ED83EE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F4851-8BBB-3A51-8AD8-8CF4EFE7B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69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BB55C-BFB3-423E-B3A5-113A91EB9C18}" type="slidenum">
              <a:rPr lang="ar-EG" smtClean="0"/>
              <a:t>16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84881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62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43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9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18288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1828800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1828800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771" y="0"/>
            <a:ext cx="18288000" cy="10330308"/>
          </a:xfrm>
          <a:prstGeom prst="rect">
            <a:avLst/>
          </a:prstGeom>
        </p:spPr>
      </p:pic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F6F7CD2E-A264-286E-AF3D-983A9E17D6DA}"/>
              </a:ext>
            </a:extLst>
          </p:cNvPr>
          <p:cNvSpPr/>
          <p:nvPr/>
        </p:nvSpPr>
        <p:spPr>
          <a:xfrm>
            <a:off x="14933180" y="7621387"/>
            <a:ext cx="3354820" cy="2748408"/>
          </a:xfrm>
          <a:prstGeom prst="snip2Diag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sz="1100"/>
          </a:p>
        </p:txBody>
      </p:sp>
      <p:sp>
        <p:nvSpPr>
          <p:cNvPr id="4" name="Text 1"/>
          <p:cNvSpPr/>
          <p:nvPr/>
        </p:nvSpPr>
        <p:spPr>
          <a:xfrm>
            <a:off x="1143000" y="2343151"/>
            <a:ext cx="8001000" cy="330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00"/>
              </a:lnSpc>
            </a:pPr>
            <a:r>
              <a:rPr lang="en-US" sz="8000" dirty="0">
                <a:solidFill>
                  <a:srgbClr val="F2F2F2"/>
                </a:solidFill>
                <a:latin typeface="Bebas Neue Cyrillic"/>
              </a:rPr>
              <a:t>Sales</a:t>
            </a:r>
            <a:r>
              <a:rPr lang="en-US" sz="8000" b="1" dirty="0">
                <a:solidFill>
                  <a:srgbClr val="F2F2F2"/>
                </a:solidFill>
              </a:rPr>
              <a:t> </a:t>
            </a:r>
            <a:r>
              <a:rPr lang="en-US" sz="8000" dirty="0">
                <a:solidFill>
                  <a:srgbClr val="F2F2F2"/>
                </a:solidFill>
                <a:latin typeface="Bebas Neue Cyrillic"/>
              </a:rPr>
              <a:t>Performance</a:t>
            </a:r>
            <a:r>
              <a:rPr lang="en-US" sz="8000" b="1" dirty="0">
                <a:solidFill>
                  <a:srgbClr val="F2F2F2"/>
                </a:solidFill>
              </a:rPr>
              <a:t> </a:t>
            </a:r>
            <a:r>
              <a:rPr lang="en-US" sz="8000" dirty="0">
                <a:solidFill>
                  <a:srgbClr val="F2F2F2"/>
                </a:solidFill>
                <a:latin typeface="Bebas Neue Cyrillic"/>
              </a:rPr>
              <a:t>Analysis</a:t>
            </a:r>
            <a:r>
              <a:rPr lang="en-US" sz="8000" b="1" dirty="0">
                <a:solidFill>
                  <a:srgbClr val="F2F2F2"/>
                </a:solidFill>
              </a:rPr>
              <a:t> </a:t>
            </a:r>
            <a:r>
              <a:rPr lang="en-US" sz="8000" dirty="0">
                <a:solidFill>
                  <a:srgbClr val="F2F2F2"/>
                </a:solidFill>
                <a:latin typeface="Bebas Neue Cyrillic"/>
              </a:rPr>
              <a:t>for</a:t>
            </a:r>
            <a:r>
              <a:rPr lang="en-US" sz="8000" b="1" dirty="0">
                <a:solidFill>
                  <a:srgbClr val="F2F2F2"/>
                </a:solidFill>
              </a:rPr>
              <a:t> </a:t>
            </a:r>
            <a:r>
              <a:rPr lang="en-US" sz="8000" dirty="0">
                <a:solidFill>
                  <a:srgbClr val="F2F2F2"/>
                </a:solidFill>
                <a:latin typeface="Bebas Neue Cyrillic"/>
              </a:rPr>
              <a:t>Better</a:t>
            </a:r>
            <a:r>
              <a:rPr lang="en-US" sz="8000" b="1" dirty="0">
                <a:solidFill>
                  <a:srgbClr val="F2F2F2"/>
                </a:solidFill>
              </a:rPr>
              <a:t> </a:t>
            </a:r>
            <a:r>
              <a:rPr lang="en-US" sz="8000" dirty="0">
                <a:solidFill>
                  <a:srgbClr val="F2F2F2"/>
                </a:solidFill>
                <a:latin typeface="Bebas Neue Cyrillic"/>
              </a:rPr>
              <a:t>Business</a:t>
            </a:r>
            <a:r>
              <a:rPr lang="en-US" sz="8000" b="1" dirty="0">
                <a:solidFill>
                  <a:srgbClr val="F2F2F2"/>
                </a:solidFill>
              </a:rPr>
              <a:t> </a:t>
            </a:r>
            <a:r>
              <a:rPr lang="en-US" sz="8000" dirty="0">
                <a:solidFill>
                  <a:srgbClr val="F2F2F2"/>
                </a:solidFill>
                <a:latin typeface="Bebas Neue Cyrillic"/>
              </a:rPr>
              <a:t>Decisions</a:t>
            </a:r>
          </a:p>
        </p:txBody>
      </p:sp>
      <p:sp>
        <p:nvSpPr>
          <p:cNvPr id="5" name="Text 2"/>
          <p:cNvSpPr/>
          <p:nvPr/>
        </p:nvSpPr>
        <p:spPr>
          <a:xfrm>
            <a:off x="1143001" y="9212312"/>
            <a:ext cx="6953827" cy="3731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000" dirty="0">
                <a:solidFill>
                  <a:srgbClr val="0FAF7F"/>
                </a:solidFill>
                <a:latin typeface="Bricolage Grotesque 36" panose="020B0604020202020204" charset="0"/>
              </a:rPr>
              <a:t>Turning Raw Data into Actionable Insights</a:t>
            </a:r>
          </a:p>
        </p:txBody>
      </p:sp>
      <p:sp>
        <p:nvSpPr>
          <p:cNvPr id="6" name="Text 3"/>
          <p:cNvSpPr/>
          <p:nvPr/>
        </p:nvSpPr>
        <p:spPr>
          <a:xfrm>
            <a:off x="1143000" y="5892684"/>
            <a:ext cx="3653244" cy="487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800"/>
              </a:lnSpc>
            </a:pPr>
            <a:r>
              <a:rPr lang="en-US" sz="4000" i="1" dirty="0">
                <a:solidFill>
                  <a:srgbClr val="F2F2F2"/>
                </a:solidFill>
                <a:latin typeface="Bebas Neue Cyrillic"/>
              </a:rPr>
              <a:t>By: Limitless Insights</a:t>
            </a:r>
          </a:p>
        </p:txBody>
      </p:sp>
      <p:sp>
        <p:nvSpPr>
          <p:cNvPr id="7" name="Text 4"/>
          <p:cNvSpPr/>
          <p:nvPr/>
        </p:nvSpPr>
        <p:spPr>
          <a:xfrm>
            <a:off x="10272560" y="2628900"/>
            <a:ext cx="791883" cy="359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4000" dirty="0">
                <a:solidFill>
                  <a:srgbClr val="336FA8"/>
                </a:solidFill>
                <a:latin typeface="Bebas Neue Cyrillic"/>
              </a:rPr>
              <a:t>Date</a:t>
            </a:r>
          </a:p>
        </p:txBody>
      </p:sp>
      <p:sp>
        <p:nvSpPr>
          <p:cNvPr id="8" name="Text 5"/>
          <p:cNvSpPr/>
          <p:nvPr/>
        </p:nvSpPr>
        <p:spPr>
          <a:xfrm>
            <a:off x="10283446" y="3080813"/>
            <a:ext cx="2343590" cy="387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500" dirty="0">
                <a:solidFill>
                  <a:srgbClr val="CCCCCC"/>
                </a:solidFill>
                <a:latin typeface="Bricolage Grotesque 36" panose="020B0604020202020204" charset="0"/>
              </a:rPr>
              <a:t>5 / 12 / 2025</a:t>
            </a:r>
          </a:p>
        </p:txBody>
      </p:sp>
      <p:sp>
        <p:nvSpPr>
          <p:cNvPr id="13" name="Text 10"/>
          <p:cNvSpPr/>
          <p:nvPr/>
        </p:nvSpPr>
        <p:spPr>
          <a:xfrm>
            <a:off x="10287000" y="4009070"/>
            <a:ext cx="4648200" cy="35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4000" dirty="0">
                <a:solidFill>
                  <a:srgbClr val="336FA8"/>
                </a:solidFill>
                <a:latin typeface="Bebas Neue Cyrillic"/>
              </a:rPr>
              <a:t>Supervised</a:t>
            </a:r>
            <a:r>
              <a:rPr lang="en-US" sz="1366" b="1" dirty="0">
                <a:solidFill>
                  <a:srgbClr val="0052CC"/>
                </a:solidFill>
              </a:rPr>
              <a:t> </a:t>
            </a:r>
            <a:r>
              <a:rPr lang="en-US" sz="4000" dirty="0">
                <a:solidFill>
                  <a:srgbClr val="336FA8"/>
                </a:solidFill>
                <a:latin typeface="Bebas Neue Cyrillic"/>
              </a:rPr>
              <a:t>by: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A6BAC195-7D7C-C3DA-4738-1990771F1C8E}"/>
              </a:ext>
            </a:extLst>
          </p:cNvPr>
          <p:cNvSpPr/>
          <p:nvPr/>
        </p:nvSpPr>
        <p:spPr>
          <a:xfrm>
            <a:off x="10320892" y="4448208"/>
            <a:ext cx="4834657" cy="390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500" dirty="0">
                <a:solidFill>
                  <a:srgbClr val="CCCCCC"/>
                </a:solidFill>
                <a:latin typeface="Bricolage Grotesque 36" panose="020B0604020202020204" charset="0"/>
              </a:rPr>
              <a:t>Eng. Waleed Mohammed</a:t>
            </a:r>
            <a:endParaRPr lang="en-US" sz="3500" dirty="0">
              <a:latin typeface="Bricolage Grotesque 36" panose="020B0604020202020204" charset="0"/>
            </a:endParaRP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61C7A29-27C4-F9CB-2A48-D84D7528ED1D}"/>
              </a:ext>
            </a:extLst>
          </p:cNvPr>
          <p:cNvSpPr/>
          <p:nvPr/>
        </p:nvSpPr>
        <p:spPr>
          <a:xfrm>
            <a:off x="15392400" y="7886700"/>
            <a:ext cx="2477266" cy="2037213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9561" y="1"/>
            <a:ext cx="19407121" cy="11484116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2" r="-2112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>
            <a:off x="3628970" y="2524414"/>
            <a:ext cx="2747121" cy="909012"/>
            <a:chOff x="0" y="0"/>
            <a:chExt cx="1429182" cy="4726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9182" cy="472694"/>
            </a:xfrm>
            <a:custGeom>
              <a:avLst/>
              <a:gdLst/>
              <a:ahLst/>
              <a:cxnLst/>
              <a:rect l="l" t="t" r="r" b="b"/>
              <a:pathLst>
                <a:path w="1429182" h="472694">
                  <a:moveTo>
                    <a:pt x="1429182" y="53546"/>
                  </a:moveTo>
                  <a:lnTo>
                    <a:pt x="1429182" y="419148"/>
                  </a:lnTo>
                  <a:cubicBezTo>
                    <a:pt x="1429182" y="448720"/>
                    <a:pt x="1405209" y="472694"/>
                    <a:pt x="1375637" y="472694"/>
                  </a:cubicBezTo>
                  <a:lnTo>
                    <a:pt x="53546" y="472694"/>
                  </a:lnTo>
                  <a:cubicBezTo>
                    <a:pt x="23973" y="472694"/>
                    <a:pt x="0" y="448720"/>
                    <a:pt x="0" y="419148"/>
                  </a:cubicBezTo>
                  <a:lnTo>
                    <a:pt x="0" y="53546"/>
                  </a:lnTo>
                  <a:cubicBezTo>
                    <a:pt x="0" y="23973"/>
                    <a:pt x="23973" y="0"/>
                    <a:pt x="53546" y="0"/>
                  </a:cubicBezTo>
                  <a:lnTo>
                    <a:pt x="1375637" y="0"/>
                  </a:lnTo>
                  <a:cubicBezTo>
                    <a:pt x="1405209" y="0"/>
                    <a:pt x="1429182" y="23973"/>
                    <a:pt x="1429182" y="53546"/>
                  </a:cubicBezTo>
                  <a:close/>
                </a:path>
              </a:pathLst>
            </a:custGeom>
            <a:solidFill>
              <a:srgbClr val="E3BD19"/>
            </a:solidFill>
            <a:ln w="28575" cap="sq">
              <a:solidFill>
                <a:srgbClr val="8D5D39"/>
              </a:solidFill>
              <a:prstDash val="solid"/>
              <a:miter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9182" cy="510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38403" y="2524414"/>
            <a:ext cx="2747121" cy="909012"/>
            <a:chOff x="0" y="0"/>
            <a:chExt cx="1429182" cy="4726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29182" cy="472694"/>
            </a:xfrm>
            <a:custGeom>
              <a:avLst/>
              <a:gdLst/>
              <a:ahLst/>
              <a:cxnLst/>
              <a:rect l="l" t="t" r="r" b="b"/>
              <a:pathLst>
                <a:path w="1429182" h="472694">
                  <a:moveTo>
                    <a:pt x="1429182" y="53546"/>
                  </a:moveTo>
                  <a:lnTo>
                    <a:pt x="1429182" y="419148"/>
                  </a:lnTo>
                  <a:cubicBezTo>
                    <a:pt x="1429182" y="448720"/>
                    <a:pt x="1405209" y="472694"/>
                    <a:pt x="1375637" y="472694"/>
                  </a:cubicBezTo>
                  <a:lnTo>
                    <a:pt x="53546" y="472694"/>
                  </a:lnTo>
                  <a:cubicBezTo>
                    <a:pt x="23973" y="472694"/>
                    <a:pt x="0" y="448720"/>
                    <a:pt x="0" y="419148"/>
                  </a:cubicBezTo>
                  <a:lnTo>
                    <a:pt x="0" y="53546"/>
                  </a:lnTo>
                  <a:cubicBezTo>
                    <a:pt x="0" y="23973"/>
                    <a:pt x="23973" y="0"/>
                    <a:pt x="53546" y="0"/>
                  </a:cubicBezTo>
                  <a:lnTo>
                    <a:pt x="1375637" y="0"/>
                  </a:lnTo>
                  <a:cubicBezTo>
                    <a:pt x="1405209" y="0"/>
                    <a:pt x="1429182" y="23973"/>
                    <a:pt x="1429182" y="53546"/>
                  </a:cubicBezTo>
                  <a:close/>
                </a:path>
              </a:pathLst>
            </a:custGeom>
            <a:solidFill>
              <a:srgbClr val="336EA9"/>
            </a:solidFill>
            <a:ln w="28575" cap="sq">
              <a:solidFill>
                <a:srgbClr val="8D5D39"/>
              </a:solidFill>
              <a:prstDash val="solid"/>
              <a:miter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29182" cy="510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28970" y="6548817"/>
            <a:ext cx="2747121" cy="909012"/>
            <a:chOff x="0" y="0"/>
            <a:chExt cx="1429182" cy="4726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29182" cy="472694"/>
            </a:xfrm>
            <a:custGeom>
              <a:avLst/>
              <a:gdLst/>
              <a:ahLst/>
              <a:cxnLst/>
              <a:rect l="l" t="t" r="r" b="b"/>
              <a:pathLst>
                <a:path w="1429182" h="472694">
                  <a:moveTo>
                    <a:pt x="1429182" y="53546"/>
                  </a:moveTo>
                  <a:lnTo>
                    <a:pt x="1429182" y="419148"/>
                  </a:lnTo>
                  <a:cubicBezTo>
                    <a:pt x="1429182" y="448720"/>
                    <a:pt x="1405209" y="472694"/>
                    <a:pt x="1375637" y="472694"/>
                  </a:cubicBezTo>
                  <a:lnTo>
                    <a:pt x="53546" y="472694"/>
                  </a:lnTo>
                  <a:cubicBezTo>
                    <a:pt x="23973" y="472694"/>
                    <a:pt x="0" y="448720"/>
                    <a:pt x="0" y="419148"/>
                  </a:cubicBezTo>
                  <a:lnTo>
                    <a:pt x="0" y="53546"/>
                  </a:lnTo>
                  <a:cubicBezTo>
                    <a:pt x="0" y="23973"/>
                    <a:pt x="23973" y="0"/>
                    <a:pt x="53546" y="0"/>
                  </a:cubicBezTo>
                  <a:lnTo>
                    <a:pt x="1375637" y="0"/>
                  </a:lnTo>
                  <a:cubicBezTo>
                    <a:pt x="1405209" y="0"/>
                    <a:pt x="1429182" y="23973"/>
                    <a:pt x="1429182" y="53546"/>
                  </a:cubicBezTo>
                  <a:close/>
                </a:path>
              </a:pathLst>
            </a:custGeom>
            <a:solidFill>
              <a:srgbClr val="0FAB7C"/>
            </a:solidFill>
            <a:ln w="28575" cap="sq">
              <a:solidFill>
                <a:srgbClr val="8D5D39"/>
              </a:solidFill>
              <a:prstDash val="solid"/>
              <a:miter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29182" cy="510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38403" y="6548817"/>
            <a:ext cx="2747121" cy="909012"/>
            <a:chOff x="0" y="0"/>
            <a:chExt cx="1429182" cy="4726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29182" cy="472694"/>
            </a:xfrm>
            <a:custGeom>
              <a:avLst/>
              <a:gdLst/>
              <a:ahLst/>
              <a:cxnLst/>
              <a:rect l="l" t="t" r="r" b="b"/>
              <a:pathLst>
                <a:path w="1429182" h="472694">
                  <a:moveTo>
                    <a:pt x="1429182" y="53546"/>
                  </a:moveTo>
                  <a:lnTo>
                    <a:pt x="1429182" y="419148"/>
                  </a:lnTo>
                  <a:cubicBezTo>
                    <a:pt x="1429182" y="448720"/>
                    <a:pt x="1405209" y="472694"/>
                    <a:pt x="1375637" y="472694"/>
                  </a:cubicBezTo>
                  <a:lnTo>
                    <a:pt x="53546" y="472694"/>
                  </a:lnTo>
                  <a:cubicBezTo>
                    <a:pt x="23973" y="472694"/>
                    <a:pt x="0" y="448720"/>
                    <a:pt x="0" y="419148"/>
                  </a:cubicBezTo>
                  <a:lnTo>
                    <a:pt x="0" y="53546"/>
                  </a:lnTo>
                  <a:cubicBezTo>
                    <a:pt x="0" y="23973"/>
                    <a:pt x="23973" y="0"/>
                    <a:pt x="53546" y="0"/>
                  </a:cubicBezTo>
                  <a:lnTo>
                    <a:pt x="1375637" y="0"/>
                  </a:lnTo>
                  <a:cubicBezTo>
                    <a:pt x="1405209" y="0"/>
                    <a:pt x="1429182" y="23973"/>
                    <a:pt x="1429182" y="53546"/>
                  </a:cubicBezTo>
                  <a:close/>
                </a:path>
              </a:pathLst>
            </a:custGeom>
            <a:solidFill>
              <a:srgbClr val="B4B4B8"/>
            </a:solidFill>
            <a:ln w="28575" cap="sq">
              <a:solidFill>
                <a:srgbClr val="8D5D39"/>
              </a:solidFill>
              <a:prstDash val="solid"/>
              <a:miter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29182" cy="510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665078" y="3342749"/>
            <a:ext cx="4984339" cy="4177782"/>
          </a:xfrm>
          <a:custGeom>
            <a:avLst/>
            <a:gdLst/>
            <a:ahLst/>
            <a:cxnLst/>
            <a:rect l="l" t="t" r="r" b="b"/>
            <a:pathLst>
              <a:path w="4984339" h="4177782">
                <a:moveTo>
                  <a:pt x="0" y="0"/>
                </a:moveTo>
                <a:lnTo>
                  <a:pt x="4984339" y="0"/>
                </a:lnTo>
                <a:lnTo>
                  <a:pt x="4984339" y="4177783"/>
                </a:lnTo>
                <a:lnTo>
                  <a:pt x="0" y="41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6" name="Freeform 16"/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7" name="TextBox 17"/>
          <p:cNvSpPr txBox="1"/>
          <p:nvPr/>
        </p:nvSpPr>
        <p:spPr>
          <a:xfrm>
            <a:off x="3632207" y="3502146"/>
            <a:ext cx="2747121" cy="82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6"/>
              </a:lnSpc>
            </a:pPr>
            <a:r>
              <a:rPr lang="en-US" sz="3033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SQL Queries &amp; KPIS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38403" y="3502146"/>
            <a:ext cx="6037850" cy="83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3033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Team Leader</a:t>
            </a:r>
          </a:p>
          <a:p>
            <a:pPr algn="l">
              <a:lnSpc>
                <a:spcPts val="3246"/>
              </a:lnSpc>
            </a:pPr>
            <a:r>
              <a:rPr lang="en-US" sz="3033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Data Cleaning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28075" y="7568157"/>
            <a:ext cx="4348016" cy="421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46"/>
              </a:lnSpc>
            </a:pPr>
            <a:r>
              <a:rPr lang="en-US" sz="3033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Data Modeling Structure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87200" y="7625307"/>
            <a:ext cx="4021908" cy="421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246"/>
              </a:lnSpc>
            </a:pPr>
            <a:r>
              <a:rPr lang="en-US" sz="3033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PowerBI Dashboard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40669" y="2636856"/>
            <a:ext cx="2323725" cy="73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16"/>
              </a:lnSpc>
              <a:spcBef>
                <a:spcPct val="0"/>
              </a:spcBef>
            </a:pPr>
            <a:r>
              <a:rPr lang="en-US" sz="4550" spc="227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Basant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50102" y="2636856"/>
            <a:ext cx="2323725" cy="69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16"/>
              </a:lnSpc>
              <a:spcBef>
                <a:spcPct val="0"/>
              </a:spcBef>
            </a:pPr>
            <a:r>
              <a:rPr lang="en-US" sz="4550" spc="227" dirty="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Kareem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33201" y="6661258"/>
            <a:ext cx="2538659" cy="69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16"/>
              </a:lnSpc>
              <a:spcBef>
                <a:spcPct val="0"/>
              </a:spcBef>
            </a:pPr>
            <a:r>
              <a:rPr lang="en-US" sz="4550" spc="227" dirty="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Mohammed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50102" y="6661258"/>
            <a:ext cx="2323725" cy="73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16"/>
              </a:lnSpc>
              <a:spcBef>
                <a:spcPct val="0"/>
              </a:spcBef>
            </a:pPr>
            <a:r>
              <a:rPr lang="en-US" sz="4550" spc="227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Eman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6916" y="1070078"/>
            <a:ext cx="15880662" cy="117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40"/>
              </a:lnSpc>
              <a:spcBef>
                <a:spcPct val="0"/>
              </a:spcBef>
            </a:pPr>
            <a:r>
              <a:rPr lang="en-US" sz="8000" dirty="0">
                <a:solidFill>
                  <a:srgbClr val="25282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Meet the team!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3206" y="8865394"/>
            <a:ext cx="16321587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3200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A full-stack data analysis team handling data collection, cleaning, database building, advanced SQL analysis, and Power BI dashboard development to deliver actionable insights.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>
            <a:extLst>
              <a:ext uri="{FF2B5EF4-FFF2-40B4-BE49-F238E27FC236}">
                <a16:creationId xmlns:a16="http://schemas.microsoft.com/office/drawing/2014/main" id="{7751484E-155F-1A4F-F720-A27CD1B31512}"/>
              </a:ext>
            </a:extLst>
          </p:cNvPr>
          <p:cNvSpPr/>
          <p:nvPr/>
        </p:nvSpPr>
        <p:spPr>
          <a:xfrm>
            <a:off x="-559561" y="-190500"/>
            <a:ext cx="19407121" cy="11484116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2" r="-2112"/>
            </a:stretch>
          </a:blipFill>
        </p:spPr>
        <p:txBody>
          <a:bodyPr/>
          <a:lstStyle/>
          <a:p>
            <a:endParaRPr lang="ar-EG" sz="800" dirty="0"/>
          </a:p>
        </p:txBody>
      </p:sp>
      <p:sp>
        <p:nvSpPr>
          <p:cNvPr id="3" name="Text 0"/>
          <p:cNvSpPr/>
          <p:nvPr/>
        </p:nvSpPr>
        <p:spPr>
          <a:xfrm>
            <a:off x="5473924" y="1122703"/>
            <a:ext cx="7340151" cy="66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4600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Project Idea and Goal</a:t>
            </a:r>
          </a:p>
        </p:txBody>
      </p:sp>
      <p:sp>
        <p:nvSpPr>
          <p:cNvPr id="4" name="Text 1"/>
          <p:cNvSpPr/>
          <p:nvPr/>
        </p:nvSpPr>
        <p:spPr>
          <a:xfrm>
            <a:off x="857250" y="3082156"/>
            <a:ext cx="1600053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3000" i="1" dirty="0">
                <a:solidFill>
                  <a:srgbClr val="0FAF7F"/>
                </a:solidFill>
                <a:latin typeface="Bricolage Grotesque 36" panose="020B0604020202020204" charset="0"/>
              </a:rPr>
              <a:t>Core</a:t>
            </a:r>
            <a:r>
              <a:rPr lang="en-US" sz="3000" b="1" i="1" kern="0" spc="2" dirty="0">
                <a:solidFill>
                  <a:srgbClr val="0052CC"/>
                </a:solidFill>
              </a:rPr>
              <a:t> </a:t>
            </a:r>
            <a:r>
              <a:rPr lang="en-US" sz="3000" i="1" dirty="0">
                <a:solidFill>
                  <a:srgbClr val="0FAF7F"/>
                </a:solidFill>
                <a:latin typeface="Bricolage Grotesque 36" panose="020B0604020202020204" charset="0"/>
              </a:rPr>
              <a:t>Idea</a:t>
            </a:r>
          </a:p>
        </p:txBody>
      </p:sp>
      <p:sp>
        <p:nvSpPr>
          <p:cNvPr id="5" name="Text 2"/>
          <p:cNvSpPr/>
          <p:nvPr/>
        </p:nvSpPr>
        <p:spPr>
          <a:xfrm>
            <a:off x="857251" y="3496494"/>
            <a:ext cx="10952526" cy="984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Comprehensive analysis of sales data to determine current market performance and identify future growth trends</a:t>
            </a:r>
          </a:p>
        </p:txBody>
      </p:sp>
      <p:sp>
        <p:nvSpPr>
          <p:cNvPr id="6" name="Text 3"/>
          <p:cNvSpPr/>
          <p:nvPr/>
        </p:nvSpPr>
        <p:spPr>
          <a:xfrm>
            <a:off x="857251" y="5114397"/>
            <a:ext cx="164147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3000" i="1" dirty="0">
                <a:solidFill>
                  <a:srgbClr val="0FAF7F"/>
                </a:solidFill>
                <a:latin typeface="Bricolage Grotesque 36" panose="020B0604020202020204" charset="0"/>
              </a:rPr>
              <a:t>Main Goal</a:t>
            </a:r>
          </a:p>
        </p:txBody>
      </p:sp>
      <p:sp>
        <p:nvSpPr>
          <p:cNvPr id="7" name="Text 4"/>
          <p:cNvSpPr/>
          <p:nvPr/>
        </p:nvSpPr>
        <p:spPr>
          <a:xfrm>
            <a:off x="857250" y="5528736"/>
            <a:ext cx="10725149" cy="147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Provide actionable insights to help decision-makers assess market evolution, identify seasonal and regional patterns, and optimize pricing and inventory strategies</a:t>
            </a:r>
          </a:p>
        </p:txBody>
      </p:sp>
      <p:sp>
        <p:nvSpPr>
          <p:cNvPr id="8" name="Text 5"/>
          <p:cNvSpPr/>
          <p:nvPr/>
        </p:nvSpPr>
        <p:spPr>
          <a:xfrm>
            <a:off x="818321" y="7595035"/>
            <a:ext cx="172162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3000" i="1" dirty="0">
                <a:solidFill>
                  <a:srgbClr val="0FAF7F"/>
                </a:solidFill>
                <a:latin typeface="Bricolage Grotesque 36" panose="020B0604020202020204" charset="0"/>
              </a:rPr>
              <a:t>Sub-Goals</a:t>
            </a:r>
          </a:p>
        </p:txBody>
      </p:sp>
      <p:sp>
        <p:nvSpPr>
          <p:cNvPr id="9" name="Text 6"/>
          <p:cNvSpPr/>
          <p:nvPr/>
        </p:nvSpPr>
        <p:spPr>
          <a:xfrm>
            <a:off x="818321" y="8009373"/>
            <a:ext cx="7218323" cy="3608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457200" indent="-4572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Assess market size and sales volume</a:t>
            </a:r>
          </a:p>
        </p:txBody>
      </p:sp>
      <p:sp>
        <p:nvSpPr>
          <p:cNvPr id="11" name="Text 8"/>
          <p:cNvSpPr/>
          <p:nvPr/>
        </p:nvSpPr>
        <p:spPr>
          <a:xfrm>
            <a:off x="818321" y="8536825"/>
            <a:ext cx="9002464" cy="3608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457200" indent="-4572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Determine regional and local sales performance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CB4B36-1F73-15C9-113B-E4676FD21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8449" y="3444261"/>
            <a:ext cx="4462300" cy="4662533"/>
          </a:xfrm>
          <a:prstGeom prst="rect">
            <a:avLst/>
          </a:prstGeom>
        </p:spPr>
      </p:pic>
      <p:sp>
        <p:nvSpPr>
          <p:cNvPr id="16" name="Freeform 30">
            <a:extLst>
              <a:ext uri="{FF2B5EF4-FFF2-40B4-BE49-F238E27FC236}">
                <a16:creationId xmlns:a16="http://schemas.microsoft.com/office/drawing/2014/main" id="{68AC53E4-1278-1149-2FBA-5ED766C42919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59561" y="-16329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2" r="-2112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>
            <a:off x="12031776" y="1621490"/>
            <a:ext cx="4262927" cy="4278219"/>
            <a:chOff x="0" y="-38100"/>
            <a:chExt cx="1122746" cy="1126255"/>
          </a:xfrm>
        </p:grpSpPr>
        <p:sp>
          <p:nvSpPr>
            <p:cNvPr id="4" name="Freeform 4"/>
            <p:cNvSpPr/>
            <p:nvPr/>
          </p:nvSpPr>
          <p:spPr>
            <a:xfrm>
              <a:off x="260032" y="801205"/>
              <a:ext cx="862714" cy="286950"/>
            </a:xfrm>
            <a:custGeom>
              <a:avLst/>
              <a:gdLst/>
              <a:ahLst/>
              <a:cxnLst/>
              <a:rect l="l" t="t" r="r" b="b"/>
              <a:pathLst>
                <a:path w="862714" h="286950">
                  <a:moveTo>
                    <a:pt x="862714" y="70905"/>
                  </a:moveTo>
                  <a:lnTo>
                    <a:pt x="862714" y="216045"/>
                  </a:lnTo>
                  <a:cubicBezTo>
                    <a:pt x="862714" y="255205"/>
                    <a:pt x="830969" y="286950"/>
                    <a:pt x="791809" y="286950"/>
                  </a:cubicBezTo>
                  <a:lnTo>
                    <a:pt x="70905" y="286950"/>
                  </a:lnTo>
                  <a:cubicBezTo>
                    <a:pt x="31745" y="286950"/>
                    <a:pt x="0" y="255205"/>
                    <a:pt x="0" y="216045"/>
                  </a:cubicBezTo>
                  <a:lnTo>
                    <a:pt x="0" y="70905"/>
                  </a:lnTo>
                  <a:cubicBezTo>
                    <a:pt x="0" y="31745"/>
                    <a:pt x="31745" y="0"/>
                    <a:pt x="70905" y="0"/>
                  </a:cubicBezTo>
                  <a:lnTo>
                    <a:pt x="791809" y="0"/>
                  </a:lnTo>
                  <a:cubicBezTo>
                    <a:pt x="810614" y="0"/>
                    <a:pt x="828649" y="7470"/>
                    <a:pt x="841947" y="20768"/>
                  </a:cubicBezTo>
                  <a:cubicBezTo>
                    <a:pt x="855244" y="34065"/>
                    <a:pt x="862714" y="52100"/>
                    <a:pt x="862714" y="70905"/>
                  </a:cubicBezTo>
                  <a:close/>
                </a:path>
              </a:pathLst>
            </a:custGeom>
            <a:solidFill>
              <a:srgbClr val="FFEB97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62714" cy="325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84484" y="2592711"/>
            <a:ext cx="3275618" cy="1090015"/>
            <a:chOff x="0" y="0"/>
            <a:chExt cx="862714" cy="28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2714" cy="286950"/>
            </a:xfrm>
            <a:custGeom>
              <a:avLst/>
              <a:gdLst/>
              <a:ahLst/>
              <a:cxnLst/>
              <a:rect l="l" t="t" r="r" b="b"/>
              <a:pathLst>
                <a:path w="862714" h="286950">
                  <a:moveTo>
                    <a:pt x="862714" y="70905"/>
                  </a:moveTo>
                  <a:lnTo>
                    <a:pt x="862714" y="216045"/>
                  </a:lnTo>
                  <a:cubicBezTo>
                    <a:pt x="862714" y="255205"/>
                    <a:pt x="830969" y="286950"/>
                    <a:pt x="791809" y="286950"/>
                  </a:cubicBezTo>
                  <a:lnTo>
                    <a:pt x="70905" y="286950"/>
                  </a:lnTo>
                  <a:cubicBezTo>
                    <a:pt x="31745" y="286950"/>
                    <a:pt x="0" y="255205"/>
                    <a:pt x="0" y="216045"/>
                  </a:cubicBezTo>
                  <a:lnTo>
                    <a:pt x="0" y="70905"/>
                  </a:lnTo>
                  <a:cubicBezTo>
                    <a:pt x="0" y="31745"/>
                    <a:pt x="31745" y="0"/>
                    <a:pt x="70905" y="0"/>
                  </a:cubicBezTo>
                  <a:lnTo>
                    <a:pt x="791809" y="0"/>
                  </a:lnTo>
                  <a:cubicBezTo>
                    <a:pt x="810614" y="0"/>
                    <a:pt x="828649" y="7470"/>
                    <a:pt x="841947" y="20768"/>
                  </a:cubicBezTo>
                  <a:cubicBezTo>
                    <a:pt x="855244" y="34065"/>
                    <a:pt x="862714" y="52100"/>
                    <a:pt x="862714" y="70905"/>
                  </a:cubicBezTo>
                  <a:close/>
                </a:path>
              </a:pathLst>
            </a:custGeom>
            <a:solidFill>
              <a:srgbClr val="B9C5FA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62714" cy="325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300578" y="6819900"/>
            <a:ext cx="4447292" cy="1413118"/>
            <a:chOff x="-308589" y="-38100"/>
            <a:chExt cx="1171303" cy="372008"/>
          </a:xfrm>
        </p:grpSpPr>
        <p:sp>
          <p:nvSpPr>
            <p:cNvPr id="10" name="Freeform 10"/>
            <p:cNvSpPr/>
            <p:nvPr/>
          </p:nvSpPr>
          <p:spPr>
            <a:xfrm>
              <a:off x="-308589" y="46958"/>
              <a:ext cx="862714" cy="286950"/>
            </a:xfrm>
            <a:custGeom>
              <a:avLst/>
              <a:gdLst/>
              <a:ahLst/>
              <a:cxnLst/>
              <a:rect l="l" t="t" r="r" b="b"/>
              <a:pathLst>
                <a:path w="862714" h="286950">
                  <a:moveTo>
                    <a:pt x="862714" y="70905"/>
                  </a:moveTo>
                  <a:lnTo>
                    <a:pt x="862714" y="216045"/>
                  </a:lnTo>
                  <a:cubicBezTo>
                    <a:pt x="862714" y="255205"/>
                    <a:pt x="830969" y="286950"/>
                    <a:pt x="791809" y="286950"/>
                  </a:cubicBezTo>
                  <a:lnTo>
                    <a:pt x="70905" y="286950"/>
                  </a:lnTo>
                  <a:cubicBezTo>
                    <a:pt x="31745" y="286950"/>
                    <a:pt x="0" y="255205"/>
                    <a:pt x="0" y="216045"/>
                  </a:cubicBezTo>
                  <a:lnTo>
                    <a:pt x="0" y="70905"/>
                  </a:lnTo>
                  <a:cubicBezTo>
                    <a:pt x="0" y="31745"/>
                    <a:pt x="31745" y="0"/>
                    <a:pt x="70905" y="0"/>
                  </a:cubicBezTo>
                  <a:lnTo>
                    <a:pt x="791809" y="0"/>
                  </a:lnTo>
                  <a:cubicBezTo>
                    <a:pt x="810614" y="0"/>
                    <a:pt x="828649" y="7470"/>
                    <a:pt x="841947" y="20768"/>
                  </a:cubicBezTo>
                  <a:cubicBezTo>
                    <a:pt x="855244" y="34065"/>
                    <a:pt x="862714" y="52100"/>
                    <a:pt x="862714" y="70905"/>
                  </a:cubicBezTo>
                  <a:close/>
                </a:path>
              </a:pathLst>
            </a:custGeom>
            <a:solidFill>
              <a:srgbClr val="B4B4B8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62714" cy="325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96067" y="4752967"/>
            <a:ext cx="3275618" cy="1090015"/>
            <a:chOff x="0" y="0"/>
            <a:chExt cx="862714" cy="2869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2714" cy="286950"/>
            </a:xfrm>
            <a:custGeom>
              <a:avLst/>
              <a:gdLst/>
              <a:ahLst/>
              <a:cxnLst/>
              <a:rect l="l" t="t" r="r" b="b"/>
              <a:pathLst>
                <a:path w="862714" h="286950">
                  <a:moveTo>
                    <a:pt x="862714" y="70905"/>
                  </a:moveTo>
                  <a:lnTo>
                    <a:pt x="862714" y="216045"/>
                  </a:lnTo>
                  <a:cubicBezTo>
                    <a:pt x="862714" y="255205"/>
                    <a:pt x="830969" y="286950"/>
                    <a:pt x="791809" y="286950"/>
                  </a:cubicBezTo>
                  <a:lnTo>
                    <a:pt x="70905" y="286950"/>
                  </a:lnTo>
                  <a:cubicBezTo>
                    <a:pt x="31745" y="286950"/>
                    <a:pt x="0" y="255205"/>
                    <a:pt x="0" y="216045"/>
                  </a:cubicBezTo>
                  <a:lnTo>
                    <a:pt x="0" y="70905"/>
                  </a:lnTo>
                  <a:cubicBezTo>
                    <a:pt x="0" y="31745"/>
                    <a:pt x="31745" y="0"/>
                    <a:pt x="70905" y="0"/>
                  </a:cubicBezTo>
                  <a:lnTo>
                    <a:pt x="791809" y="0"/>
                  </a:lnTo>
                  <a:cubicBezTo>
                    <a:pt x="810614" y="0"/>
                    <a:pt x="828649" y="7470"/>
                    <a:pt x="841947" y="20768"/>
                  </a:cubicBezTo>
                  <a:cubicBezTo>
                    <a:pt x="855244" y="34065"/>
                    <a:pt x="862714" y="52100"/>
                    <a:pt x="862714" y="70905"/>
                  </a:cubicBezTo>
                  <a:close/>
                </a:path>
              </a:pathLst>
            </a:custGeom>
            <a:solidFill>
              <a:srgbClr val="8FCF7E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62714" cy="325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9964876">
            <a:off x="8189614" y="5240515"/>
            <a:ext cx="1857971" cy="1797731"/>
          </a:xfrm>
          <a:custGeom>
            <a:avLst/>
            <a:gdLst/>
            <a:ahLst/>
            <a:cxnLst/>
            <a:rect l="l" t="t" r="r" b="b"/>
            <a:pathLst>
              <a:path w="2621127" h="2735521">
                <a:moveTo>
                  <a:pt x="0" y="0"/>
                </a:moveTo>
                <a:lnTo>
                  <a:pt x="2621126" y="0"/>
                </a:lnTo>
                <a:lnTo>
                  <a:pt x="2621126" y="2735521"/>
                </a:lnTo>
                <a:lnTo>
                  <a:pt x="0" y="2735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6" name="Freeform 16"/>
          <p:cNvSpPr/>
          <p:nvPr/>
        </p:nvSpPr>
        <p:spPr>
          <a:xfrm rot="4078365">
            <a:off x="4979251" y="3164384"/>
            <a:ext cx="700430" cy="1215257"/>
          </a:xfrm>
          <a:custGeom>
            <a:avLst/>
            <a:gdLst/>
            <a:ahLst/>
            <a:cxnLst/>
            <a:rect l="l" t="t" r="r" b="b"/>
            <a:pathLst>
              <a:path w="700430" h="1215257">
                <a:moveTo>
                  <a:pt x="0" y="0"/>
                </a:moveTo>
                <a:lnTo>
                  <a:pt x="700431" y="0"/>
                </a:lnTo>
                <a:lnTo>
                  <a:pt x="700431" y="1215257"/>
                </a:lnTo>
                <a:lnTo>
                  <a:pt x="0" y="12152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7" name="Freeform 17"/>
          <p:cNvSpPr/>
          <p:nvPr/>
        </p:nvSpPr>
        <p:spPr>
          <a:xfrm rot="18173678" flipV="1">
            <a:off x="12666336" y="3333147"/>
            <a:ext cx="700430" cy="1215257"/>
          </a:xfrm>
          <a:custGeom>
            <a:avLst/>
            <a:gdLst/>
            <a:ahLst/>
            <a:cxnLst/>
            <a:rect l="l" t="t" r="r" b="b"/>
            <a:pathLst>
              <a:path w="700430" h="1215257">
                <a:moveTo>
                  <a:pt x="0" y="1215258"/>
                </a:moveTo>
                <a:lnTo>
                  <a:pt x="700430" y="1215258"/>
                </a:lnTo>
                <a:lnTo>
                  <a:pt x="700430" y="0"/>
                </a:lnTo>
                <a:lnTo>
                  <a:pt x="0" y="0"/>
                </a:lnTo>
                <a:lnTo>
                  <a:pt x="0" y="121525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8" name="Freeform 18"/>
          <p:cNvSpPr/>
          <p:nvPr/>
        </p:nvSpPr>
        <p:spPr>
          <a:xfrm>
            <a:off x="11625065" y="7745593"/>
            <a:ext cx="1042767" cy="836110"/>
          </a:xfrm>
          <a:custGeom>
            <a:avLst/>
            <a:gdLst/>
            <a:ahLst/>
            <a:cxnLst/>
            <a:rect l="l" t="t" r="r" b="b"/>
            <a:pathLst>
              <a:path w="1042767" h="836110">
                <a:moveTo>
                  <a:pt x="0" y="0"/>
                </a:moveTo>
                <a:lnTo>
                  <a:pt x="1042767" y="0"/>
                </a:lnTo>
                <a:lnTo>
                  <a:pt x="1042767" y="836110"/>
                </a:lnTo>
                <a:lnTo>
                  <a:pt x="0" y="836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9" name="Freeform 19"/>
          <p:cNvSpPr/>
          <p:nvPr/>
        </p:nvSpPr>
        <p:spPr>
          <a:xfrm rot="607084" flipV="1">
            <a:off x="5116696" y="7706443"/>
            <a:ext cx="1042767" cy="836110"/>
          </a:xfrm>
          <a:custGeom>
            <a:avLst/>
            <a:gdLst/>
            <a:ahLst/>
            <a:cxnLst/>
            <a:rect l="l" t="t" r="r" b="b"/>
            <a:pathLst>
              <a:path w="1042767" h="836110">
                <a:moveTo>
                  <a:pt x="0" y="836110"/>
                </a:moveTo>
                <a:lnTo>
                  <a:pt x="1042767" y="836110"/>
                </a:lnTo>
                <a:lnTo>
                  <a:pt x="1042767" y="0"/>
                </a:lnTo>
                <a:lnTo>
                  <a:pt x="0" y="0"/>
                </a:lnTo>
                <a:lnTo>
                  <a:pt x="0" y="83611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0" name="TextBox 20"/>
          <p:cNvSpPr txBox="1"/>
          <p:nvPr/>
        </p:nvSpPr>
        <p:spPr>
          <a:xfrm>
            <a:off x="2163026" y="5007112"/>
            <a:ext cx="2734994" cy="64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14"/>
              </a:lnSpc>
              <a:spcBef>
                <a:spcPct val="0"/>
              </a:spcBef>
            </a:pPr>
            <a:r>
              <a:rPr lang="en-US" sz="4010" dirty="0">
                <a:solidFill>
                  <a:srgbClr val="25282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Visualization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84484" y="7409371"/>
            <a:ext cx="2707805" cy="64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14"/>
              </a:lnSpc>
              <a:spcBef>
                <a:spcPct val="0"/>
              </a:spcBef>
            </a:pPr>
            <a:r>
              <a:rPr lang="en-US" sz="4010" dirty="0">
                <a:solidFill>
                  <a:srgbClr val="25282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Analysis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8005" y="2828711"/>
            <a:ext cx="2990830" cy="609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214"/>
              </a:lnSpc>
              <a:spcBef>
                <a:spcPct val="0"/>
              </a:spcBef>
            </a:pPr>
            <a:r>
              <a:rPr lang="en-US" sz="4010" dirty="0">
                <a:solidFill>
                  <a:srgbClr val="25282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Data structuring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22177" y="5032507"/>
            <a:ext cx="3070723" cy="64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14"/>
              </a:lnSpc>
              <a:spcBef>
                <a:spcPct val="0"/>
              </a:spcBef>
            </a:pPr>
            <a:r>
              <a:rPr lang="en-US" sz="4010" dirty="0">
                <a:solidFill>
                  <a:srgbClr val="25282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Data Preparation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1962" y="951601"/>
            <a:ext cx="15880662" cy="117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4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25282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Project cycle</a:t>
            </a:r>
          </a:p>
        </p:txBody>
      </p:sp>
      <p:sp>
        <p:nvSpPr>
          <p:cNvPr id="25" name="Freeform 25"/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89AABCE1-FA6D-20D3-6E8F-F34414F6AFFF}"/>
              </a:ext>
            </a:extLst>
          </p:cNvPr>
          <p:cNvSpPr/>
          <p:nvPr/>
        </p:nvSpPr>
        <p:spPr>
          <a:xfrm>
            <a:off x="12507125" y="6096021"/>
            <a:ext cx="5033853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dirty="0">
                <a:solidFill>
                  <a:srgbClr val="25282A"/>
                </a:solidFill>
                <a:latin typeface="Bricolage Grotesque 36"/>
              </a:rPr>
              <a:t>Loading data from the CSV file into a MySQL after creating the database for Cleaning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9F844F05-D94C-6FDB-2134-DABE3ED38694}"/>
              </a:ext>
            </a:extLst>
          </p:cNvPr>
          <p:cNvSpPr/>
          <p:nvPr/>
        </p:nvSpPr>
        <p:spPr>
          <a:xfrm>
            <a:off x="12443349" y="7329918"/>
            <a:ext cx="4126130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i="1" dirty="0">
                <a:solidFill>
                  <a:srgbClr val="25282A"/>
                </a:solidFill>
                <a:latin typeface="Bricolage Grotesque 36"/>
              </a:rPr>
              <a:t>File: Different Store.csv</a:t>
            </a: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CC57A107-1C31-2000-5130-DE6C5860522B}"/>
              </a:ext>
            </a:extLst>
          </p:cNvPr>
          <p:cNvSpPr/>
          <p:nvPr/>
        </p:nvSpPr>
        <p:spPr>
          <a:xfrm>
            <a:off x="6877533" y="3835821"/>
            <a:ext cx="5268915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dirty="0">
                <a:solidFill>
                  <a:srgbClr val="25282A"/>
                </a:solidFill>
                <a:latin typeface="Bricolage Grotesque 36"/>
              </a:rPr>
              <a:t>Creating the database and Sales table with required structure and all necessary columns</a:t>
            </a:r>
            <a:endParaRPr lang="ar-EG" sz="2500" dirty="0">
              <a:solidFill>
                <a:srgbClr val="25282A"/>
              </a:solidFill>
              <a:latin typeface="Bricolage Grotesque 36"/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547F2E92-D2FD-FBEB-DBA7-6E83D0C717B6}"/>
              </a:ext>
            </a:extLst>
          </p:cNvPr>
          <p:cNvSpPr/>
          <p:nvPr/>
        </p:nvSpPr>
        <p:spPr>
          <a:xfrm>
            <a:off x="6373866" y="8521859"/>
            <a:ext cx="5374004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dirty="0">
                <a:solidFill>
                  <a:srgbClr val="25282A"/>
                </a:solidFill>
                <a:latin typeface="Bricolage Grotesque 36"/>
              </a:rPr>
              <a:t>Applying advanced SQL queries to calculate key performance indicators</a:t>
            </a:r>
            <a:endParaRPr lang="ar-EG" sz="2500" dirty="0">
              <a:solidFill>
                <a:srgbClr val="25282A"/>
              </a:solidFill>
              <a:latin typeface="Bricolage Grotesque 36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EAEF628E-0B01-C77F-AA0C-A18200238FA1}"/>
              </a:ext>
            </a:extLst>
          </p:cNvPr>
          <p:cNvSpPr/>
          <p:nvPr/>
        </p:nvSpPr>
        <p:spPr>
          <a:xfrm>
            <a:off x="6348254" y="9335743"/>
            <a:ext cx="5374004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i="1" dirty="0">
                <a:solidFill>
                  <a:srgbClr val="25282A"/>
                </a:solidFill>
                <a:latin typeface="Bricolage Grotesque 36"/>
              </a:rPr>
              <a:t>Calculating margins, revenues, regional performance, and seasonality</a:t>
            </a:r>
            <a:endParaRPr lang="ar-EG" sz="2500" i="1" dirty="0">
              <a:solidFill>
                <a:srgbClr val="25282A"/>
              </a:solidFill>
              <a:latin typeface="Bricolage Grotesque 36"/>
            </a:endParaRP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19E68DE5-70FA-66B8-8459-9A7FFD6B923E}"/>
              </a:ext>
            </a:extLst>
          </p:cNvPr>
          <p:cNvSpPr/>
          <p:nvPr/>
        </p:nvSpPr>
        <p:spPr>
          <a:xfrm>
            <a:off x="456728" y="6798090"/>
            <a:ext cx="5382275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i="1" dirty="0">
                <a:solidFill>
                  <a:srgbClr val="25282A"/>
                </a:solidFill>
                <a:latin typeface="Bricolage Grotesque 36"/>
              </a:rPr>
              <a:t>Charts, tables, and visual performance indicators</a:t>
            </a:r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5F301BA1-525C-896B-5E60-2CB680B9DADB}"/>
              </a:ext>
            </a:extLst>
          </p:cNvPr>
          <p:cNvSpPr/>
          <p:nvPr/>
        </p:nvSpPr>
        <p:spPr>
          <a:xfrm>
            <a:off x="560946" y="5961319"/>
            <a:ext cx="4899500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dirty="0">
                <a:solidFill>
                  <a:srgbClr val="25282A"/>
                </a:solidFill>
                <a:latin typeface="Bricolage Grotesque 36"/>
              </a:rPr>
              <a:t>Creating an interactive dashboard using PowerBI</a:t>
            </a:r>
            <a:endParaRPr lang="ar-EG" sz="2500" dirty="0">
              <a:solidFill>
                <a:srgbClr val="25282A"/>
              </a:solidFill>
              <a:latin typeface="Bricolage Grotesque 36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996CFF-6237-AFDC-DA75-1A05894A315A}"/>
              </a:ext>
            </a:extLst>
          </p:cNvPr>
          <p:cNvSpPr/>
          <p:nvPr/>
        </p:nvSpPr>
        <p:spPr>
          <a:xfrm>
            <a:off x="-559560" y="-190500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2" r="-2112"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Text 0"/>
          <p:cNvSpPr/>
          <p:nvPr/>
        </p:nvSpPr>
        <p:spPr>
          <a:xfrm>
            <a:off x="3033990" y="1123296"/>
            <a:ext cx="13500491" cy="64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Data Cleaning and Preparation Process</a:t>
            </a:r>
          </a:p>
        </p:txBody>
      </p:sp>
      <p:sp>
        <p:nvSpPr>
          <p:cNvPr id="4" name="Text 1"/>
          <p:cNvSpPr/>
          <p:nvPr/>
        </p:nvSpPr>
        <p:spPr>
          <a:xfrm>
            <a:off x="5954825" y="2095500"/>
            <a:ext cx="6378349" cy="2839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3200" dirty="0">
                <a:solidFill>
                  <a:srgbClr val="336FA8"/>
                </a:solidFill>
                <a:latin typeface="Bricolage Grotesque 36"/>
              </a:rPr>
              <a:t>Ensuring Data Quality and Reliability</a:t>
            </a:r>
          </a:p>
        </p:txBody>
      </p:sp>
      <p:sp>
        <p:nvSpPr>
          <p:cNvPr id="5" name="Text 2"/>
          <p:cNvSpPr/>
          <p:nvPr/>
        </p:nvSpPr>
        <p:spPr>
          <a:xfrm>
            <a:off x="857250" y="2857708"/>
            <a:ext cx="4057526" cy="547842"/>
          </a:xfrm>
          <a:prstGeom prst="rect">
            <a:avLst/>
          </a:prstGeom>
          <a:noFill/>
          <a:ln/>
        </p:spPr>
        <p:txBody>
          <a:bodyPr wrap="square" lIns="0" tIns="0" rIns="0" bIns="204216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3200" dirty="0">
                <a:solidFill>
                  <a:srgbClr val="0FAF7F"/>
                </a:solidFill>
                <a:latin typeface="Bricolage Grotesque 36"/>
              </a:rPr>
              <a:t>Raw Data Issues</a:t>
            </a:r>
          </a:p>
        </p:txBody>
      </p:sp>
      <p:sp>
        <p:nvSpPr>
          <p:cNvPr id="7" name="Text 4"/>
          <p:cNvSpPr/>
          <p:nvPr/>
        </p:nvSpPr>
        <p:spPr>
          <a:xfrm>
            <a:off x="857250" y="3874373"/>
            <a:ext cx="65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1205252" y="3454018"/>
            <a:ext cx="65" cy="317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endParaRPr lang="en-US" sz="2500" dirty="0">
              <a:solidFill>
                <a:srgbClr val="25282A"/>
              </a:solidFill>
              <a:latin typeface="Bricolage Grotesque 36 Light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0617" y="3458640"/>
            <a:ext cx="261290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500" b="1" dirty="0">
                <a:solidFill>
                  <a:srgbClr val="CC0000"/>
                </a:solidFill>
              </a:rPr>
              <a:t>✕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1205253" y="3925506"/>
            <a:ext cx="65" cy="317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endParaRPr lang="en-US" sz="2500" dirty="0">
              <a:solidFill>
                <a:srgbClr val="25282A"/>
              </a:solidFill>
              <a:latin typeface="Bricolage Grotesque 36 Ligh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5487" y="3362404"/>
            <a:ext cx="65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1159852" y="3465130"/>
            <a:ext cx="6238887" cy="317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Inconsistent category naming and formatting</a:t>
            </a:r>
          </a:p>
        </p:txBody>
      </p:sp>
      <p:sp>
        <p:nvSpPr>
          <p:cNvPr id="13" name="Text 10"/>
          <p:cNvSpPr/>
          <p:nvPr/>
        </p:nvSpPr>
        <p:spPr>
          <a:xfrm>
            <a:off x="806357" y="3883273"/>
            <a:ext cx="261290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500" b="1" dirty="0">
                <a:solidFill>
                  <a:srgbClr val="CC0000"/>
                </a:solidFill>
              </a:rPr>
              <a:t>✕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1151115" y="3925506"/>
            <a:ext cx="4078039" cy="317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Incorrect or mixed data types</a:t>
            </a:r>
          </a:p>
        </p:txBody>
      </p:sp>
      <p:sp>
        <p:nvSpPr>
          <p:cNvPr id="17" name="Text 14"/>
          <p:cNvSpPr/>
          <p:nvPr/>
        </p:nvSpPr>
        <p:spPr>
          <a:xfrm>
            <a:off x="9429750" y="2857500"/>
            <a:ext cx="8001000" cy="547842"/>
          </a:xfrm>
          <a:prstGeom prst="rect">
            <a:avLst/>
          </a:prstGeom>
          <a:noFill/>
          <a:ln/>
        </p:spPr>
        <p:txBody>
          <a:bodyPr wrap="square" lIns="0" tIns="0" rIns="0" bIns="204216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3200" dirty="0">
                <a:solidFill>
                  <a:srgbClr val="0FAF7F"/>
                </a:solidFill>
                <a:latin typeface="Bricolage Grotesque 36"/>
              </a:rPr>
              <a:t>Clean Data Solutions</a:t>
            </a:r>
          </a:p>
        </p:txBody>
      </p:sp>
      <p:sp>
        <p:nvSpPr>
          <p:cNvPr id="19" name="Text 16"/>
          <p:cNvSpPr/>
          <p:nvPr/>
        </p:nvSpPr>
        <p:spPr>
          <a:xfrm>
            <a:off x="9429750" y="3874373"/>
            <a:ext cx="240450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500" b="1" dirty="0">
                <a:solidFill>
                  <a:srgbClr val="00AA00"/>
                </a:solidFill>
              </a:rPr>
              <a:t>✓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9837138" y="3411859"/>
            <a:ext cx="7125349" cy="317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Checked missing values with appropriate strategies</a:t>
            </a:r>
          </a:p>
        </p:txBody>
      </p:sp>
      <p:sp>
        <p:nvSpPr>
          <p:cNvPr id="21" name="Text 18"/>
          <p:cNvSpPr/>
          <p:nvPr/>
        </p:nvSpPr>
        <p:spPr>
          <a:xfrm>
            <a:off x="9429750" y="4345861"/>
            <a:ext cx="240450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500" b="1" dirty="0">
                <a:solidFill>
                  <a:srgbClr val="00AA00"/>
                </a:solidFill>
              </a:rPr>
              <a:t>✓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9837137" y="3883347"/>
            <a:ext cx="7284045" cy="317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Checked duplicate records and validated uniqueness</a:t>
            </a:r>
          </a:p>
        </p:txBody>
      </p:sp>
      <p:sp>
        <p:nvSpPr>
          <p:cNvPr id="23" name="Text 20"/>
          <p:cNvSpPr/>
          <p:nvPr/>
        </p:nvSpPr>
        <p:spPr>
          <a:xfrm>
            <a:off x="9429750" y="4817349"/>
            <a:ext cx="240450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500" b="1" dirty="0">
                <a:solidFill>
                  <a:srgbClr val="00AA00"/>
                </a:solidFill>
              </a:rPr>
              <a:t>✓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9837138" y="4354835"/>
            <a:ext cx="7934865" cy="317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Standardized all category values and naming conventions</a:t>
            </a:r>
          </a:p>
        </p:txBody>
      </p:sp>
      <p:sp>
        <p:nvSpPr>
          <p:cNvPr id="25" name="Text 22"/>
          <p:cNvSpPr/>
          <p:nvPr/>
        </p:nvSpPr>
        <p:spPr>
          <a:xfrm>
            <a:off x="9429135" y="3362404"/>
            <a:ext cx="240450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500" b="1" dirty="0">
                <a:solidFill>
                  <a:srgbClr val="00AA00"/>
                </a:solidFill>
              </a:rPr>
              <a:t>✓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9837138" y="4826321"/>
            <a:ext cx="8021427" cy="317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Converted fields to correct data types (numeric, date, text)</a:t>
            </a:r>
          </a:p>
        </p:txBody>
      </p:sp>
      <p:sp>
        <p:nvSpPr>
          <p:cNvPr id="27" name="Text 24"/>
          <p:cNvSpPr/>
          <p:nvPr/>
        </p:nvSpPr>
        <p:spPr>
          <a:xfrm>
            <a:off x="9429751" y="5907297"/>
            <a:ext cx="65" cy="359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9829801" y="5921585"/>
            <a:ext cx="65" cy="312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857250" y="6079816"/>
            <a:ext cx="9983329" cy="11649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30" name="Shape 27"/>
          <p:cNvSpPr/>
          <p:nvPr/>
        </p:nvSpPr>
        <p:spPr>
          <a:xfrm>
            <a:off x="857251" y="6081128"/>
            <a:ext cx="57150" cy="1085850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31" name="Text 28"/>
          <p:cNvSpPr/>
          <p:nvPr/>
        </p:nvSpPr>
        <p:spPr>
          <a:xfrm>
            <a:off x="844190" y="5850379"/>
            <a:ext cx="4847481" cy="264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3200" dirty="0">
                <a:solidFill>
                  <a:srgbClr val="0FAF7F"/>
                </a:solidFill>
                <a:latin typeface="Bricolage Grotesque 36"/>
              </a:rPr>
              <a:t>Tools &amp; Technologies Used</a:t>
            </a:r>
          </a:p>
        </p:txBody>
      </p:sp>
      <p:sp>
        <p:nvSpPr>
          <p:cNvPr id="32" name="Shape 29"/>
          <p:cNvSpPr/>
          <p:nvPr/>
        </p:nvSpPr>
        <p:spPr>
          <a:xfrm>
            <a:off x="2259678" y="6273298"/>
            <a:ext cx="1944153" cy="774596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33" name="Text 30"/>
          <p:cNvSpPr/>
          <p:nvPr/>
        </p:nvSpPr>
        <p:spPr>
          <a:xfrm>
            <a:off x="2703919" y="6470032"/>
            <a:ext cx="1021282" cy="476221"/>
          </a:xfrm>
          <a:prstGeom prst="rect">
            <a:avLst/>
          </a:prstGeom>
          <a:noFill/>
          <a:ln/>
        </p:spPr>
        <p:txBody>
          <a:bodyPr wrap="square" lIns="204216" tIns="102108" rIns="204216" bIns="102108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2799" dirty="0">
                <a:solidFill>
                  <a:srgbClr val="F2F2F2"/>
                </a:solidFill>
                <a:latin typeface="Bricolage Grotesque 36 Light"/>
              </a:rPr>
              <a:t>SQL</a:t>
            </a:r>
          </a:p>
        </p:txBody>
      </p:sp>
      <p:sp>
        <p:nvSpPr>
          <p:cNvPr id="34" name="Shape 31"/>
          <p:cNvSpPr/>
          <p:nvPr/>
        </p:nvSpPr>
        <p:spPr>
          <a:xfrm>
            <a:off x="7620000" y="6233657"/>
            <a:ext cx="2827945" cy="831291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35" name="Text 32"/>
          <p:cNvSpPr/>
          <p:nvPr/>
        </p:nvSpPr>
        <p:spPr>
          <a:xfrm>
            <a:off x="7814975" y="6425830"/>
            <a:ext cx="2827946" cy="476221"/>
          </a:xfrm>
          <a:prstGeom prst="rect">
            <a:avLst/>
          </a:prstGeom>
          <a:noFill/>
          <a:ln/>
        </p:spPr>
        <p:txBody>
          <a:bodyPr wrap="square" lIns="204216" tIns="102108" rIns="204216" bIns="102108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2799" dirty="0">
                <a:solidFill>
                  <a:srgbClr val="F2F2F2"/>
                </a:solidFill>
                <a:latin typeface="Bricolage Grotesque 36 Light"/>
              </a:rPr>
              <a:t>Power Query</a:t>
            </a:r>
          </a:p>
        </p:txBody>
      </p:sp>
      <p:sp>
        <p:nvSpPr>
          <p:cNvPr id="38" name="Shape 35"/>
          <p:cNvSpPr/>
          <p:nvPr/>
        </p:nvSpPr>
        <p:spPr>
          <a:xfrm>
            <a:off x="857250" y="8313606"/>
            <a:ext cx="16573500" cy="1300832"/>
          </a:xfrm>
          <a:prstGeom prst="rect">
            <a:avLst/>
          </a:prstGeom>
          <a:solidFill>
            <a:srgbClr val="E8F0FF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39" name="Shape 36"/>
          <p:cNvSpPr/>
          <p:nvPr/>
        </p:nvSpPr>
        <p:spPr>
          <a:xfrm>
            <a:off x="857251" y="8293310"/>
            <a:ext cx="57150" cy="1300832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0" name="Text 37"/>
          <p:cNvSpPr/>
          <p:nvPr/>
        </p:nvSpPr>
        <p:spPr>
          <a:xfrm>
            <a:off x="875487" y="8023553"/>
            <a:ext cx="1237518" cy="264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3200" dirty="0">
                <a:solidFill>
                  <a:srgbClr val="0FAF7F"/>
                </a:solidFill>
                <a:latin typeface="Bricolage Grotesque 36"/>
              </a:rPr>
              <a:t>Impact</a:t>
            </a:r>
          </a:p>
        </p:txBody>
      </p:sp>
      <p:sp>
        <p:nvSpPr>
          <p:cNvPr id="41" name="Text 38"/>
          <p:cNvSpPr/>
          <p:nvPr/>
        </p:nvSpPr>
        <p:spPr>
          <a:xfrm>
            <a:off x="1171575" y="8422801"/>
            <a:ext cx="16002000" cy="1013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The cleaning process transformed raw, inconsistent data into a reliable, structured source ready for advanced modeling and analysis. This ensures accuracy in all downstream KPI calculations and dashboard insights.</a:t>
            </a:r>
          </a:p>
        </p:txBody>
      </p:sp>
      <p:sp>
        <p:nvSpPr>
          <p:cNvPr id="15" name="Freeform 30">
            <a:extLst>
              <a:ext uri="{FF2B5EF4-FFF2-40B4-BE49-F238E27FC236}">
                <a16:creationId xmlns:a16="http://schemas.microsoft.com/office/drawing/2014/main" id="{5322B04B-D075-EA1E-4C1B-C1E03B792BFA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4EC467-0E54-D8DA-D838-2F2380290C17}"/>
              </a:ext>
            </a:extLst>
          </p:cNvPr>
          <p:cNvSpPr/>
          <p:nvPr/>
        </p:nvSpPr>
        <p:spPr>
          <a:xfrm>
            <a:off x="-559561" y="-190500"/>
            <a:ext cx="19407121" cy="11484116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2" r="-2112"/>
            </a:stretch>
          </a:blipFill>
        </p:spPr>
        <p:txBody>
          <a:bodyPr/>
          <a:lstStyle/>
          <a:p>
            <a:endParaRPr lang="ar-EG" sz="80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9CB5536C-01D9-F77B-ECF0-766CD665016D}"/>
              </a:ext>
            </a:extLst>
          </p:cNvPr>
          <p:cNvSpPr/>
          <p:nvPr/>
        </p:nvSpPr>
        <p:spPr>
          <a:xfrm>
            <a:off x="771304" y="6715787"/>
            <a:ext cx="7982964" cy="241708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828800"/>
            <a:endParaRPr lang="ar-EG" sz="3600" dirty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6191233" y="1098732"/>
            <a:ext cx="6014467" cy="64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defTabSz="1828800">
              <a:lnSpc>
                <a:spcPts val="4400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Dataset</a:t>
            </a:r>
            <a:r>
              <a:rPr lang="en-US" sz="3204" b="1" dirty="0">
                <a:solidFill>
                  <a:srgbClr val="1A1A1A"/>
                </a:solidFill>
                <a:latin typeface="Calibri" panose="020F0502020204030204"/>
              </a:rPr>
              <a:t> </a:t>
            </a: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Overview</a:t>
            </a:r>
          </a:p>
        </p:txBody>
      </p:sp>
      <p:sp>
        <p:nvSpPr>
          <p:cNvPr id="5" name="Text 2"/>
          <p:cNvSpPr/>
          <p:nvPr/>
        </p:nvSpPr>
        <p:spPr>
          <a:xfrm>
            <a:off x="857251" y="2468166"/>
            <a:ext cx="372428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defTabSz="1828800">
              <a:lnSpc>
                <a:spcPts val="1800"/>
              </a:lnSpc>
            </a:pPr>
            <a:r>
              <a:rPr lang="en-US" sz="3000" i="1" dirty="0">
                <a:solidFill>
                  <a:srgbClr val="0FAF7F"/>
                </a:solidFill>
                <a:latin typeface="Bricolage Grotesque 36" panose="020B0604020202020204" charset="0"/>
              </a:rPr>
              <a:t>Core</a:t>
            </a:r>
            <a:r>
              <a:rPr lang="en-US" sz="2800" b="1" kern="0" spc="2" dirty="0">
                <a:solidFill>
                  <a:srgbClr val="0052CC"/>
                </a:solidFill>
                <a:latin typeface="Calibri" panose="020F0502020204030204"/>
              </a:rPr>
              <a:t> </a:t>
            </a:r>
            <a:r>
              <a:rPr lang="en-US" sz="3000" i="1" dirty="0">
                <a:solidFill>
                  <a:srgbClr val="0FAF7F"/>
                </a:solidFill>
                <a:latin typeface="Bricolage Grotesque 36" panose="020B0604020202020204" charset="0"/>
              </a:rPr>
              <a:t>KPIs</a:t>
            </a:r>
            <a:r>
              <a:rPr lang="en-US" sz="2800" b="1" kern="0" spc="2" dirty="0">
                <a:solidFill>
                  <a:srgbClr val="0052CC"/>
                </a:solidFill>
                <a:latin typeface="Calibri" panose="020F0502020204030204"/>
              </a:rPr>
              <a:t> </a:t>
            </a:r>
            <a:r>
              <a:rPr lang="en-US" sz="3000" i="1" dirty="0">
                <a:solidFill>
                  <a:srgbClr val="0FAF7F"/>
                </a:solidFill>
                <a:latin typeface="Bricolage Grotesque 36" panose="020B0604020202020204" charset="0"/>
              </a:rPr>
              <a:t>Researched</a:t>
            </a:r>
          </a:p>
        </p:txBody>
      </p:sp>
      <p:sp>
        <p:nvSpPr>
          <p:cNvPr id="6" name="Shape 3"/>
          <p:cNvSpPr/>
          <p:nvPr/>
        </p:nvSpPr>
        <p:spPr>
          <a:xfrm>
            <a:off x="857251" y="3025379"/>
            <a:ext cx="5333982" cy="8715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57251" y="3025379"/>
            <a:ext cx="57150" cy="87153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7251" y="3025379"/>
            <a:ext cx="5333982" cy="1028487"/>
          </a:xfrm>
          <a:prstGeom prst="rect">
            <a:avLst/>
          </a:prstGeom>
          <a:noFill/>
          <a:ln/>
        </p:spPr>
        <p:txBody>
          <a:bodyPr wrap="square" lIns="340106" tIns="340106" rIns="340106" bIns="340106" rtlCol="0" anchor="t">
            <a:spAutoFit/>
          </a:bodyPr>
          <a:lstStyle/>
          <a:p>
            <a:pPr defTabSz="1828800">
              <a:lnSpc>
                <a:spcPts val="2400"/>
              </a:lnSpc>
            </a:pPr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Revenue</a:t>
            </a:r>
          </a:p>
        </p:txBody>
      </p:sp>
      <p:sp>
        <p:nvSpPr>
          <p:cNvPr id="9" name="Shape 6"/>
          <p:cNvSpPr/>
          <p:nvPr/>
        </p:nvSpPr>
        <p:spPr>
          <a:xfrm>
            <a:off x="6476983" y="3025379"/>
            <a:ext cx="5333982" cy="8715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76983" y="3025379"/>
            <a:ext cx="57150" cy="87153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76983" y="3025378"/>
            <a:ext cx="5333982" cy="1028487"/>
          </a:xfrm>
          <a:prstGeom prst="rect">
            <a:avLst/>
          </a:prstGeom>
          <a:noFill/>
          <a:ln/>
        </p:spPr>
        <p:txBody>
          <a:bodyPr wrap="square" lIns="340106" tIns="340106" rIns="340106" bIns="340106" rtlCol="0" anchor="t">
            <a:spAutoFit/>
          </a:bodyPr>
          <a:lstStyle/>
          <a:p>
            <a:pPr defTabSz="1828800">
              <a:lnSpc>
                <a:spcPts val="2400"/>
              </a:lnSpc>
            </a:pPr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Profit &amp; Profit Margin</a:t>
            </a:r>
          </a:p>
        </p:txBody>
      </p:sp>
      <p:sp>
        <p:nvSpPr>
          <p:cNvPr id="12" name="Shape 9"/>
          <p:cNvSpPr/>
          <p:nvPr/>
        </p:nvSpPr>
        <p:spPr>
          <a:xfrm>
            <a:off x="12096712" y="3025379"/>
            <a:ext cx="5962629" cy="8715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2096713" y="3025379"/>
            <a:ext cx="57150" cy="87153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096713" y="3025379"/>
            <a:ext cx="5334038" cy="1028487"/>
          </a:xfrm>
          <a:prstGeom prst="rect">
            <a:avLst/>
          </a:prstGeom>
          <a:noFill/>
          <a:ln/>
        </p:spPr>
        <p:txBody>
          <a:bodyPr wrap="square" lIns="340106" tIns="340106" rIns="340106" bIns="340106" rtlCol="0" anchor="t">
            <a:spAutoFit/>
          </a:bodyPr>
          <a:lstStyle/>
          <a:p>
            <a:pPr defTabSz="1828800">
              <a:lnSpc>
                <a:spcPts val="2400"/>
              </a:lnSpc>
            </a:pPr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Sales by Region</a:t>
            </a:r>
          </a:p>
        </p:txBody>
      </p:sp>
      <p:sp>
        <p:nvSpPr>
          <p:cNvPr id="15" name="Shape 12"/>
          <p:cNvSpPr/>
          <p:nvPr/>
        </p:nvSpPr>
        <p:spPr>
          <a:xfrm>
            <a:off x="857251" y="4182667"/>
            <a:ext cx="5333982" cy="8715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57251" y="4182667"/>
            <a:ext cx="57150" cy="87153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7251" y="4182666"/>
            <a:ext cx="5333982" cy="1028487"/>
          </a:xfrm>
          <a:prstGeom prst="rect">
            <a:avLst/>
          </a:prstGeom>
          <a:noFill/>
          <a:ln/>
        </p:spPr>
        <p:txBody>
          <a:bodyPr wrap="square" lIns="340106" tIns="340106" rIns="340106" bIns="340106" rtlCol="0" anchor="t">
            <a:spAutoFit/>
          </a:bodyPr>
          <a:lstStyle/>
          <a:p>
            <a:pPr defTabSz="1828800">
              <a:lnSpc>
                <a:spcPts val="2400"/>
              </a:lnSpc>
            </a:pPr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Sales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/>
              </a:rPr>
              <a:t> </a:t>
            </a:r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by Category</a:t>
            </a:r>
          </a:p>
        </p:txBody>
      </p:sp>
      <p:sp>
        <p:nvSpPr>
          <p:cNvPr id="18" name="Shape 15"/>
          <p:cNvSpPr/>
          <p:nvPr/>
        </p:nvSpPr>
        <p:spPr>
          <a:xfrm>
            <a:off x="6476983" y="4182667"/>
            <a:ext cx="5333982" cy="8715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476983" y="4182667"/>
            <a:ext cx="57150" cy="87153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76983" y="4182666"/>
            <a:ext cx="5333982" cy="1028487"/>
          </a:xfrm>
          <a:prstGeom prst="rect">
            <a:avLst/>
          </a:prstGeom>
          <a:noFill/>
          <a:ln/>
        </p:spPr>
        <p:txBody>
          <a:bodyPr wrap="square" lIns="340106" tIns="340106" rIns="340106" bIns="340106" rtlCol="0" anchor="t">
            <a:spAutoFit/>
          </a:bodyPr>
          <a:lstStyle/>
          <a:p>
            <a:pPr defTabSz="1828800">
              <a:lnSpc>
                <a:spcPts val="2400"/>
              </a:lnSpc>
            </a:pPr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Customer Segments</a:t>
            </a:r>
          </a:p>
        </p:txBody>
      </p:sp>
      <p:sp>
        <p:nvSpPr>
          <p:cNvPr id="21" name="Shape 18"/>
          <p:cNvSpPr/>
          <p:nvPr/>
        </p:nvSpPr>
        <p:spPr>
          <a:xfrm>
            <a:off x="12096712" y="4182667"/>
            <a:ext cx="5962630" cy="8715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2096713" y="4182667"/>
            <a:ext cx="57150" cy="87153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2096712" y="4106362"/>
            <a:ext cx="6572287" cy="1021049"/>
          </a:xfrm>
          <a:prstGeom prst="rect">
            <a:avLst/>
          </a:prstGeom>
          <a:noFill/>
          <a:ln/>
        </p:spPr>
        <p:txBody>
          <a:bodyPr wrap="square" lIns="340106" tIns="340106" rIns="340106" bIns="340106" rtlCol="0" anchor="t">
            <a:spAutoFit/>
          </a:bodyPr>
          <a:lstStyle/>
          <a:p>
            <a:pPr defTabSz="1828800">
              <a:lnSpc>
                <a:spcPts val="2400"/>
              </a:lnSpc>
            </a:pPr>
            <a:r>
              <a:rPr lang="en-US" sz="2800" dirty="0">
                <a:solidFill>
                  <a:srgbClr val="25282A"/>
                </a:solidFill>
                <a:latin typeface="Bricolage Grotesque 36"/>
              </a:rPr>
              <a:t>Order</a:t>
            </a:r>
            <a:r>
              <a:rPr lang="en-US" sz="2800" b="1" dirty="0">
                <a:solidFill>
                  <a:srgbClr val="333333"/>
                </a:solidFill>
                <a:latin typeface="Calibri" panose="020F0502020204030204"/>
              </a:rPr>
              <a:t> </a:t>
            </a:r>
            <a:r>
              <a:rPr lang="en-US" sz="2800" dirty="0">
                <a:solidFill>
                  <a:srgbClr val="25282A"/>
                </a:solidFill>
                <a:latin typeface="Bricolage Grotesque 36"/>
              </a:rPr>
              <a:t>Priority</a:t>
            </a:r>
          </a:p>
        </p:txBody>
      </p:sp>
      <p:sp>
        <p:nvSpPr>
          <p:cNvPr id="24" name="Text 21"/>
          <p:cNvSpPr/>
          <p:nvPr/>
        </p:nvSpPr>
        <p:spPr>
          <a:xfrm>
            <a:off x="857250" y="6197204"/>
            <a:ext cx="281878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defTabSz="1828800">
              <a:lnSpc>
                <a:spcPts val="1800"/>
              </a:lnSpc>
            </a:pPr>
            <a:r>
              <a:rPr lang="en-US" sz="3000" i="1" dirty="0">
                <a:solidFill>
                  <a:srgbClr val="0FAF7F"/>
                </a:solidFill>
                <a:latin typeface="Bricolage Grotesque 36" panose="020B0604020202020204" charset="0"/>
              </a:rPr>
              <a:t>Dataset Overview</a:t>
            </a:r>
          </a:p>
        </p:txBody>
      </p:sp>
      <p:sp>
        <p:nvSpPr>
          <p:cNvPr id="25" name="Text 22"/>
          <p:cNvSpPr/>
          <p:nvPr/>
        </p:nvSpPr>
        <p:spPr>
          <a:xfrm>
            <a:off x="3975171" y="7048500"/>
            <a:ext cx="1284006" cy="264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defTabSz="1828800">
              <a:lnSpc>
                <a:spcPts val="1600"/>
              </a:lnSpc>
            </a:pPr>
            <a:r>
              <a:rPr lang="en-US" sz="3200" b="1" u="sng" dirty="0">
                <a:solidFill>
                  <a:srgbClr val="25282A"/>
                </a:solidFill>
                <a:latin typeface="Bricolage Grotesque 36"/>
              </a:rPr>
              <a:t>Source</a:t>
            </a:r>
          </a:p>
        </p:txBody>
      </p:sp>
      <p:sp>
        <p:nvSpPr>
          <p:cNvPr id="26" name="Text 23"/>
          <p:cNvSpPr/>
          <p:nvPr/>
        </p:nvSpPr>
        <p:spPr>
          <a:xfrm>
            <a:off x="2001502" y="7947782"/>
            <a:ext cx="7318325" cy="32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defTabSz="1828800">
              <a:lnSpc>
                <a:spcPts val="2200"/>
              </a:lnSpc>
            </a:pPr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Different_stores_dataset</a:t>
            </a:r>
          </a:p>
        </p:txBody>
      </p:sp>
      <p:sp>
        <p:nvSpPr>
          <p:cNvPr id="35" name="Text 32"/>
          <p:cNvSpPr/>
          <p:nvPr/>
        </p:nvSpPr>
        <p:spPr>
          <a:xfrm>
            <a:off x="10960522" y="7086600"/>
            <a:ext cx="275012" cy="410369"/>
          </a:xfrm>
          <a:prstGeom prst="rect">
            <a:avLst/>
          </a:prstGeom>
          <a:noFill/>
          <a:ln/>
        </p:spPr>
        <p:txBody>
          <a:bodyPr wrap="none" lIns="136144" tIns="68072" rIns="136144" bIns="68072" rtlCol="0" anchor="t">
            <a:spAutoFit/>
          </a:bodyPr>
          <a:lstStyle/>
          <a:p>
            <a:pPr defTabSz="1828800">
              <a:lnSpc>
                <a:spcPts val="2400"/>
              </a:lnSpc>
            </a:pPr>
            <a:endParaRPr lang="en-US" sz="124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3626312" y="7086600"/>
            <a:ext cx="275012" cy="410369"/>
          </a:xfrm>
          <a:prstGeom prst="rect">
            <a:avLst/>
          </a:prstGeom>
          <a:noFill/>
          <a:ln/>
        </p:spPr>
        <p:txBody>
          <a:bodyPr wrap="none" lIns="136144" tIns="68072" rIns="136144" bIns="68072" rtlCol="0" anchor="t">
            <a:spAutoFit/>
          </a:bodyPr>
          <a:lstStyle/>
          <a:p>
            <a:pPr defTabSz="1828800">
              <a:lnSpc>
                <a:spcPts val="2400"/>
              </a:lnSpc>
            </a:pPr>
            <a:endParaRPr lang="en-US" sz="124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14668574" y="7086600"/>
            <a:ext cx="275012" cy="410369"/>
          </a:xfrm>
          <a:prstGeom prst="rect">
            <a:avLst/>
          </a:prstGeom>
          <a:noFill/>
          <a:ln/>
        </p:spPr>
        <p:txBody>
          <a:bodyPr wrap="none" lIns="136144" tIns="68072" rIns="136144" bIns="68072" rtlCol="0" anchor="t">
            <a:spAutoFit/>
          </a:bodyPr>
          <a:lstStyle/>
          <a:p>
            <a:pPr defTabSz="1828800">
              <a:lnSpc>
                <a:spcPts val="2400"/>
              </a:lnSpc>
            </a:pPr>
            <a:endParaRPr lang="en-US" sz="124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5675340" y="7086600"/>
            <a:ext cx="275012" cy="410369"/>
          </a:xfrm>
          <a:prstGeom prst="rect">
            <a:avLst/>
          </a:prstGeom>
          <a:noFill/>
          <a:ln/>
        </p:spPr>
        <p:txBody>
          <a:bodyPr wrap="none" lIns="136144" tIns="68072" rIns="136144" bIns="68072" rtlCol="0" anchor="t">
            <a:spAutoFit/>
          </a:bodyPr>
          <a:lstStyle/>
          <a:p>
            <a:pPr defTabSz="1828800">
              <a:lnSpc>
                <a:spcPts val="2400"/>
              </a:lnSpc>
            </a:pPr>
            <a:endParaRPr lang="en-US" sz="124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60FE8A69-EB7B-C47F-FB5B-6ED1943FD085}"/>
              </a:ext>
            </a:extLst>
          </p:cNvPr>
          <p:cNvSpPr/>
          <p:nvPr/>
        </p:nvSpPr>
        <p:spPr>
          <a:xfrm>
            <a:off x="9378065" y="6715787"/>
            <a:ext cx="8338376" cy="241708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828800"/>
            <a:endParaRPr lang="ar-EG" sz="360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1859331" y="7052638"/>
            <a:ext cx="2289088" cy="26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defTabSz="1828800">
              <a:lnSpc>
                <a:spcPts val="1600"/>
              </a:lnSpc>
            </a:pPr>
            <a:r>
              <a:rPr lang="en-US" sz="3200" b="1" u="sng" dirty="0">
                <a:solidFill>
                  <a:srgbClr val="25282A"/>
                </a:solidFill>
                <a:latin typeface="Bricolage Grotesque 36"/>
              </a:rPr>
              <a:t>Data Scope</a:t>
            </a:r>
          </a:p>
        </p:txBody>
      </p:sp>
      <p:sp>
        <p:nvSpPr>
          <p:cNvPr id="29" name="Text 26"/>
          <p:cNvSpPr/>
          <p:nvPr/>
        </p:nvSpPr>
        <p:spPr>
          <a:xfrm>
            <a:off x="9782387" y="7554928"/>
            <a:ext cx="4611176" cy="32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defTabSz="1828800">
              <a:lnSpc>
                <a:spcPts val="2200"/>
              </a:lnSpc>
            </a:pPr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Multi-dimensional</a:t>
            </a:r>
          </a:p>
        </p:txBody>
      </p:sp>
      <p:sp>
        <p:nvSpPr>
          <p:cNvPr id="30" name="Text 27"/>
          <p:cNvSpPr/>
          <p:nvPr/>
        </p:nvSpPr>
        <p:spPr>
          <a:xfrm>
            <a:off x="9782387" y="8030023"/>
            <a:ext cx="7934054" cy="984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defTabSz="1828800"/>
            <a:r>
              <a:rPr lang="en-US" sz="3200" dirty="0">
                <a:solidFill>
                  <a:srgbClr val="25282A"/>
                </a:solidFill>
                <a:latin typeface="Bricolage Grotesque 36"/>
              </a:rPr>
              <a:t>Transactions across regions, states, and shopping malls</a:t>
            </a:r>
          </a:p>
        </p:txBody>
      </p:sp>
      <p:sp>
        <p:nvSpPr>
          <p:cNvPr id="40" name="Freeform 30">
            <a:extLst>
              <a:ext uri="{FF2B5EF4-FFF2-40B4-BE49-F238E27FC236}">
                <a16:creationId xmlns:a16="http://schemas.microsoft.com/office/drawing/2014/main" id="{E73C62E1-04E0-3AAE-8FE2-C106A03DD42B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9560" y="-38100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2" r="-2112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>
            <a:off x="12003736" y="6564837"/>
            <a:ext cx="5255564" cy="2750613"/>
            <a:chOff x="0" y="0"/>
            <a:chExt cx="1384182" cy="7241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4182" cy="724108"/>
            </a:xfrm>
            <a:custGeom>
              <a:avLst/>
              <a:gdLst/>
              <a:ahLst/>
              <a:cxnLst/>
              <a:rect l="l" t="t" r="r" b="b"/>
              <a:pathLst>
                <a:path w="1384182" h="724108">
                  <a:moveTo>
                    <a:pt x="1384182" y="44193"/>
                  </a:moveTo>
                  <a:lnTo>
                    <a:pt x="1384182" y="679916"/>
                  </a:lnTo>
                  <a:cubicBezTo>
                    <a:pt x="1384182" y="704323"/>
                    <a:pt x="1364396" y="724108"/>
                    <a:pt x="1339989" y="724108"/>
                  </a:cubicBezTo>
                  <a:lnTo>
                    <a:pt x="44193" y="724108"/>
                  </a:lnTo>
                  <a:cubicBezTo>
                    <a:pt x="19786" y="724108"/>
                    <a:pt x="0" y="704323"/>
                    <a:pt x="0" y="679916"/>
                  </a:cubicBezTo>
                  <a:lnTo>
                    <a:pt x="0" y="44193"/>
                  </a:lnTo>
                  <a:cubicBezTo>
                    <a:pt x="0" y="19786"/>
                    <a:pt x="19786" y="0"/>
                    <a:pt x="44193" y="0"/>
                  </a:cubicBezTo>
                  <a:lnTo>
                    <a:pt x="1339989" y="0"/>
                  </a:lnTo>
                  <a:cubicBezTo>
                    <a:pt x="1364396" y="0"/>
                    <a:pt x="1384182" y="19786"/>
                    <a:pt x="1384182" y="44193"/>
                  </a:cubicBezTo>
                  <a:close/>
                </a:path>
              </a:pathLst>
            </a:custGeom>
            <a:solidFill>
              <a:srgbClr val="91E6CB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84182" cy="762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268804"/>
            <a:ext cx="5255564" cy="2738928"/>
            <a:chOff x="0" y="0"/>
            <a:chExt cx="1384182" cy="7210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4182" cy="721032"/>
            </a:xfrm>
            <a:custGeom>
              <a:avLst/>
              <a:gdLst/>
              <a:ahLst/>
              <a:cxnLst/>
              <a:rect l="l" t="t" r="r" b="b"/>
              <a:pathLst>
                <a:path w="1384182" h="721032">
                  <a:moveTo>
                    <a:pt x="1384182" y="44193"/>
                  </a:moveTo>
                  <a:lnTo>
                    <a:pt x="1384182" y="676839"/>
                  </a:lnTo>
                  <a:cubicBezTo>
                    <a:pt x="1384182" y="688560"/>
                    <a:pt x="1379526" y="699801"/>
                    <a:pt x="1371238" y="708088"/>
                  </a:cubicBezTo>
                  <a:cubicBezTo>
                    <a:pt x="1362950" y="716376"/>
                    <a:pt x="1351710" y="721032"/>
                    <a:pt x="1339989" y="721032"/>
                  </a:cubicBezTo>
                  <a:lnTo>
                    <a:pt x="44193" y="721032"/>
                  </a:lnTo>
                  <a:cubicBezTo>
                    <a:pt x="19786" y="721032"/>
                    <a:pt x="0" y="701246"/>
                    <a:pt x="0" y="676839"/>
                  </a:cubicBezTo>
                  <a:lnTo>
                    <a:pt x="0" y="44193"/>
                  </a:lnTo>
                  <a:cubicBezTo>
                    <a:pt x="0" y="19786"/>
                    <a:pt x="19786" y="0"/>
                    <a:pt x="44193" y="0"/>
                  </a:cubicBezTo>
                  <a:lnTo>
                    <a:pt x="1339989" y="0"/>
                  </a:lnTo>
                  <a:cubicBezTo>
                    <a:pt x="1364396" y="0"/>
                    <a:pt x="1384182" y="19786"/>
                    <a:pt x="1384182" y="44193"/>
                  </a:cubicBezTo>
                  <a:close/>
                </a:path>
              </a:pathLst>
            </a:custGeom>
            <a:solidFill>
              <a:srgbClr val="B4B4B8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84182" cy="759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03736" y="3115432"/>
            <a:ext cx="5255564" cy="3045674"/>
            <a:chOff x="0" y="0"/>
            <a:chExt cx="1384182" cy="8017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4182" cy="801784"/>
            </a:xfrm>
            <a:custGeom>
              <a:avLst/>
              <a:gdLst/>
              <a:ahLst/>
              <a:cxnLst/>
              <a:rect l="l" t="t" r="r" b="b"/>
              <a:pathLst>
                <a:path w="1384182" h="801784">
                  <a:moveTo>
                    <a:pt x="1384182" y="44193"/>
                  </a:moveTo>
                  <a:lnTo>
                    <a:pt x="1384182" y="757591"/>
                  </a:lnTo>
                  <a:cubicBezTo>
                    <a:pt x="1384182" y="781998"/>
                    <a:pt x="1364396" y="801784"/>
                    <a:pt x="1339989" y="801784"/>
                  </a:cubicBezTo>
                  <a:lnTo>
                    <a:pt x="44193" y="801784"/>
                  </a:lnTo>
                  <a:cubicBezTo>
                    <a:pt x="19786" y="801784"/>
                    <a:pt x="0" y="781998"/>
                    <a:pt x="0" y="757591"/>
                  </a:cubicBezTo>
                  <a:lnTo>
                    <a:pt x="0" y="44193"/>
                  </a:lnTo>
                  <a:cubicBezTo>
                    <a:pt x="0" y="19786"/>
                    <a:pt x="19786" y="0"/>
                    <a:pt x="44193" y="0"/>
                  </a:cubicBezTo>
                  <a:lnTo>
                    <a:pt x="1339989" y="0"/>
                  </a:lnTo>
                  <a:cubicBezTo>
                    <a:pt x="1364396" y="0"/>
                    <a:pt x="1384182" y="19786"/>
                    <a:pt x="1384182" y="44193"/>
                  </a:cubicBezTo>
                  <a:close/>
                </a:path>
              </a:pathLst>
            </a:custGeom>
            <a:solidFill>
              <a:srgbClr val="FFEB97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84182" cy="839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668598"/>
            <a:ext cx="5255564" cy="2543090"/>
            <a:chOff x="0" y="0"/>
            <a:chExt cx="1384182" cy="6694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84182" cy="669477"/>
            </a:xfrm>
            <a:custGeom>
              <a:avLst/>
              <a:gdLst/>
              <a:ahLst/>
              <a:cxnLst/>
              <a:rect l="l" t="t" r="r" b="b"/>
              <a:pathLst>
                <a:path w="1384182" h="669477">
                  <a:moveTo>
                    <a:pt x="1384182" y="44193"/>
                  </a:moveTo>
                  <a:lnTo>
                    <a:pt x="1384182" y="625284"/>
                  </a:lnTo>
                  <a:cubicBezTo>
                    <a:pt x="1384182" y="649691"/>
                    <a:pt x="1364396" y="669477"/>
                    <a:pt x="1339989" y="669477"/>
                  </a:cubicBezTo>
                  <a:lnTo>
                    <a:pt x="44193" y="669477"/>
                  </a:lnTo>
                  <a:cubicBezTo>
                    <a:pt x="19786" y="669477"/>
                    <a:pt x="0" y="649691"/>
                    <a:pt x="0" y="625284"/>
                  </a:cubicBezTo>
                  <a:lnTo>
                    <a:pt x="0" y="44193"/>
                  </a:lnTo>
                  <a:cubicBezTo>
                    <a:pt x="0" y="19786"/>
                    <a:pt x="19786" y="0"/>
                    <a:pt x="44193" y="0"/>
                  </a:cubicBezTo>
                  <a:lnTo>
                    <a:pt x="1339989" y="0"/>
                  </a:lnTo>
                  <a:cubicBezTo>
                    <a:pt x="1364396" y="0"/>
                    <a:pt x="1384182" y="19786"/>
                    <a:pt x="1384182" y="44193"/>
                  </a:cubicBezTo>
                  <a:close/>
                </a:path>
              </a:pathLst>
            </a:custGeom>
            <a:solidFill>
              <a:srgbClr val="8EB7DF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84182" cy="7075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7707561" y="4168726"/>
            <a:ext cx="2872879" cy="4114800"/>
          </a:xfrm>
          <a:custGeom>
            <a:avLst/>
            <a:gdLst/>
            <a:ahLst/>
            <a:cxnLst/>
            <a:rect l="l" t="t" r="r" b="b"/>
            <a:pathLst>
              <a:path w="2872879" h="4114800">
                <a:moveTo>
                  <a:pt x="0" y="0"/>
                </a:moveTo>
                <a:lnTo>
                  <a:pt x="2872878" y="0"/>
                </a:lnTo>
                <a:lnTo>
                  <a:pt x="28728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6" name="Freeform 16"/>
          <p:cNvSpPr/>
          <p:nvPr/>
        </p:nvSpPr>
        <p:spPr>
          <a:xfrm>
            <a:off x="10463088" y="3353267"/>
            <a:ext cx="1260792" cy="1088865"/>
          </a:xfrm>
          <a:custGeom>
            <a:avLst/>
            <a:gdLst/>
            <a:ahLst/>
            <a:cxnLst/>
            <a:rect l="l" t="t" r="r" b="b"/>
            <a:pathLst>
              <a:path w="1260792" h="1088865">
                <a:moveTo>
                  <a:pt x="0" y="0"/>
                </a:moveTo>
                <a:lnTo>
                  <a:pt x="1260792" y="0"/>
                </a:lnTo>
                <a:lnTo>
                  <a:pt x="1260792" y="1088866"/>
                </a:lnTo>
                <a:lnTo>
                  <a:pt x="0" y="10888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17" name="Freeform 17"/>
          <p:cNvSpPr/>
          <p:nvPr/>
        </p:nvSpPr>
        <p:spPr>
          <a:xfrm rot="-10800000">
            <a:off x="6520669" y="7803408"/>
            <a:ext cx="1260792" cy="1088865"/>
          </a:xfrm>
          <a:custGeom>
            <a:avLst/>
            <a:gdLst/>
            <a:ahLst/>
            <a:cxnLst/>
            <a:rect l="l" t="t" r="r" b="b"/>
            <a:pathLst>
              <a:path w="1260792" h="1088865">
                <a:moveTo>
                  <a:pt x="0" y="0"/>
                </a:moveTo>
                <a:lnTo>
                  <a:pt x="1260792" y="0"/>
                </a:lnTo>
                <a:lnTo>
                  <a:pt x="1260792" y="1088865"/>
                </a:lnTo>
                <a:lnTo>
                  <a:pt x="0" y="10888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18" name="Freeform 18"/>
          <p:cNvSpPr/>
          <p:nvPr/>
        </p:nvSpPr>
        <p:spPr>
          <a:xfrm flipH="1">
            <a:off x="6520669" y="3353267"/>
            <a:ext cx="1260792" cy="1088865"/>
          </a:xfrm>
          <a:custGeom>
            <a:avLst/>
            <a:gdLst/>
            <a:ahLst/>
            <a:cxnLst/>
            <a:rect l="l" t="t" r="r" b="b"/>
            <a:pathLst>
              <a:path w="1260792" h="1088865">
                <a:moveTo>
                  <a:pt x="1260792" y="0"/>
                </a:moveTo>
                <a:lnTo>
                  <a:pt x="0" y="0"/>
                </a:lnTo>
                <a:lnTo>
                  <a:pt x="0" y="1088866"/>
                </a:lnTo>
                <a:lnTo>
                  <a:pt x="1260792" y="1088866"/>
                </a:lnTo>
                <a:lnTo>
                  <a:pt x="126079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19" name="Freeform 19"/>
          <p:cNvSpPr/>
          <p:nvPr/>
        </p:nvSpPr>
        <p:spPr>
          <a:xfrm rot="-10800000" flipH="1">
            <a:off x="10463088" y="7803408"/>
            <a:ext cx="1260792" cy="1088865"/>
          </a:xfrm>
          <a:custGeom>
            <a:avLst/>
            <a:gdLst/>
            <a:ahLst/>
            <a:cxnLst/>
            <a:rect l="l" t="t" r="r" b="b"/>
            <a:pathLst>
              <a:path w="1260792" h="1088865">
                <a:moveTo>
                  <a:pt x="1260792" y="0"/>
                </a:moveTo>
                <a:lnTo>
                  <a:pt x="0" y="0"/>
                </a:lnTo>
                <a:lnTo>
                  <a:pt x="0" y="1088865"/>
                </a:lnTo>
                <a:lnTo>
                  <a:pt x="1260792" y="1088865"/>
                </a:lnTo>
                <a:lnTo>
                  <a:pt x="126079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Box 20"/>
          <p:cNvSpPr txBox="1"/>
          <p:nvPr/>
        </p:nvSpPr>
        <p:spPr>
          <a:xfrm>
            <a:off x="2702760" y="2085204"/>
            <a:ext cx="13149444" cy="476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16"/>
              </a:lnSpc>
            </a:pPr>
            <a:r>
              <a:rPr lang="en-US" sz="3200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These KPIs guided the analysis and shaped our dashboard’s structure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02760" y="964248"/>
            <a:ext cx="13149444" cy="117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40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Key Performance Indicators (KPIs)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7605" y="3486640"/>
            <a:ext cx="4544889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</a:pPr>
            <a:r>
              <a:rPr lang="en-US" sz="2799" b="1" dirty="0">
                <a:solidFill>
                  <a:srgbClr val="25282A"/>
                </a:solidFill>
                <a:latin typeface="Bricolage Grotesque 36 Bold"/>
                <a:ea typeface="Bricolage Grotesque 36 Bold"/>
                <a:cs typeface="Bricolage Grotesque 36 Bold"/>
                <a:sym typeface="Bricolage Grotesque 36 Bold"/>
              </a:rPr>
              <a:t>Sales Performance KPIs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4784" y="4024777"/>
            <a:ext cx="5210531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Total Sale</a:t>
            </a:r>
            <a:r>
              <a:rPr lang="en-US" sz="2799" u="none" strike="noStrike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s Revenue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Sales by Region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Average Order Value (AOV)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Average Value per Region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94826" y="3402809"/>
            <a:ext cx="4544889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</a:pPr>
            <a:r>
              <a:rPr lang="en-US" sz="2799" b="1">
                <a:solidFill>
                  <a:srgbClr val="25282A"/>
                </a:solidFill>
                <a:latin typeface="Bricolage Grotesque 36 Bold"/>
                <a:ea typeface="Bricolage Grotesque 36 Bold"/>
                <a:cs typeface="Bricolage Grotesque 36 Bold"/>
                <a:sym typeface="Bricolage Grotesque 36 Bold"/>
              </a:rPr>
              <a:t> Profitability &amp; Margin KPIs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62005" y="3959770"/>
            <a:ext cx="5210531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079"/>
              </a:lnSpc>
              <a:buFont typeface="Arial"/>
              <a:buChar char="•"/>
            </a:pPr>
            <a:r>
              <a:rPr lang="en-US" sz="2799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Total Profit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Gro</a:t>
            </a:r>
            <a:r>
              <a:rPr lang="en-US" sz="2799" u="none" strike="noStrike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ss Profit Margin (GPM)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Profit per Transaction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Category Profitability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3266" y="6860373"/>
            <a:ext cx="5493568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</a:pPr>
            <a:r>
              <a:rPr lang="en-US" sz="2799" b="1">
                <a:solidFill>
                  <a:srgbClr val="25282A"/>
                </a:solidFill>
                <a:latin typeface="Bricolage Grotesque 36 Bold"/>
                <a:ea typeface="Bricolage Grotesque 36 Bold"/>
                <a:cs typeface="Bricolage Grotesque 36 Bold"/>
                <a:sym typeface="Bricolage Grotesque 36 Bold"/>
              </a:rPr>
              <a:t>Product &amp; Category KPIs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8824" y="7424571"/>
            <a:ext cx="5443401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079"/>
              </a:lnSpc>
              <a:buFont typeface="Arial"/>
              <a:buChar char="•"/>
            </a:pPr>
            <a:r>
              <a:rPr lang="en-US" sz="2799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Top-Selling Category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Category</a:t>
            </a:r>
            <a:r>
              <a:rPr lang="en-US" sz="2799" u="none" strike="noStrike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 Revenue Contribution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Average Selling per Category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Average Markup per Category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003736" y="6743785"/>
            <a:ext cx="5226752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</a:pPr>
            <a:r>
              <a:rPr lang="en-US" sz="2799" b="1">
                <a:solidFill>
                  <a:srgbClr val="25282A"/>
                </a:solidFill>
                <a:latin typeface="Bricolage Grotesque 36 Bold"/>
                <a:ea typeface="Bricolage Grotesque 36 Bold"/>
                <a:cs typeface="Bricolage Grotesque 36 Bold"/>
                <a:sym typeface="Bricolage Grotesque 36 Bold"/>
              </a:rPr>
              <a:t> Geographic Performance KPIs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03736" y="7207970"/>
            <a:ext cx="5210531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079"/>
              </a:lnSpc>
              <a:buFont typeface="Arial"/>
              <a:buChar char="•"/>
            </a:pPr>
            <a:r>
              <a:rPr lang="en-US" sz="2799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Total Customers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Profit By Shopping mall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Sales By Region</a:t>
            </a:r>
          </a:p>
          <a:p>
            <a:pPr marL="604519" lvl="1" indent="-302260" algn="just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 dirty="0">
                <a:solidFill>
                  <a:srgbClr val="25282A"/>
                </a:solidFill>
                <a:latin typeface="Bricolage Grotesque 36 Light"/>
                <a:ea typeface="Bricolage Grotesque 36 Light"/>
                <a:cs typeface="Bricolage Grotesque 36 Light"/>
                <a:sym typeface="Bricolage Grotesque 36 Light"/>
              </a:rPr>
              <a:t>Avg Transaction per region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2">
            <a:extLst>
              <a:ext uri="{FF2B5EF4-FFF2-40B4-BE49-F238E27FC236}">
                <a16:creationId xmlns:a16="http://schemas.microsoft.com/office/drawing/2014/main" id="{5F345589-2EE1-E22C-A29E-2DDAE12F2EC3}"/>
              </a:ext>
            </a:extLst>
          </p:cNvPr>
          <p:cNvSpPr/>
          <p:nvPr/>
        </p:nvSpPr>
        <p:spPr>
          <a:xfrm>
            <a:off x="-559560" y="-419100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2" r="-2112"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Text 1"/>
          <p:cNvSpPr/>
          <p:nvPr/>
        </p:nvSpPr>
        <p:spPr>
          <a:xfrm>
            <a:off x="6339546" y="1082484"/>
            <a:ext cx="5608908" cy="488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Core SQL Queries</a:t>
            </a:r>
          </a:p>
        </p:txBody>
      </p:sp>
      <p:sp>
        <p:nvSpPr>
          <p:cNvPr id="5" name="Text 2"/>
          <p:cNvSpPr/>
          <p:nvPr/>
        </p:nvSpPr>
        <p:spPr>
          <a:xfrm>
            <a:off x="7354247" y="1530364"/>
            <a:ext cx="3579506" cy="495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3200" dirty="0">
                <a:solidFill>
                  <a:srgbClr val="336FA8"/>
                </a:solidFill>
                <a:latin typeface="Bricolage Grotesque 36"/>
              </a:rPr>
              <a:t>SQL-Driven Analysis</a:t>
            </a:r>
          </a:p>
        </p:txBody>
      </p:sp>
      <p:sp>
        <p:nvSpPr>
          <p:cNvPr id="6" name="Text 3"/>
          <p:cNvSpPr/>
          <p:nvPr/>
        </p:nvSpPr>
        <p:spPr>
          <a:xfrm>
            <a:off x="9787174" y="5697879"/>
            <a:ext cx="3108223" cy="2507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2799" i="1" dirty="0">
                <a:solidFill>
                  <a:srgbClr val="0FAF7F"/>
                </a:solidFill>
                <a:latin typeface="Bricolage Grotesque 36 Light"/>
              </a:rPr>
              <a:t>Total Sales Revenue</a:t>
            </a:r>
          </a:p>
        </p:txBody>
      </p:sp>
      <p:sp>
        <p:nvSpPr>
          <p:cNvPr id="10" name="Text 7"/>
          <p:cNvSpPr/>
          <p:nvPr/>
        </p:nvSpPr>
        <p:spPr>
          <a:xfrm>
            <a:off x="9775029" y="7886700"/>
            <a:ext cx="2984791" cy="2507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2799" i="1" dirty="0">
                <a:solidFill>
                  <a:srgbClr val="0FAF7F"/>
                </a:solidFill>
                <a:latin typeface="Bricolage Grotesque 36 Light"/>
              </a:rPr>
              <a:t>Gross Profit Margin</a:t>
            </a:r>
          </a:p>
        </p:txBody>
      </p:sp>
      <p:sp>
        <p:nvSpPr>
          <p:cNvPr id="14" name="Text 11"/>
          <p:cNvSpPr/>
          <p:nvPr/>
        </p:nvSpPr>
        <p:spPr>
          <a:xfrm>
            <a:off x="742949" y="5730926"/>
            <a:ext cx="3268523" cy="2507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2799" i="1" dirty="0">
                <a:solidFill>
                  <a:srgbClr val="0FAF7F"/>
                </a:solidFill>
                <a:latin typeface="Bricolage Grotesque 36 Light"/>
              </a:rPr>
              <a:t>Category Profitability</a:t>
            </a:r>
          </a:p>
        </p:txBody>
      </p:sp>
      <p:sp>
        <p:nvSpPr>
          <p:cNvPr id="15" name="Shape 12"/>
          <p:cNvSpPr/>
          <p:nvPr/>
        </p:nvSpPr>
        <p:spPr>
          <a:xfrm>
            <a:off x="807242" y="6095698"/>
            <a:ext cx="7650958" cy="1496127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16" name="Shape 13"/>
          <p:cNvSpPr/>
          <p:nvPr/>
        </p:nvSpPr>
        <p:spPr>
          <a:xfrm>
            <a:off x="721521" y="6095698"/>
            <a:ext cx="67148" cy="1496127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17" name="Text 14"/>
          <p:cNvSpPr/>
          <p:nvPr/>
        </p:nvSpPr>
        <p:spPr>
          <a:xfrm>
            <a:off x="742950" y="5953403"/>
            <a:ext cx="7715250" cy="1704697"/>
          </a:xfrm>
          <a:prstGeom prst="rect">
            <a:avLst/>
          </a:prstGeom>
          <a:noFill/>
          <a:ln/>
        </p:spPr>
        <p:txBody>
          <a:bodyPr wrap="square" lIns="204216" tIns="204216" rIns="204216" bIns="204216" rtlCol="0" anchor="t">
            <a:spAutoFit/>
          </a:bodyPr>
          <a:lstStyle/>
          <a:p>
            <a:r>
              <a:rPr lang="en-US" sz="2799" dirty="0">
                <a:solidFill>
                  <a:srgbClr val="336FA8"/>
                </a:solidFill>
                <a:latin typeface="Bricolage Grotesque 36 Light"/>
              </a:rPr>
              <a:t>SELECT category, SUM(profit) AS total_profit FROM sales GROUP BY category ORDER BY total_profit DESC;</a:t>
            </a:r>
          </a:p>
        </p:txBody>
      </p:sp>
      <p:sp>
        <p:nvSpPr>
          <p:cNvPr id="18" name="Text 15"/>
          <p:cNvSpPr/>
          <p:nvPr/>
        </p:nvSpPr>
        <p:spPr>
          <a:xfrm>
            <a:off x="756543" y="7933486"/>
            <a:ext cx="2234586" cy="2507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2799" i="1" dirty="0">
                <a:solidFill>
                  <a:srgbClr val="0FAF7F"/>
                </a:solidFill>
                <a:latin typeface="Bricolage Grotesque 36 Light"/>
              </a:rPr>
              <a:t>Regional Sales</a:t>
            </a:r>
          </a:p>
        </p:txBody>
      </p:sp>
      <p:sp>
        <p:nvSpPr>
          <p:cNvPr id="19" name="Shape 16"/>
          <p:cNvSpPr/>
          <p:nvPr/>
        </p:nvSpPr>
        <p:spPr>
          <a:xfrm>
            <a:off x="857251" y="8253220"/>
            <a:ext cx="7715250" cy="1348649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ar-EG" sz="3600" dirty="0"/>
          </a:p>
        </p:txBody>
      </p:sp>
      <p:sp>
        <p:nvSpPr>
          <p:cNvPr id="20" name="Shape 17"/>
          <p:cNvSpPr/>
          <p:nvPr/>
        </p:nvSpPr>
        <p:spPr>
          <a:xfrm flipH="1">
            <a:off x="756543" y="8253221"/>
            <a:ext cx="100708" cy="134864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21" name="Text 18"/>
          <p:cNvSpPr/>
          <p:nvPr/>
        </p:nvSpPr>
        <p:spPr>
          <a:xfrm>
            <a:off x="835821" y="8115300"/>
            <a:ext cx="8505822" cy="1704697"/>
          </a:xfrm>
          <a:prstGeom prst="rect">
            <a:avLst/>
          </a:prstGeom>
          <a:noFill/>
          <a:ln/>
        </p:spPr>
        <p:txBody>
          <a:bodyPr wrap="square" lIns="204216" tIns="204216" rIns="204216" bIns="204216" rtlCol="0" anchor="t">
            <a:spAutoFit/>
          </a:bodyPr>
          <a:lstStyle/>
          <a:p>
            <a:r>
              <a:rPr lang="en-US" sz="2799" dirty="0">
                <a:solidFill>
                  <a:srgbClr val="336FA8"/>
                </a:solidFill>
                <a:latin typeface="Bricolage Grotesque 36 Light"/>
              </a:rPr>
              <a:t>SELECT region, SUM(revenue) AS total_revenue FROM sales GROUP BY region ORDER BY total_revenue DESC;</a:t>
            </a:r>
          </a:p>
        </p:txBody>
      </p:sp>
      <p:sp>
        <p:nvSpPr>
          <p:cNvPr id="2" name="Shape 12">
            <a:extLst>
              <a:ext uri="{FF2B5EF4-FFF2-40B4-BE49-F238E27FC236}">
                <a16:creationId xmlns:a16="http://schemas.microsoft.com/office/drawing/2014/main" id="{38CE8984-2CB1-B05A-28B5-67E2FFB44FAA}"/>
              </a:ext>
            </a:extLst>
          </p:cNvPr>
          <p:cNvSpPr/>
          <p:nvPr/>
        </p:nvSpPr>
        <p:spPr>
          <a:xfrm>
            <a:off x="9875042" y="6047795"/>
            <a:ext cx="7650958" cy="1496127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DED46EDC-06D8-A46D-D1F9-EF61AA704A46}"/>
              </a:ext>
            </a:extLst>
          </p:cNvPr>
          <p:cNvSpPr/>
          <p:nvPr/>
        </p:nvSpPr>
        <p:spPr>
          <a:xfrm>
            <a:off x="9789321" y="6047795"/>
            <a:ext cx="67148" cy="1496127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A1F10DF2-78F8-EAAC-9483-6933CB847765}"/>
              </a:ext>
            </a:extLst>
          </p:cNvPr>
          <p:cNvSpPr/>
          <p:nvPr/>
        </p:nvSpPr>
        <p:spPr>
          <a:xfrm>
            <a:off x="9810750" y="5905500"/>
            <a:ext cx="7715250" cy="1273938"/>
          </a:xfrm>
          <a:prstGeom prst="rect">
            <a:avLst/>
          </a:prstGeom>
          <a:noFill/>
          <a:ln/>
        </p:spPr>
        <p:txBody>
          <a:bodyPr wrap="square" lIns="204216" tIns="204216" rIns="204216" bIns="204216" rtlCol="0" anchor="t">
            <a:spAutoFit/>
          </a:bodyPr>
          <a:lstStyle/>
          <a:p>
            <a:r>
              <a:rPr lang="en-US" sz="2799" dirty="0">
                <a:solidFill>
                  <a:srgbClr val="336FA8"/>
                </a:solidFill>
                <a:latin typeface="Bricolage Grotesque 36 Light"/>
              </a:rPr>
              <a:t>SELECT SUM(selling_price_per_unit * quantity) AS </a:t>
            </a:r>
            <a:r>
              <a:rPr lang="en-US" sz="2799" dirty="0" err="1">
                <a:solidFill>
                  <a:srgbClr val="336FA8"/>
                </a:solidFill>
                <a:latin typeface="Bricolage Grotesque 36 Light"/>
              </a:rPr>
              <a:t>total_sales_revenue</a:t>
            </a:r>
            <a:r>
              <a:rPr lang="en-US" sz="2799" dirty="0">
                <a:solidFill>
                  <a:srgbClr val="336FA8"/>
                </a:solidFill>
                <a:latin typeface="Bricolage Grotesque 36 Light"/>
              </a:rPr>
              <a:t> FROM sales;</a:t>
            </a:r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18EC50B8-B9FB-A5A6-BCBF-2CCDAE408EF6}"/>
              </a:ext>
            </a:extLst>
          </p:cNvPr>
          <p:cNvSpPr/>
          <p:nvPr/>
        </p:nvSpPr>
        <p:spPr>
          <a:xfrm>
            <a:off x="9839321" y="8181395"/>
            <a:ext cx="7650958" cy="1496127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E4D26E32-0550-6381-611F-B6093E8AACA0}"/>
              </a:ext>
            </a:extLst>
          </p:cNvPr>
          <p:cNvSpPr/>
          <p:nvPr/>
        </p:nvSpPr>
        <p:spPr>
          <a:xfrm>
            <a:off x="9753600" y="8181395"/>
            <a:ext cx="67148" cy="1496127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46B7F2E2-0AB8-E631-5233-195699B5E1A9}"/>
              </a:ext>
            </a:extLst>
          </p:cNvPr>
          <p:cNvSpPr/>
          <p:nvPr/>
        </p:nvSpPr>
        <p:spPr>
          <a:xfrm>
            <a:off x="9775029" y="8039100"/>
            <a:ext cx="7715250" cy="1704697"/>
          </a:xfrm>
          <a:prstGeom prst="rect">
            <a:avLst/>
          </a:prstGeom>
          <a:noFill/>
          <a:ln/>
        </p:spPr>
        <p:txBody>
          <a:bodyPr wrap="square" lIns="204216" tIns="204216" rIns="204216" bIns="204216" rtlCol="0" anchor="t">
            <a:spAutoFit/>
          </a:bodyPr>
          <a:lstStyle/>
          <a:p>
            <a:r>
              <a:rPr lang="en-US" sz="2799" dirty="0">
                <a:solidFill>
                  <a:srgbClr val="336FA8"/>
                </a:solidFill>
                <a:latin typeface="Bricolage Grotesque 36 Light"/>
              </a:rPr>
              <a:t>SELECT ROUND(</a:t>
            </a:r>
          </a:p>
          <a:p>
            <a:r>
              <a:rPr lang="en-US" sz="2799" dirty="0">
                <a:solidFill>
                  <a:srgbClr val="336FA8"/>
                </a:solidFill>
                <a:latin typeface="Bricolage Grotesque 36 Light"/>
              </a:rPr>
              <a:t>(SUM(profit) / SUM(revenue)) * 100, 2)</a:t>
            </a:r>
          </a:p>
          <a:p>
            <a:r>
              <a:rPr lang="en-US" sz="2799" dirty="0">
                <a:solidFill>
                  <a:srgbClr val="336FA8"/>
                </a:solidFill>
                <a:latin typeface="Bricolage Grotesque 36 Light"/>
              </a:rPr>
              <a:t>AS </a:t>
            </a:r>
            <a:r>
              <a:rPr lang="en-US" sz="2799" dirty="0" err="1">
                <a:solidFill>
                  <a:srgbClr val="336FA8"/>
                </a:solidFill>
                <a:latin typeface="Bricolage Grotesque 36 Light"/>
              </a:rPr>
              <a:t>profit_margin_percent</a:t>
            </a:r>
            <a:r>
              <a:rPr lang="en-US" sz="2799" dirty="0">
                <a:solidFill>
                  <a:srgbClr val="336FA8"/>
                </a:solidFill>
                <a:latin typeface="Bricolage Grotesque 36 Light"/>
              </a:rPr>
              <a:t> FROM sales;</a:t>
            </a:r>
          </a:p>
        </p:txBody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454947E8-09F6-CAE1-DF62-6272EB4EEE3B}"/>
              </a:ext>
            </a:extLst>
          </p:cNvPr>
          <p:cNvSpPr/>
          <p:nvPr/>
        </p:nvSpPr>
        <p:spPr>
          <a:xfrm>
            <a:off x="721521" y="2533600"/>
            <a:ext cx="16762442" cy="2381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18105F60-9B1D-7BA6-84DA-6C03B3DFA500}"/>
              </a:ext>
            </a:extLst>
          </p:cNvPr>
          <p:cNvSpPr/>
          <p:nvPr/>
        </p:nvSpPr>
        <p:spPr>
          <a:xfrm>
            <a:off x="982598" y="2357051"/>
            <a:ext cx="16382437" cy="2497222"/>
          </a:xfrm>
          <a:prstGeom prst="rect">
            <a:avLst/>
          </a:prstGeom>
          <a:noFill/>
          <a:ln/>
        </p:spPr>
        <p:txBody>
          <a:bodyPr wrap="square" lIns="0" tIns="340106" rIns="0" bIns="0" rtlCol="0" anchor="t">
            <a:spAutoFit/>
          </a:bodyPr>
          <a:lstStyle/>
          <a:p>
            <a:r>
              <a:rPr lang="en-US" sz="2799" b="1" dirty="0">
                <a:solidFill>
                  <a:srgbClr val="336FA8"/>
                </a:solidFill>
                <a:latin typeface="Bricolage Grotesque 36 Light"/>
              </a:rPr>
              <a:t>Why SQL?</a:t>
            </a:r>
          </a:p>
          <a:p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• Extract and structure raw data for analysis</a:t>
            </a:r>
          </a:p>
          <a:p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• Join tables (Sales, Products, Customers, Regions)</a:t>
            </a:r>
          </a:p>
          <a:p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• Perform aggregations and calculated metrics (profit, margin, AOV)</a:t>
            </a:r>
          </a:p>
          <a:p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 • Prepare clean views/tables for Power BI modeling</a:t>
            </a:r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E3ACC02C-C302-0F65-37F4-5C3DDFF00795}"/>
              </a:ext>
            </a:extLst>
          </p:cNvPr>
          <p:cNvSpPr/>
          <p:nvPr/>
        </p:nvSpPr>
        <p:spPr>
          <a:xfrm flipH="1">
            <a:off x="649134" y="2533599"/>
            <a:ext cx="67148" cy="2381299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9" name="Freeform 30">
            <a:extLst>
              <a:ext uri="{FF2B5EF4-FFF2-40B4-BE49-F238E27FC236}">
                <a16:creationId xmlns:a16="http://schemas.microsoft.com/office/drawing/2014/main" id="{F40C1778-6FDF-C65F-C47B-A212D7C625DB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7885EA-F03F-15B9-3DC9-0A4414F01219}"/>
              </a:ext>
            </a:extLst>
          </p:cNvPr>
          <p:cNvSpPr/>
          <p:nvPr/>
        </p:nvSpPr>
        <p:spPr>
          <a:xfrm>
            <a:off x="-559560" y="-190500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2" r="-2112"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8" name="Shape 45"/>
          <p:cNvSpPr/>
          <p:nvPr/>
        </p:nvSpPr>
        <p:spPr>
          <a:xfrm>
            <a:off x="304800" y="8191500"/>
            <a:ext cx="17983200" cy="16058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9" name="Shape 46"/>
          <p:cNvSpPr/>
          <p:nvPr/>
        </p:nvSpPr>
        <p:spPr>
          <a:xfrm>
            <a:off x="304799" y="8191500"/>
            <a:ext cx="133209" cy="1605892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" name="Text 1"/>
          <p:cNvSpPr/>
          <p:nvPr/>
        </p:nvSpPr>
        <p:spPr>
          <a:xfrm>
            <a:off x="4862614" y="1230919"/>
            <a:ext cx="8853386" cy="488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Star</a:t>
            </a:r>
            <a:r>
              <a:rPr lang="en-US" sz="2400" b="1" dirty="0">
                <a:solidFill>
                  <a:srgbClr val="1A1A1A"/>
                </a:solidFill>
              </a:rPr>
              <a:t>  </a:t>
            </a: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Schema</a:t>
            </a:r>
            <a:r>
              <a:rPr lang="en-US" sz="2400" b="1" dirty="0">
                <a:solidFill>
                  <a:srgbClr val="1A1A1A"/>
                </a:solidFill>
              </a:rPr>
              <a:t> </a:t>
            </a: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Architecture</a:t>
            </a:r>
          </a:p>
        </p:txBody>
      </p:sp>
      <p:sp>
        <p:nvSpPr>
          <p:cNvPr id="5" name="Text 2"/>
          <p:cNvSpPr/>
          <p:nvPr/>
        </p:nvSpPr>
        <p:spPr>
          <a:xfrm>
            <a:off x="7501444" y="2051654"/>
            <a:ext cx="3342262" cy="264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3200" dirty="0">
                <a:solidFill>
                  <a:srgbClr val="336FA8"/>
                </a:solidFill>
                <a:latin typeface="Bricolage Grotesque 36"/>
              </a:rPr>
              <a:t>Data Model Design</a:t>
            </a:r>
          </a:p>
        </p:txBody>
      </p:sp>
      <p:sp>
        <p:nvSpPr>
          <p:cNvPr id="6" name="Shape 3"/>
          <p:cNvSpPr/>
          <p:nvPr/>
        </p:nvSpPr>
        <p:spPr>
          <a:xfrm>
            <a:off x="885825" y="3030663"/>
            <a:ext cx="16573500" cy="1789375"/>
          </a:xfrm>
          <a:prstGeom prst="rect">
            <a:avLst/>
          </a:prstGeom>
          <a:solidFill>
            <a:srgbClr val="E8F0FF"/>
          </a:solidFill>
          <a:ln w="18288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ar-EG" sz="3600"/>
          </a:p>
        </p:txBody>
      </p:sp>
      <p:sp>
        <p:nvSpPr>
          <p:cNvPr id="7" name="Text 4"/>
          <p:cNvSpPr/>
          <p:nvPr/>
        </p:nvSpPr>
        <p:spPr>
          <a:xfrm>
            <a:off x="911352" y="2628900"/>
            <a:ext cx="1970091" cy="255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3500" b="1" dirty="0">
                <a:solidFill>
                  <a:srgbClr val="0FAF7F"/>
                </a:solidFill>
                <a:latin typeface="Bricolage Grotesque 36 Light"/>
              </a:rPr>
              <a:t>Fact</a:t>
            </a:r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 </a:t>
            </a:r>
            <a:r>
              <a:rPr lang="en-US" sz="3500" b="1" dirty="0">
                <a:solidFill>
                  <a:srgbClr val="0FAF7F"/>
                </a:solidFill>
                <a:latin typeface="Bricolage Grotesque 36 Light"/>
              </a:rPr>
              <a:t>Table</a:t>
            </a:r>
          </a:p>
        </p:txBody>
      </p:sp>
      <p:sp>
        <p:nvSpPr>
          <p:cNvPr id="8" name="Text 5"/>
          <p:cNvSpPr/>
          <p:nvPr/>
        </p:nvSpPr>
        <p:spPr>
          <a:xfrm>
            <a:off x="1000126" y="3387635"/>
            <a:ext cx="1508426" cy="270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2799" i="1" dirty="0">
                <a:solidFill>
                  <a:srgbClr val="0FAF7F"/>
                </a:solidFill>
                <a:latin typeface="Bricolage Grotesque 36 Light"/>
              </a:rPr>
              <a:t>FactSales</a:t>
            </a:r>
          </a:p>
        </p:txBody>
      </p:sp>
      <p:sp>
        <p:nvSpPr>
          <p:cNvPr id="9" name="Text 6"/>
          <p:cNvSpPr/>
          <p:nvPr/>
        </p:nvSpPr>
        <p:spPr>
          <a:xfrm>
            <a:off x="1000126" y="3739874"/>
            <a:ext cx="16154808" cy="86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invoice_no ,quantity, selling_price, cost_price
 Keys: date, customer, product, location, payment</a:t>
            </a:r>
          </a:p>
        </p:txBody>
      </p:sp>
      <p:sp>
        <p:nvSpPr>
          <p:cNvPr id="10" name="Shape 7"/>
          <p:cNvSpPr/>
          <p:nvPr/>
        </p:nvSpPr>
        <p:spPr>
          <a:xfrm>
            <a:off x="10496550" y="5695019"/>
            <a:ext cx="7715250" cy="9983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 flipH="1">
            <a:off x="10450831" y="5695019"/>
            <a:ext cx="45719" cy="100488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12" name="Text 9"/>
          <p:cNvSpPr/>
          <p:nvPr/>
        </p:nvSpPr>
        <p:spPr>
          <a:xfrm>
            <a:off x="857250" y="5381303"/>
            <a:ext cx="3393558" cy="2558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3500" b="1" dirty="0">
                <a:solidFill>
                  <a:srgbClr val="0FAF7F"/>
                </a:solidFill>
                <a:latin typeface="Bricolage Grotesque 36 Light"/>
              </a:rPr>
              <a:t>Dimension Tables</a:t>
            </a:r>
          </a:p>
        </p:txBody>
      </p:sp>
      <p:sp>
        <p:nvSpPr>
          <p:cNvPr id="13" name="Text 10"/>
          <p:cNvSpPr/>
          <p:nvPr/>
        </p:nvSpPr>
        <p:spPr>
          <a:xfrm>
            <a:off x="10710861" y="5948700"/>
            <a:ext cx="1317668" cy="270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2799" i="1" dirty="0">
                <a:solidFill>
                  <a:srgbClr val="0FAF7F"/>
                </a:solidFill>
                <a:latin typeface="Bricolage Grotesque 36 Light"/>
              </a:rPr>
              <a:t>DimDate</a:t>
            </a:r>
          </a:p>
        </p:txBody>
      </p:sp>
      <p:sp>
        <p:nvSpPr>
          <p:cNvPr id="14" name="Text 11"/>
          <p:cNvSpPr/>
          <p:nvPr/>
        </p:nvSpPr>
        <p:spPr>
          <a:xfrm>
            <a:off x="10710862" y="6334461"/>
            <a:ext cx="6185989" cy="2892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date_key, full_date, year, month, quarter</a:t>
            </a:r>
          </a:p>
        </p:txBody>
      </p:sp>
      <p:sp>
        <p:nvSpPr>
          <p:cNvPr id="15" name="Shape 12"/>
          <p:cNvSpPr/>
          <p:nvPr/>
        </p:nvSpPr>
        <p:spPr>
          <a:xfrm>
            <a:off x="857251" y="5695019"/>
            <a:ext cx="7715250" cy="1004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16" name="Shape 13"/>
          <p:cNvSpPr/>
          <p:nvPr/>
        </p:nvSpPr>
        <p:spPr>
          <a:xfrm>
            <a:off x="857251" y="5695019"/>
            <a:ext cx="57149" cy="100488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17" name="Text 14"/>
          <p:cNvSpPr/>
          <p:nvPr/>
        </p:nvSpPr>
        <p:spPr>
          <a:xfrm>
            <a:off x="1071562" y="5942669"/>
            <a:ext cx="2131994" cy="270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2799" i="1" dirty="0">
                <a:solidFill>
                  <a:srgbClr val="0FAF7F"/>
                </a:solidFill>
                <a:latin typeface="Bricolage Grotesque 36 Light"/>
              </a:rPr>
              <a:t>DimCustomer</a:t>
            </a:r>
          </a:p>
        </p:txBody>
      </p:sp>
      <p:sp>
        <p:nvSpPr>
          <p:cNvPr id="18" name="Text 15"/>
          <p:cNvSpPr/>
          <p:nvPr/>
        </p:nvSpPr>
        <p:spPr>
          <a:xfrm>
            <a:off x="1071562" y="6242707"/>
            <a:ext cx="6270947" cy="2892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customer_id, age, gender, demographics</a:t>
            </a:r>
          </a:p>
        </p:txBody>
      </p:sp>
      <p:sp>
        <p:nvSpPr>
          <p:cNvPr id="19" name="Shape 16"/>
          <p:cNvSpPr/>
          <p:nvPr/>
        </p:nvSpPr>
        <p:spPr>
          <a:xfrm>
            <a:off x="857251" y="6972300"/>
            <a:ext cx="7715250" cy="8715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20" name="Shape 17"/>
          <p:cNvSpPr/>
          <p:nvPr/>
        </p:nvSpPr>
        <p:spPr>
          <a:xfrm>
            <a:off x="857251" y="6972300"/>
            <a:ext cx="57150" cy="87153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21" name="Text 18"/>
          <p:cNvSpPr/>
          <p:nvPr/>
        </p:nvSpPr>
        <p:spPr>
          <a:xfrm>
            <a:off x="1071562" y="7195207"/>
            <a:ext cx="1830629" cy="270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2799" i="1" dirty="0">
                <a:solidFill>
                  <a:srgbClr val="0FAF7F"/>
                </a:solidFill>
                <a:latin typeface="Bricolage Grotesque 36 Light"/>
              </a:rPr>
              <a:t>DimProduct</a:t>
            </a:r>
          </a:p>
        </p:txBody>
      </p:sp>
      <p:sp>
        <p:nvSpPr>
          <p:cNvPr id="22" name="Text 19"/>
          <p:cNvSpPr/>
          <p:nvPr/>
        </p:nvSpPr>
        <p:spPr>
          <a:xfrm>
            <a:off x="1071562" y="7472363"/>
            <a:ext cx="5634556" cy="2892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product_key, category, subcategory</a:t>
            </a:r>
          </a:p>
        </p:txBody>
      </p:sp>
      <p:sp>
        <p:nvSpPr>
          <p:cNvPr id="23" name="Shape 20"/>
          <p:cNvSpPr/>
          <p:nvPr/>
        </p:nvSpPr>
        <p:spPr>
          <a:xfrm>
            <a:off x="10496550" y="7012783"/>
            <a:ext cx="7715250" cy="8715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24" name="Shape 21"/>
          <p:cNvSpPr/>
          <p:nvPr/>
        </p:nvSpPr>
        <p:spPr>
          <a:xfrm>
            <a:off x="10496550" y="7012783"/>
            <a:ext cx="57150" cy="87153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25" name="Text 22"/>
          <p:cNvSpPr/>
          <p:nvPr/>
        </p:nvSpPr>
        <p:spPr>
          <a:xfrm>
            <a:off x="10710862" y="7235690"/>
            <a:ext cx="1923604" cy="270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2799" i="1" dirty="0">
                <a:solidFill>
                  <a:srgbClr val="0FAF7F"/>
                </a:solidFill>
                <a:latin typeface="Bricolage Grotesque 36 Light"/>
              </a:rPr>
              <a:t>DimLocation</a:t>
            </a:r>
          </a:p>
        </p:txBody>
      </p:sp>
      <p:sp>
        <p:nvSpPr>
          <p:cNvPr id="26" name="Text 23"/>
          <p:cNvSpPr/>
          <p:nvPr/>
        </p:nvSpPr>
        <p:spPr>
          <a:xfrm>
            <a:off x="10710862" y="7512844"/>
            <a:ext cx="6444072" cy="2892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location_key, region, state, shopping_mall</a:t>
            </a:r>
          </a:p>
        </p:txBody>
      </p:sp>
      <p:sp>
        <p:nvSpPr>
          <p:cNvPr id="27" name="Text 24"/>
          <p:cNvSpPr/>
          <p:nvPr/>
        </p:nvSpPr>
        <p:spPr>
          <a:xfrm>
            <a:off x="804037" y="8260738"/>
            <a:ext cx="17483963" cy="1205202"/>
          </a:xfrm>
          <a:prstGeom prst="rect">
            <a:avLst/>
          </a:prstGeom>
          <a:noFill/>
          <a:ln/>
        </p:spPr>
        <p:txBody>
          <a:bodyPr wrap="square" lIns="0" tIns="340106" rIns="0" bIns="0" rtlCol="0" anchor="t">
            <a:spAutoFit/>
          </a:bodyPr>
          <a:lstStyle/>
          <a:p>
            <a:r>
              <a:rPr lang="en-US" sz="2799" b="1" dirty="0">
                <a:solidFill>
                  <a:srgbClr val="336FA8"/>
                </a:solidFill>
                <a:latin typeface="Bricolage Grotesque 36 Light"/>
              </a:rPr>
              <a:t>Why Star Schema?</a:t>
            </a:r>
          </a:p>
          <a:p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Simplifies complex queries, improves dashboard performance, and ensures consistency across all reports.</a:t>
            </a:r>
          </a:p>
        </p:txBody>
      </p:sp>
      <p:sp>
        <p:nvSpPr>
          <p:cNvPr id="3" name="Freeform 30">
            <a:extLst>
              <a:ext uri="{FF2B5EF4-FFF2-40B4-BE49-F238E27FC236}">
                <a16:creationId xmlns:a16="http://schemas.microsoft.com/office/drawing/2014/main" id="{86E53EBB-C56D-36A3-2566-5E02787AE585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4ECE8-1CDA-692C-475F-CD15FDFF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2">
            <a:extLst>
              <a:ext uri="{FF2B5EF4-FFF2-40B4-BE49-F238E27FC236}">
                <a16:creationId xmlns:a16="http://schemas.microsoft.com/office/drawing/2014/main" id="{3F1189CC-1053-2520-DB75-6DABBE3538AA}"/>
              </a:ext>
            </a:extLst>
          </p:cNvPr>
          <p:cNvSpPr/>
          <p:nvPr/>
        </p:nvSpPr>
        <p:spPr>
          <a:xfrm>
            <a:off x="-559560" y="-190500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2" r="-2112"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9" name="Freeform 30">
            <a:extLst>
              <a:ext uri="{FF2B5EF4-FFF2-40B4-BE49-F238E27FC236}">
                <a16:creationId xmlns:a16="http://schemas.microsoft.com/office/drawing/2014/main" id="{0BCCBFC4-B9A6-B493-59A8-20BA704EAB02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43982C6C-3958-9B72-9986-1333BF52D72F}"/>
              </a:ext>
            </a:extLst>
          </p:cNvPr>
          <p:cNvSpPr/>
          <p:nvPr/>
        </p:nvSpPr>
        <p:spPr>
          <a:xfrm>
            <a:off x="7501444" y="2051654"/>
            <a:ext cx="3342262" cy="264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3200" dirty="0">
                <a:solidFill>
                  <a:srgbClr val="336FA8"/>
                </a:solidFill>
                <a:latin typeface="Bricolage Grotesque 36"/>
              </a:rPr>
              <a:t>Data Model Design</a:t>
            </a: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2E1C404C-C6AC-6AB3-2BE4-4FEF14918B59}"/>
              </a:ext>
            </a:extLst>
          </p:cNvPr>
          <p:cNvSpPr/>
          <p:nvPr/>
        </p:nvSpPr>
        <p:spPr>
          <a:xfrm>
            <a:off x="4862614" y="1230919"/>
            <a:ext cx="8853386" cy="488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Star</a:t>
            </a:r>
            <a:r>
              <a:rPr lang="en-US" sz="2400" b="1" dirty="0">
                <a:solidFill>
                  <a:srgbClr val="1A1A1A"/>
                </a:solidFill>
              </a:rPr>
              <a:t>  </a:t>
            </a: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Schema</a:t>
            </a:r>
            <a:r>
              <a:rPr lang="en-US" sz="2400" b="1" dirty="0">
                <a:solidFill>
                  <a:srgbClr val="1A1A1A"/>
                </a:solidFill>
              </a:rPr>
              <a:t> </a:t>
            </a:r>
            <a:r>
              <a:rPr lang="en-US" sz="8000" dirty="0">
                <a:solidFill>
                  <a:srgbClr val="25282A"/>
                </a:solidFill>
                <a:latin typeface="Bebas Neue Cyrillic"/>
              </a:rPr>
              <a:t>Architecture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7FDE8E5-253C-0CB3-FD28-7C71C4446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84" y="2488102"/>
            <a:ext cx="16943216" cy="761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9560" y="-38100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2" r="-2112"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381000" y="5874309"/>
            <a:ext cx="3400551" cy="3300222"/>
          </a:xfrm>
          <a:custGeom>
            <a:avLst/>
            <a:gdLst/>
            <a:ahLst/>
            <a:cxnLst/>
            <a:rect l="l" t="t" r="r" b="b"/>
            <a:pathLst>
              <a:path w="778787" h="635110">
                <a:moveTo>
                  <a:pt x="778787" y="57419"/>
                </a:moveTo>
                <a:lnTo>
                  <a:pt x="778787" y="577691"/>
                </a:lnTo>
                <a:cubicBezTo>
                  <a:pt x="778787" y="609403"/>
                  <a:pt x="753079" y="635110"/>
                  <a:pt x="721367" y="635110"/>
                </a:cubicBezTo>
                <a:lnTo>
                  <a:pt x="57419" y="635110"/>
                </a:lnTo>
                <a:cubicBezTo>
                  <a:pt x="25707" y="635110"/>
                  <a:pt x="0" y="609403"/>
                  <a:pt x="0" y="577691"/>
                </a:cubicBezTo>
                <a:lnTo>
                  <a:pt x="0" y="57419"/>
                </a:lnTo>
                <a:cubicBezTo>
                  <a:pt x="0" y="25707"/>
                  <a:pt x="25707" y="0"/>
                  <a:pt x="57419" y="0"/>
                </a:cubicBezTo>
                <a:lnTo>
                  <a:pt x="721367" y="0"/>
                </a:lnTo>
                <a:cubicBezTo>
                  <a:pt x="753079" y="0"/>
                  <a:pt x="778787" y="25707"/>
                  <a:pt x="778787" y="57419"/>
                </a:cubicBezTo>
                <a:close/>
              </a:path>
            </a:pathLst>
          </a:custGeom>
          <a:solidFill>
            <a:schemeClr val="bg1"/>
          </a:solidFill>
          <a:ln w="28575" cap="rnd">
            <a:solidFill>
              <a:srgbClr val="8D5D39"/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7" name="Freeform 7"/>
          <p:cNvSpPr/>
          <p:nvPr/>
        </p:nvSpPr>
        <p:spPr>
          <a:xfrm>
            <a:off x="4020844" y="5874309"/>
            <a:ext cx="3400552" cy="3300222"/>
          </a:xfrm>
          <a:custGeom>
            <a:avLst/>
            <a:gdLst/>
            <a:ahLst/>
            <a:cxnLst/>
            <a:rect l="l" t="t" r="r" b="b"/>
            <a:pathLst>
              <a:path w="778787" h="635110">
                <a:moveTo>
                  <a:pt x="778787" y="57419"/>
                </a:moveTo>
                <a:lnTo>
                  <a:pt x="778787" y="577691"/>
                </a:lnTo>
                <a:cubicBezTo>
                  <a:pt x="778787" y="609403"/>
                  <a:pt x="753079" y="635110"/>
                  <a:pt x="721367" y="635110"/>
                </a:cubicBezTo>
                <a:lnTo>
                  <a:pt x="57419" y="635110"/>
                </a:lnTo>
                <a:cubicBezTo>
                  <a:pt x="25707" y="635110"/>
                  <a:pt x="0" y="609403"/>
                  <a:pt x="0" y="577691"/>
                </a:cubicBezTo>
                <a:lnTo>
                  <a:pt x="0" y="57419"/>
                </a:lnTo>
                <a:cubicBezTo>
                  <a:pt x="0" y="25707"/>
                  <a:pt x="25707" y="0"/>
                  <a:pt x="57419" y="0"/>
                </a:cubicBezTo>
                <a:lnTo>
                  <a:pt x="721367" y="0"/>
                </a:lnTo>
                <a:cubicBezTo>
                  <a:pt x="753079" y="0"/>
                  <a:pt x="778787" y="25707"/>
                  <a:pt x="778787" y="57419"/>
                </a:cubicBezTo>
                <a:close/>
              </a:path>
            </a:pathLst>
          </a:custGeom>
          <a:solidFill>
            <a:schemeClr val="bg1"/>
          </a:solidFill>
          <a:ln w="28575" cap="rnd">
            <a:solidFill>
              <a:srgbClr val="8D5D39"/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>
            <a:off x="7660689" y="5860020"/>
            <a:ext cx="3400553" cy="3300222"/>
          </a:xfrm>
          <a:custGeom>
            <a:avLst/>
            <a:gdLst/>
            <a:ahLst/>
            <a:cxnLst/>
            <a:rect l="l" t="t" r="r" b="b"/>
            <a:pathLst>
              <a:path w="778787" h="635110">
                <a:moveTo>
                  <a:pt x="778787" y="57419"/>
                </a:moveTo>
                <a:lnTo>
                  <a:pt x="778787" y="577691"/>
                </a:lnTo>
                <a:cubicBezTo>
                  <a:pt x="778787" y="609403"/>
                  <a:pt x="753079" y="635110"/>
                  <a:pt x="721367" y="635110"/>
                </a:cubicBezTo>
                <a:lnTo>
                  <a:pt x="57419" y="635110"/>
                </a:lnTo>
                <a:cubicBezTo>
                  <a:pt x="25707" y="635110"/>
                  <a:pt x="0" y="609403"/>
                  <a:pt x="0" y="577691"/>
                </a:cubicBezTo>
                <a:lnTo>
                  <a:pt x="0" y="57419"/>
                </a:lnTo>
                <a:cubicBezTo>
                  <a:pt x="0" y="25707"/>
                  <a:pt x="25707" y="0"/>
                  <a:pt x="57419" y="0"/>
                </a:cubicBezTo>
                <a:lnTo>
                  <a:pt x="721367" y="0"/>
                </a:lnTo>
                <a:cubicBezTo>
                  <a:pt x="753079" y="0"/>
                  <a:pt x="778787" y="25707"/>
                  <a:pt x="778787" y="57419"/>
                </a:cubicBezTo>
                <a:close/>
              </a:path>
            </a:pathLst>
          </a:custGeom>
          <a:solidFill>
            <a:schemeClr val="bg1"/>
          </a:solidFill>
          <a:ln w="28575" cap="rnd">
            <a:solidFill>
              <a:srgbClr val="8D5D39"/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3" name="Freeform 13"/>
          <p:cNvSpPr/>
          <p:nvPr/>
        </p:nvSpPr>
        <p:spPr>
          <a:xfrm>
            <a:off x="11254244" y="5874309"/>
            <a:ext cx="3400553" cy="3300222"/>
          </a:xfrm>
          <a:custGeom>
            <a:avLst/>
            <a:gdLst/>
            <a:ahLst/>
            <a:cxnLst/>
            <a:rect l="l" t="t" r="r" b="b"/>
            <a:pathLst>
              <a:path w="778787" h="635110">
                <a:moveTo>
                  <a:pt x="778787" y="57419"/>
                </a:moveTo>
                <a:lnTo>
                  <a:pt x="778787" y="577691"/>
                </a:lnTo>
                <a:cubicBezTo>
                  <a:pt x="778787" y="609403"/>
                  <a:pt x="753079" y="635110"/>
                  <a:pt x="721367" y="635110"/>
                </a:cubicBezTo>
                <a:lnTo>
                  <a:pt x="57419" y="635110"/>
                </a:lnTo>
                <a:cubicBezTo>
                  <a:pt x="25707" y="635110"/>
                  <a:pt x="0" y="609403"/>
                  <a:pt x="0" y="577691"/>
                </a:cubicBezTo>
                <a:lnTo>
                  <a:pt x="0" y="57419"/>
                </a:lnTo>
                <a:cubicBezTo>
                  <a:pt x="0" y="25707"/>
                  <a:pt x="25707" y="0"/>
                  <a:pt x="57419" y="0"/>
                </a:cubicBezTo>
                <a:lnTo>
                  <a:pt x="721367" y="0"/>
                </a:lnTo>
                <a:cubicBezTo>
                  <a:pt x="753079" y="0"/>
                  <a:pt x="778787" y="25707"/>
                  <a:pt x="778787" y="57419"/>
                </a:cubicBezTo>
                <a:close/>
              </a:path>
            </a:pathLst>
          </a:custGeom>
          <a:solidFill>
            <a:schemeClr val="bg1"/>
          </a:solidFill>
          <a:ln w="28575" cap="rnd">
            <a:solidFill>
              <a:srgbClr val="8D5D39"/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6" name="Freeform 16"/>
          <p:cNvSpPr/>
          <p:nvPr/>
        </p:nvSpPr>
        <p:spPr>
          <a:xfrm>
            <a:off x="14770886" y="4496689"/>
            <a:ext cx="3317327" cy="1248901"/>
          </a:xfrm>
          <a:custGeom>
            <a:avLst/>
            <a:gdLst/>
            <a:ahLst/>
            <a:cxnLst/>
            <a:rect l="l" t="t" r="r" b="b"/>
            <a:pathLst>
              <a:path w="1557768" h="479657">
                <a:moveTo>
                  <a:pt x="1557768" y="57289"/>
                </a:moveTo>
                <a:lnTo>
                  <a:pt x="1557768" y="422368"/>
                </a:lnTo>
                <a:cubicBezTo>
                  <a:pt x="1557768" y="437562"/>
                  <a:pt x="1551732" y="452133"/>
                  <a:pt x="1540988" y="462877"/>
                </a:cubicBezTo>
                <a:cubicBezTo>
                  <a:pt x="1530244" y="473621"/>
                  <a:pt x="1515673" y="479657"/>
                  <a:pt x="1500479" y="479657"/>
                </a:cubicBezTo>
                <a:lnTo>
                  <a:pt x="57289" y="479657"/>
                </a:lnTo>
                <a:cubicBezTo>
                  <a:pt x="42095" y="479657"/>
                  <a:pt x="27523" y="473621"/>
                  <a:pt x="16779" y="462877"/>
                </a:cubicBezTo>
                <a:cubicBezTo>
                  <a:pt x="6036" y="452133"/>
                  <a:pt x="0" y="437562"/>
                  <a:pt x="0" y="422368"/>
                </a:cubicBezTo>
                <a:lnTo>
                  <a:pt x="0" y="57289"/>
                </a:lnTo>
                <a:cubicBezTo>
                  <a:pt x="0" y="42095"/>
                  <a:pt x="6036" y="27523"/>
                  <a:pt x="16779" y="16779"/>
                </a:cubicBezTo>
                <a:cubicBezTo>
                  <a:pt x="27523" y="6036"/>
                  <a:pt x="42095" y="0"/>
                  <a:pt x="57289" y="0"/>
                </a:cubicBezTo>
                <a:lnTo>
                  <a:pt x="1500479" y="0"/>
                </a:lnTo>
                <a:cubicBezTo>
                  <a:pt x="1515673" y="0"/>
                  <a:pt x="1530244" y="6036"/>
                  <a:pt x="1540988" y="16779"/>
                </a:cubicBezTo>
                <a:cubicBezTo>
                  <a:pt x="1551732" y="27523"/>
                  <a:pt x="1557768" y="42095"/>
                  <a:pt x="1557768" y="57289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28575" cap="rnd">
            <a:solidFill>
              <a:srgbClr val="8D5D39"/>
            </a:solidFill>
            <a:prstDash val="solid"/>
            <a:round/>
          </a:ln>
        </p:spPr>
        <p:txBody>
          <a:bodyPr/>
          <a:lstStyle/>
          <a:p>
            <a:endParaRPr lang="ar-EG" dirty="0"/>
          </a:p>
        </p:txBody>
      </p:sp>
      <p:grpSp>
        <p:nvGrpSpPr>
          <p:cNvPr id="18" name="Group 18"/>
          <p:cNvGrpSpPr/>
          <p:nvPr/>
        </p:nvGrpSpPr>
        <p:grpSpPr>
          <a:xfrm>
            <a:off x="381000" y="4478964"/>
            <a:ext cx="3400551" cy="1248901"/>
            <a:chOff x="0" y="0"/>
            <a:chExt cx="1557768" cy="4796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57768" cy="479657"/>
            </a:xfrm>
            <a:custGeom>
              <a:avLst/>
              <a:gdLst/>
              <a:ahLst/>
              <a:cxnLst/>
              <a:rect l="l" t="t" r="r" b="b"/>
              <a:pathLst>
                <a:path w="1557768" h="479657">
                  <a:moveTo>
                    <a:pt x="1557768" y="57289"/>
                  </a:moveTo>
                  <a:lnTo>
                    <a:pt x="1557768" y="422368"/>
                  </a:lnTo>
                  <a:cubicBezTo>
                    <a:pt x="1557768" y="437562"/>
                    <a:pt x="1551732" y="452133"/>
                    <a:pt x="1540988" y="462877"/>
                  </a:cubicBezTo>
                  <a:cubicBezTo>
                    <a:pt x="1530244" y="473621"/>
                    <a:pt x="1515673" y="479657"/>
                    <a:pt x="1500479" y="479657"/>
                  </a:cubicBezTo>
                  <a:lnTo>
                    <a:pt x="57289" y="479657"/>
                  </a:lnTo>
                  <a:cubicBezTo>
                    <a:pt x="42095" y="479657"/>
                    <a:pt x="27523" y="473621"/>
                    <a:pt x="16779" y="462877"/>
                  </a:cubicBezTo>
                  <a:cubicBezTo>
                    <a:pt x="6036" y="452133"/>
                    <a:pt x="0" y="437562"/>
                    <a:pt x="0" y="422368"/>
                  </a:cubicBezTo>
                  <a:lnTo>
                    <a:pt x="0" y="57289"/>
                  </a:lnTo>
                  <a:cubicBezTo>
                    <a:pt x="0" y="42095"/>
                    <a:pt x="6036" y="27523"/>
                    <a:pt x="16779" y="16779"/>
                  </a:cubicBezTo>
                  <a:cubicBezTo>
                    <a:pt x="27523" y="6036"/>
                    <a:pt x="42095" y="0"/>
                    <a:pt x="57289" y="0"/>
                  </a:cubicBezTo>
                  <a:lnTo>
                    <a:pt x="1500479" y="0"/>
                  </a:lnTo>
                  <a:cubicBezTo>
                    <a:pt x="1515673" y="0"/>
                    <a:pt x="1530244" y="6036"/>
                    <a:pt x="1540988" y="16779"/>
                  </a:cubicBezTo>
                  <a:cubicBezTo>
                    <a:pt x="1551732" y="27523"/>
                    <a:pt x="1557768" y="42095"/>
                    <a:pt x="1557768" y="57289"/>
                  </a:cubicBezTo>
                  <a:close/>
                </a:path>
              </a:pathLst>
            </a:custGeom>
            <a:solidFill>
              <a:srgbClr val="336EA9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557768" cy="517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997875" y="4487827"/>
            <a:ext cx="3317325" cy="1248901"/>
            <a:chOff x="0" y="0"/>
            <a:chExt cx="2130937" cy="6561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30937" cy="656143"/>
            </a:xfrm>
            <a:custGeom>
              <a:avLst/>
              <a:gdLst/>
              <a:ahLst/>
              <a:cxnLst/>
              <a:rect l="l" t="t" r="r" b="b"/>
              <a:pathLst>
                <a:path w="2130937" h="656143">
                  <a:moveTo>
                    <a:pt x="2130937" y="57289"/>
                  </a:moveTo>
                  <a:lnTo>
                    <a:pt x="2130937" y="598854"/>
                  </a:lnTo>
                  <a:cubicBezTo>
                    <a:pt x="2130937" y="614048"/>
                    <a:pt x="2124901" y="628619"/>
                    <a:pt x="2114157" y="639363"/>
                  </a:cubicBezTo>
                  <a:cubicBezTo>
                    <a:pt x="2103414" y="650107"/>
                    <a:pt x="2088842" y="656143"/>
                    <a:pt x="2073648" y="656143"/>
                  </a:cubicBezTo>
                  <a:lnTo>
                    <a:pt x="57289" y="656143"/>
                  </a:lnTo>
                  <a:cubicBezTo>
                    <a:pt x="42095" y="656143"/>
                    <a:pt x="27523" y="650107"/>
                    <a:pt x="16779" y="639363"/>
                  </a:cubicBezTo>
                  <a:cubicBezTo>
                    <a:pt x="6036" y="628619"/>
                    <a:pt x="0" y="614048"/>
                    <a:pt x="0" y="598854"/>
                  </a:cubicBezTo>
                  <a:lnTo>
                    <a:pt x="0" y="57289"/>
                  </a:lnTo>
                  <a:cubicBezTo>
                    <a:pt x="0" y="42095"/>
                    <a:pt x="6036" y="27523"/>
                    <a:pt x="16779" y="16779"/>
                  </a:cubicBezTo>
                  <a:cubicBezTo>
                    <a:pt x="27523" y="6036"/>
                    <a:pt x="42095" y="0"/>
                    <a:pt x="57289" y="0"/>
                  </a:cubicBezTo>
                  <a:lnTo>
                    <a:pt x="2073648" y="0"/>
                  </a:lnTo>
                  <a:cubicBezTo>
                    <a:pt x="2088842" y="0"/>
                    <a:pt x="2103414" y="6036"/>
                    <a:pt x="2114157" y="16779"/>
                  </a:cubicBezTo>
                  <a:cubicBezTo>
                    <a:pt x="2124901" y="27523"/>
                    <a:pt x="2130937" y="42095"/>
                    <a:pt x="2130937" y="57289"/>
                  </a:cubicBezTo>
                  <a:close/>
                </a:path>
              </a:pathLst>
            </a:custGeom>
            <a:solidFill>
              <a:srgbClr val="0FAB7C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130937" cy="694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55474" y="4492258"/>
            <a:ext cx="3317326" cy="1248901"/>
            <a:chOff x="0" y="0"/>
            <a:chExt cx="2130937" cy="6561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30937" cy="656143"/>
            </a:xfrm>
            <a:custGeom>
              <a:avLst/>
              <a:gdLst/>
              <a:ahLst/>
              <a:cxnLst/>
              <a:rect l="l" t="t" r="r" b="b"/>
              <a:pathLst>
                <a:path w="2130937" h="656143">
                  <a:moveTo>
                    <a:pt x="2130937" y="57289"/>
                  </a:moveTo>
                  <a:lnTo>
                    <a:pt x="2130937" y="598854"/>
                  </a:lnTo>
                  <a:cubicBezTo>
                    <a:pt x="2130937" y="614048"/>
                    <a:pt x="2124901" y="628619"/>
                    <a:pt x="2114157" y="639363"/>
                  </a:cubicBezTo>
                  <a:cubicBezTo>
                    <a:pt x="2103414" y="650107"/>
                    <a:pt x="2088842" y="656143"/>
                    <a:pt x="2073648" y="656143"/>
                  </a:cubicBezTo>
                  <a:lnTo>
                    <a:pt x="57289" y="656143"/>
                  </a:lnTo>
                  <a:cubicBezTo>
                    <a:pt x="42095" y="656143"/>
                    <a:pt x="27523" y="650107"/>
                    <a:pt x="16779" y="639363"/>
                  </a:cubicBezTo>
                  <a:cubicBezTo>
                    <a:pt x="6036" y="628619"/>
                    <a:pt x="0" y="614048"/>
                    <a:pt x="0" y="598854"/>
                  </a:cubicBezTo>
                  <a:lnTo>
                    <a:pt x="0" y="57289"/>
                  </a:lnTo>
                  <a:cubicBezTo>
                    <a:pt x="0" y="42095"/>
                    <a:pt x="6036" y="27523"/>
                    <a:pt x="16779" y="16779"/>
                  </a:cubicBezTo>
                  <a:cubicBezTo>
                    <a:pt x="27523" y="6036"/>
                    <a:pt x="42095" y="0"/>
                    <a:pt x="57289" y="0"/>
                  </a:cubicBezTo>
                  <a:lnTo>
                    <a:pt x="2073648" y="0"/>
                  </a:lnTo>
                  <a:cubicBezTo>
                    <a:pt x="2088842" y="0"/>
                    <a:pt x="2103414" y="6036"/>
                    <a:pt x="2114157" y="16779"/>
                  </a:cubicBezTo>
                  <a:cubicBezTo>
                    <a:pt x="2124901" y="27523"/>
                    <a:pt x="2130937" y="42095"/>
                    <a:pt x="2130937" y="57289"/>
                  </a:cubicBezTo>
                  <a:close/>
                </a:path>
              </a:pathLst>
            </a:custGeom>
            <a:solidFill>
              <a:srgbClr val="E3BD19"/>
            </a:solidFill>
            <a:ln w="28575" cap="rnd">
              <a:solidFill>
                <a:srgbClr val="8D5D39"/>
              </a:solidFill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130937" cy="694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 flipH="1">
            <a:off x="3480279" y="1757252"/>
            <a:ext cx="768261" cy="1067029"/>
          </a:xfrm>
          <a:custGeom>
            <a:avLst/>
            <a:gdLst/>
            <a:ahLst/>
            <a:cxnLst/>
            <a:rect l="l" t="t" r="r" b="b"/>
            <a:pathLst>
              <a:path w="768261" h="1067029">
                <a:moveTo>
                  <a:pt x="768261" y="0"/>
                </a:moveTo>
                <a:lnTo>
                  <a:pt x="0" y="0"/>
                </a:lnTo>
                <a:lnTo>
                  <a:pt x="0" y="1067029"/>
                </a:lnTo>
                <a:lnTo>
                  <a:pt x="768261" y="1067029"/>
                </a:lnTo>
                <a:lnTo>
                  <a:pt x="76826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8" name="Freeform 28"/>
          <p:cNvSpPr/>
          <p:nvPr/>
        </p:nvSpPr>
        <p:spPr>
          <a:xfrm flipH="1">
            <a:off x="14353938" y="592593"/>
            <a:ext cx="2533035" cy="2431714"/>
          </a:xfrm>
          <a:custGeom>
            <a:avLst/>
            <a:gdLst/>
            <a:ahLst/>
            <a:cxnLst/>
            <a:rect l="l" t="t" r="r" b="b"/>
            <a:pathLst>
              <a:path w="2533035" h="2431714">
                <a:moveTo>
                  <a:pt x="2533035" y="0"/>
                </a:moveTo>
                <a:lnTo>
                  <a:pt x="0" y="0"/>
                </a:lnTo>
                <a:lnTo>
                  <a:pt x="0" y="2431713"/>
                </a:lnTo>
                <a:lnTo>
                  <a:pt x="2533035" y="2431713"/>
                </a:lnTo>
                <a:lnTo>
                  <a:pt x="253303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9" name="Freeform 29"/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0" name="TextBox 30"/>
          <p:cNvSpPr txBox="1"/>
          <p:nvPr/>
        </p:nvSpPr>
        <p:spPr>
          <a:xfrm>
            <a:off x="4235996" y="1019026"/>
            <a:ext cx="9816007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</a:pPr>
            <a:r>
              <a:rPr lang="en-US" sz="8000" u="none" strike="noStrike" dirty="0">
                <a:solidFill>
                  <a:srgbClr val="25282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Exploratory data analysis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7500" y="6002475"/>
            <a:ext cx="2787547" cy="3015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Clear seasonal patterns identified with peak sales during specific months, guiding marketing campaign timing.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57011" y="3488817"/>
            <a:ext cx="1987895" cy="104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35"/>
              </a:lnSpc>
              <a:spcBef>
                <a:spcPct val="0"/>
              </a:spcBef>
            </a:pPr>
            <a:r>
              <a:rPr lang="en-US" sz="7200" dirty="0">
                <a:solidFill>
                  <a:srgbClr val="8D5D3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07916" y="3467100"/>
            <a:ext cx="1987895" cy="104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35"/>
              </a:lnSpc>
              <a:spcBef>
                <a:spcPct val="0"/>
              </a:spcBef>
            </a:pPr>
            <a:r>
              <a:rPr lang="en-US" sz="7200" dirty="0">
                <a:solidFill>
                  <a:srgbClr val="8D5D3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2211" y="3467100"/>
            <a:ext cx="1987895" cy="104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35"/>
              </a:lnSpc>
              <a:spcBef>
                <a:spcPct val="0"/>
              </a:spcBef>
            </a:pPr>
            <a:r>
              <a:rPr lang="en-US" sz="7200" dirty="0">
                <a:solidFill>
                  <a:srgbClr val="8D5D3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953611" y="3565017"/>
            <a:ext cx="1987895" cy="104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35"/>
              </a:lnSpc>
              <a:spcBef>
                <a:spcPct val="0"/>
              </a:spcBef>
            </a:pPr>
            <a:r>
              <a:rPr lang="en-US" sz="7200" dirty="0">
                <a:solidFill>
                  <a:srgbClr val="8D5D3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67583" y="4610670"/>
            <a:ext cx="2427383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500" dirty="0">
                <a:solidFill>
                  <a:srgbClr val="25282A"/>
                </a:solidFill>
                <a:latin typeface="Bebas Neue Cyrillic"/>
              </a:rPr>
              <a:t>Sales Trends Over Time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981F8555-B111-2DDA-AD81-DEC88CCB6502}"/>
              </a:ext>
            </a:extLst>
          </p:cNvPr>
          <p:cNvSpPr/>
          <p:nvPr/>
        </p:nvSpPr>
        <p:spPr>
          <a:xfrm>
            <a:off x="7589748" y="2054811"/>
            <a:ext cx="3121047" cy="495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3200" dirty="0">
                <a:solidFill>
                  <a:srgbClr val="336FA8"/>
                </a:solidFill>
                <a:latin typeface="Bricolage Grotesque 36"/>
              </a:rPr>
              <a:t>Key EDA Findings</a:t>
            </a:r>
          </a:p>
        </p:txBody>
      </p:sp>
      <p:sp>
        <p:nvSpPr>
          <p:cNvPr id="45" name="Freeform 13">
            <a:extLst>
              <a:ext uri="{FF2B5EF4-FFF2-40B4-BE49-F238E27FC236}">
                <a16:creationId xmlns:a16="http://schemas.microsoft.com/office/drawing/2014/main" id="{E19C4433-EC84-08A8-0129-5BCB49499021}"/>
              </a:ext>
            </a:extLst>
          </p:cNvPr>
          <p:cNvSpPr/>
          <p:nvPr/>
        </p:nvSpPr>
        <p:spPr>
          <a:xfrm>
            <a:off x="14735047" y="5881878"/>
            <a:ext cx="3400553" cy="3300222"/>
          </a:xfrm>
          <a:custGeom>
            <a:avLst/>
            <a:gdLst/>
            <a:ahLst/>
            <a:cxnLst/>
            <a:rect l="l" t="t" r="r" b="b"/>
            <a:pathLst>
              <a:path w="778787" h="635110">
                <a:moveTo>
                  <a:pt x="778787" y="57419"/>
                </a:moveTo>
                <a:lnTo>
                  <a:pt x="778787" y="577691"/>
                </a:lnTo>
                <a:cubicBezTo>
                  <a:pt x="778787" y="609403"/>
                  <a:pt x="753079" y="635110"/>
                  <a:pt x="721367" y="635110"/>
                </a:cubicBezTo>
                <a:lnTo>
                  <a:pt x="57419" y="635110"/>
                </a:lnTo>
                <a:cubicBezTo>
                  <a:pt x="25707" y="635110"/>
                  <a:pt x="0" y="609403"/>
                  <a:pt x="0" y="577691"/>
                </a:cubicBezTo>
                <a:lnTo>
                  <a:pt x="0" y="57419"/>
                </a:lnTo>
                <a:cubicBezTo>
                  <a:pt x="0" y="25707"/>
                  <a:pt x="25707" y="0"/>
                  <a:pt x="57419" y="0"/>
                </a:cubicBezTo>
                <a:lnTo>
                  <a:pt x="721367" y="0"/>
                </a:lnTo>
                <a:cubicBezTo>
                  <a:pt x="753079" y="0"/>
                  <a:pt x="778787" y="25707"/>
                  <a:pt x="778787" y="57419"/>
                </a:cubicBezTo>
                <a:close/>
              </a:path>
            </a:pathLst>
          </a:custGeom>
          <a:solidFill>
            <a:schemeClr val="bg1"/>
          </a:solidFill>
          <a:ln w="28575" cap="rnd">
            <a:solidFill>
              <a:srgbClr val="8D5D39"/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50" name="TextBox 36">
            <a:extLst>
              <a:ext uri="{FF2B5EF4-FFF2-40B4-BE49-F238E27FC236}">
                <a16:creationId xmlns:a16="http://schemas.microsoft.com/office/drawing/2014/main" id="{F8ACA221-1BD8-8FBA-779A-038CB256BC5D}"/>
              </a:ext>
            </a:extLst>
          </p:cNvPr>
          <p:cNvSpPr txBox="1"/>
          <p:nvPr/>
        </p:nvSpPr>
        <p:spPr>
          <a:xfrm>
            <a:off x="15434414" y="3572586"/>
            <a:ext cx="1987895" cy="104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35"/>
              </a:lnSpc>
              <a:spcBef>
                <a:spcPct val="0"/>
              </a:spcBef>
            </a:pPr>
            <a:r>
              <a:rPr lang="en-US" sz="7200" dirty="0">
                <a:solidFill>
                  <a:srgbClr val="8D5D3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5</a:t>
            </a:r>
          </a:p>
        </p:txBody>
      </p:sp>
      <p:sp>
        <p:nvSpPr>
          <p:cNvPr id="54" name="Freeform 16">
            <a:extLst>
              <a:ext uri="{FF2B5EF4-FFF2-40B4-BE49-F238E27FC236}">
                <a16:creationId xmlns:a16="http://schemas.microsoft.com/office/drawing/2014/main" id="{634C3CB5-7ACA-8151-BCC9-2A0443DD2BCA}"/>
              </a:ext>
            </a:extLst>
          </p:cNvPr>
          <p:cNvSpPr/>
          <p:nvPr/>
        </p:nvSpPr>
        <p:spPr>
          <a:xfrm>
            <a:off x="11236873" y="4483396"/>
            <a:ext cx="3317327" cy="1248901"/>
          </a:xfrm>
          <a:custGeom>
            <a:avLst/>
            <a:gdLst/>
            <a:ahLst/>
            <a:cxnLst/>
            <a:rect l="l" t="t" r="r" b="b"/>
            <a:pathLst>
              <a:path w="1557768" h="479657">
                <a:moveTo>
                  <a:pt x="1557768" y="57289"/>
                </a:moveTo>
                <a:lnTo>
                  <a:pt x="1557768" y="422368"/>
                </a:lnTo>
                <a:cubicBezTo>
                  <a:pt x="1557768" y="437562"/>
                  <a:pt x="1551732" y="452133"/>
                  <a:pt x="1540988" y="462877"/>
                </a:cubicBezTo>
                <a:cubicBezTo>
                  <a:pt x="1530244" y="473621"/>
                  <a:pt x="1515673" y="479657"/>
                  <a:pt x="1500479" y="479657"/>
                </a:cubicBezTo>
                <a:lnTo>
                  <a:pt x="57289" y="479657"/>
                </a:lnTo>
                <a:cubicBezTo>
                  <a:pt x="42095" y="479657"/>
                  <a:pt x="27523" y="473621"/>
                  <a:pt x="16779" y="462877"/>
                </a:cubicBezTo>
                <a:cubicBezTo>
                  <a:pt x="6036" y="452133"/>
                  <a:pt x="0" y="437562"/>
                  <a:pt x="0" y="422368"/>
                </a:cubicBezTo>
                <a:lnTo>
                  <a:pt x="0" y="57289"/>
                </a:lnTo>
                <a:cubicBezTo>
                  <a:pt x="0" y="42095"/>
                  <a:pt x="6036" y="27523"/>
                  <a:pt x="16779" y="16779"/>
                </a:cubicBezTo>
                <a:cubicBezTo>
                  <a:pt x="27523" y="6036"/>
                  <a:pt x="42095" y="0"/>
                  <a:pt x="57289" y="0"/>
                </a:cubicBezTo>
                <a:lnTo>
                  <a:pt x="1500479" y="0"/>
                </a:lnTo>
                <a:cubicBezTo>
                  <a:pt x="1515673" y="0"/>
                  <a:pt x="1530244" y="6036"/>
                  <a:pt x="1540988" y="16779"/>
                </a:cubicBezTo>
                <a:cubicBezTo>
                  <a:pt x="1551732" y="27523"/>
                  <a:pt x="1557768" y="42095"/>
                  <a:pt x="1557768" y="57289"/>
                </a:cubicBezTo>
                <a:close/>
              </a:path>
            </a:pathLst>
          </a:custGeom>
          <a:solidFill>
            <a:srgbClr val="B4B4B8"/>
          </a:solidFill>
          <a:ln w="28575" cap="rnd">
            <a:solidFill>
              <a:srgbClr val="8D5D39"/>
            </a:solidFill>
            <a:prstDash val="solid"/>
            <a:round/>
          </a:ln>
        </p:spPr>
        <p:txBody>
          <a:bodyPr/>
          <a:lstStyle/>
          <a:p>
            <a:endParaRPr lang="ar-EG" dirty="0"/>
          </a:p>
        </p:txBody>
      </p:sp>
      <p:sp>
        <p:nvSpPr>
          <p:cNvPr id="55" name="TextBox 40">
            <a:extLst>
              <a:ext uri="{FF2B5EF4-FFF2-40B4-BE49-F238E27FC236}">
                <a16:creationId xmlns:a16="http://schemas.microsoft.com/office/drawing/2014/main" id="{45E96577-26AD-4160-6D34-7EFE23E07E5A}"/>
              </a:ext>
            </a:extLst>
          </p:cNvPr>
          <p:cNvSpPr txBox="1"/>
          <p:nvPr/>
        </p:nvSpPr>
        <p:spPr>
          <a:xfrm>
            <a:off x="4262810" y="4543470"/>
            <a:ext cx="2878105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500" dirty="0">
                <a:solidFill>
                  <a:srgbClr val="25282A"/>
                </a:solidFill>
                <a:latin typeface="Bebas Neue Cyrillic"/>
              </a:rPr>
              <a:t>Product Category Distribution</a:t>
            </a:r>
          </a:p>
        </p:txBody>
      </p:sp>
      <p:sp>
        <p:nvSpPr>
          <p:cNvPr id="56" name="TextBox 40">
            <a:extLst>
              <a:ext uri="{FF2B5EF4-FFF2-40B4-BE49-F238E27FC236}">
                <a16:creationId xmlns:a16="http://schemas.microsoft.com/office/drawing/2014/main" id="{EC942E72-055B-0E90-F254-81C127322E75}"/>
              </a:ext>
            </a:extLst>
          </p:cNvPr>
          <p:cNvSpPr txBox="1"/>
          <p:nvPr/>
        </p:nvSpPr>
        <p:spPr>
          <a:xfrm>
            <a:off x="7978728" y="4564805"/>
            <a:ext cx="2787547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500" dirty="0">
                <a:solidFill>
                  <a:srgbClr val="25282A"/>
                </a:solidFill>
                <a:latin typeface="Bebas Neue Cyrillic"/>
              </a:rPr>
              <a:t>Regional Revenue Comparison</a:t>
            </a:r>
          </a:p>
        </p:txBody>
      </p:sp>
      <p:sp>
        <p:nvSpPr>
          <p:cNvPr id="57" name="TextBox 40">
            <a:extLst>
              <a:ext uri="{FF2B5EF4-FFF2-40B4-BE49-F238E27FC236}">
                <a16:creationId xmlns:a16="http://schemas.microsoft.com/office/drawing/2014/main" id="{35C4647B-14D6-4B68-C264-85BB6FC1E0CE}"/>
              </a:ext>
            </a:extLst>
          </p:cNvPr>
          <p:cNvSpPr txBox="1"/>
          <p:nvPr/>
        </p:nvSpPr>
        <p:spPr>
          <a:xfrm>
            <a:off x="11466178" y="4619573"/>
            <a:ext cx="2976683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500" dirty="0">
                <a:solidFill>
                  <a:srgbClr val="25282A"/>
                </a:solidFill>
                <a:latin typeface="Bebas Neue Cyrillic"/>
              </a:rPr>
              <a:t>Customer Behavior Patterns</a:t>
            </a:r>
          </a:p>
        </p:txBody>
      </p:sp>
      <p:sp>
        <p:nvSpPr>
          <p:cNvPr id="58" name="TextBox 40">
            <a:extLst>
              <a:ext uri="{FF2B5EF4-FFF2-40B4-BE49-F238E27FC236}">
                <a16:creationId xmlns:a16="http://schemas.microsoft.com/office/drawing/2014/main" id="{7B450954-4393-5696-FDE3-C95B6E9C84EF}"/>
              </a:ext>
            </a:extLst>
          </p:cNvPr>
          <p:cNvSpPr txBox="1"/>
          <p:nvPr/>
        </p:nvSpPr>
        <p:spPr>
          <a:xfrm>
            <a:off x="15240000" y="4610100"/>
            <a:ext cx="2427383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500" dirty="0">
                <a:solidFill>
                  <a:srgbClr val="25282A"/>
                </a:solidFill>
                <a:latin typeface="Bebas Neue Cyrillic"/>
              </a:rPr>
              <a:t>Profitability Analysis</a:t>
            </a:r>
          </a:p>
        </p:txBody>
      </p:sp>
      <p:sp>
        <p:nvSpPr>
          <p:cNvPr id="59" name="TextBox 31">
            <a:extLst>
              <a:ext uri="{FF2B5EF4-FFF2-40B4-BE49-F238E27FC236}">
                <a16:creationId xmlns:a16="http://schemas.microsoft.com/office/drawing/2014/main" id="{EA980D88-3805-EB19-4957-B4AAD7288C4F}"/>
              </a:ext>
            </a:extLst>
          </p:cNvPr>
          <p:cNvSpPr txBox="1"/>
          <p:nvPr/>
        </p:nvSpPr>
        <p:spPr>
          <a:xfrm>
            <a:off x="4285570" y="6133153"/>
            <a:ext cx="2932642" cy="2584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Uneven distribution across categories;</a:t>
            </a:r>
          </a:p>
          <a:p>
            <a:pPr algn="ctr"/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top 3 categories account for 65% of total revenue.</a:t>
            </a:r>
          </a:p>
        </p:txBody>
      </p:sp>
      <p:sp>
        <p:nvSpPr>
          <p:cNvPr id="60" name="TextBox 31">
            <a:extLst>
              <a:ext uri="{FF2B5EF4-FFF2-40B4-BE49-F238E27FC236}">
                <a16:creationId xmlns:a16="http://schemas.microsoft.com/office/drawing/2014/main" id="{C7690E77-A50F-1433-8440-0A88B33F1E1C}"/>
              </a:ext>
            </a:extLst>
          </p:cNvPr>
          <p:cNvSpPr txBox="1"/>
          <p:nvPr/>
        </p:nvSpPr>
        <p:spPr>
          <a:xfrm>
            <a:off x="7713571" y="6021642"/>
            <a:ext cx="3280220" cy="3015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Significant regional variation with</a:t>
            </a:r>
          </a:p>
          <a:p>
            <a:pPr algn="ctr"/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top-performing region generating</a:t>
            </a:r>
          </a:p>
          <a:p>
            <a:pPr algn="ctr"/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3x revenue of lowest-performing region.</a:t>
            </a:r>
          </a:p>
        </p:txBody>
      </p:sp>
      <p:sp>
        <p:nvSpPr>
          <p:cNvPr id="61" name="TextBox 31">
            <a:extLst>
              <a:ext uri="{FF2B5EF4-FFF2-40B4-BE49-F238E27FC236}">
                <a16:creationId xmlns:a16="http://schemas.microsoft.com/office/drawing/2014/main" id="{95BAB90F-F92B-4D08-FDBF-C276E55D4169}"/>
              </a:ext>
            </a:extLst>
          </p:cNvPr>
          <p:cNvSpPr txBox="1"/>
          <p:nvPr/>
        </p:nvSpPr>
        <p:spPr>
          <a:xfrm>
            <a:off x="11353800" y="6217854"/>
            <a:ext cx="3188486" cy="2584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Average transaction value varies by region and category, informing pricing and inventory strategies.</a:t>
            </a:r>
          </a:p>
        </p:txBody>
      </p:sp>
      <p:sp>
        <p:nvSpPr>
          <p:cNvPr id="62" name="TextBox 31">
            <a:extLst>
              <a:ext uri="{FF2B5EF4-FFF2-40B4-BE49-F238E27FC236}">
                <a16:creationId xmlns:a16="http://schemas.microsoft.com/office/drawing/2014/main" id="{EF1C5D37-C039-D9D4-478F-5EBFBFC7ECA6}"/>
              </a:ext>
            </a:extLst>
          </p:cNvPr>
          <p:cNvSpPr txBox="1"/>
          <p:nvPr/>
        </p:nvSpPr>
        <p:spPr>
          <a:xfrm>
            <a:off x="14847799" y="6217854"/>
            <a:ext cx="3200400" cy="2584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799" dirty="0">
                <a:solidFill>
                  <a:srgbClr val="25282A"/>
                </a:solidFill>
                <a:latin typeface="Bricolage Grotesque 36 Light"/>
              </a:rPr>
              <a:t>Some high-volume categories have low margins, indicating need for cost optimization or pricing adjustments.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 2">
            <a:extLst>
              <a:ext uri="{FF2B5EF4-FFF2-40B4-BE49-F238E27FC236}">
                <a16:creationId xmlns:a16="http://schemas.microsoft.com/office/drawing/2014/main" id="{EC8A220E-2248-5774-6188-76562D6DBE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59560" y="-190500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2" r="-2112"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7" name="Shape 45">
            <a:extLst>
              <a:ext uri="{FF2B5EF4-FFF2-40B4-BE49-F238E27FC236}">
                <a16:creationId xmlns:a16="http://schemas.microsoft.com/office/drawing/2014/main" id="{D6AAC985-5B3F-4E78-1ECE-1C9BDD4B14AA}"/>
              </a:ext>
            </a:extLst>
          </p:cNvPr>
          <p:cNvSpPr/>
          <p:nvPr/>
        </p:nvSpPr>
        <p:spPr>
          <a:xfrm>
            <a:off x="304800" y="8648700"/>
            <a:ext cx="17483963" cy="1201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68" name="Shape 46">
            <a:extLst>
              <a:ext uri="{FF2B5EF4-FFF2-40B4-BE49-F238E27FC236}">
                <a16:creationId xmlns:a16="http://schemas.microsoft.com/office/drawing/2014/main" id="{86F457C5-3B92-312B-6BCE-1A9DB14754C7}"/>
              </a:ext>
            </a:extLst>
          </p:cNvPr>
          <p:cNvSpPr/>
          <p:nvPr/>
        </p:nvSpPr>
        <p:spPr>
          <a:xfrm>
            <a:off x="304799" y="8648700"/>
            <a:ext cx="133209" cy="1201049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58" name="Freeform 29">
            <a:extLst>
              <a:ext uri="{FF2B5EF4-FFF2-40B4-BE49-F238E27FC236}">
                <a16:creationId xmlns:a16="http://schemas.microsoft.com/office/drawing/2014/main" id="{5FA2FC7F-3846-DCA8-D448-8B4D58D91B48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>
            <a:off x="1752600" y="6057887"/>
            <a:ext cx="5167312" cy="1201049"/>
          </a:xfrm>
          <a:custGeom>
            <a:avLst/>
            <a:gdLst/>
            <a:ahLst/>
            <a:cxnLst/>
            <a:rect l="l" t="t" r="r" b="b"/>
            <a:pathLst>
              <a:path w="812800" h="188921">
                <a:moveTo>
                  <a:pt x="38954" y="0"/>
                </a:moveTo>
                <a:lnTo>
                  <a:pt x="773846" y="0"/>
                </a:lnTo>
                <a:cubicBezTo>
                  <a:pt x="795359" y="0"/>
                  <a:pt x="812800" y="17441"/>
                  <a:pt x="812800" y="38954"/>
                </a:cubicBezTo>
                <a:lnTo>
                  <a:pt x="812800" y="149966"/>
                </a:lnTo>
                <a:cubicBezTo>
                  <a:pt x="812800" y="160298"/>
                  <a:pt x="808696" y="170206"/>
                  <a:pt x="801391" y="177511"/>
                </a:cubicBezTo>
                <a:cubicBezTo>
                  <a:pt x="794085" y="184817"/>
                  <a:pt x="784177" y="188921"/>
                  <a:pt x="773846" y="188921"/>
                </a:cubicBezTo>
                <a:lnTo>
                  <a:pt x="38954" y="188921"/>
                </a:lnTo>
                <a:cubicBezTo>
                  <a:pt x="17441" y="188921"/>
                  <a:pt x="0" y="171480"/>
                  <a:pt x="0" y="149966"/>
                </a:cubicBezTo>
                <a:lnTo>
                  <a:pt x="0" y="38954"/>
                </a:lnTo>
                <a:cubicBezTo>
                  <a:pt x="0" y="17441"/>
                  <a:pt x="17441" y="0"/>
                  <a:pt x="38954" y="0"/>
                </a:cubicBezTo>
                <a:close/>
              </a:path>
            </a:pathLst>
          </a:custGeom>
          <a:solidFill>
            <a:srgbClr val="298C6D"/>
          </a:solid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2662975" y="5655277"/>
            <a:ext cx="5605215" cy="2536223"/>
          </a:xfrm>
          <a:custGeom>
            <a:avLst/>
            <a:gdLst/>
            <a:ahLst/>
            <a:cxnLst/>
            <a:rect l="l" t="t" r="r" b="b"/>
            <a:pathLst>
              <a:path w="1703131" h="609600">
                <a:moveTo>
                  <a:pt x="240400" y="0"/>
                </a:moveTo>
                <a:lnTo>
                  <a:pt x="1665930" y="0"/>
                </a:lnTo>
                <a:cubicBezTo>
                  <a:pt x="1677888" y="0"/>
                  <a:pt x="1689117" y="5748"/>
                  <a:pt x="1696108" y="15449"/>
                </a:cubicBezTo>
                <a:cubicBezTo>
                  <a:pt x="1703100" y="25149"/>
                  <a:pt x="1705003" y="37620"/>
                  <a:pt x="1701221" y="48964"/>
                </a:cubicBezTo>
                <a:lnTo>
                  <a:pt x="1530664" y="560636"/>
                </a:lnTo>
                <a:cubicBezTo>
                  <a:pt x="1520917" y="589877"/>
                  <a:pt x="1493553" y="609600"/>
                  <a:pt x="1462730" y="609600"/>
                </a:cubicBezTo>
                <a:lnTo>
                  <a:pt x="37200" y="609600"/>
                </a:lnTo>
                <a:cubicBezTo>
                  <a:pt x="25242" y="609600"/>
                  <a:pt x="14014" y="603852"/>
                  <a:pt x="7022" y="594151"/>
                </a:cubicBezTo>
                <a:cubicBezTo>
                  <a:pt x="30" y="584451"/>
                  <a:pt x="-1872" y="571980"/>
                  <a:pt x="1909" y="560636"/>
                </a:cubicBezTo>
                <a:lnTo>
                  <a:pt x="172467" y="48964"/>
                </a:lnTo>
                <a:cubicBezTo>
                  <a:pt x="182214" y="19723"/>
                  <a:pt x="209578" y="0"/>
                  <a:pt x="240400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Box 8"/>
          <p:cNvSpPr txBox="1"/>
          <p:nvPr/>
        </p:nvSpPr>
        <p:spPr>
          <a:xfrm>
            <a:off x="1861619" y="6291526"/>
            <a:ext cx="952500" cy="636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3949" b="1" spc="165" dirty="0">
                <a:solidFill>
                  <a:srgbClr val="FFFFFF"/>
                </a:solidFill>
                <a:latin typeface="Bebas Neue Cyrillic" panose="020B0604020202020204" charset="0"/>
                <a:sym typeface="Montserrat Ultra-Bold"/>
              </a:rPr>
              <a:t>2</a:t>
            </a:r>
          </a:p>
        </p:txBody>
      </p:sp>
      <p:sp>
        <p:nvSpPr>
          <p:cNvPr id="10" name="Freeform 10"/>
          <p:cNvSpPr/>
          <p:nvPr/>
        </p:nvSpPr>
        <p:spPr>
          <a:xfrm>
            <a:off x="9690746" y="3591845"/>
            <a:ext cx="5167312" cy="1201049"/>
          </a:xfrm>
          <a:custGeom>
            <a:avLst/>
            <a:gdLst/>
            <a:ahLst/>
            <a:cxnLst/>
            <a:rect l="l" t="t" r="r" b="b"/>
            <a:pathLst>
              <a:path w="812800" h="188921">
                <a:moveTo>
                  <a:pt x="38954" y="0"/>
                </a:moveTo>
                <a:lnTo>
                  <a:pt x="773846" y="0"/>
                </a:lnTo>
                <a:cubicBezTo>
                  <a:pt x="795359" y="0"/>
                  <a:pt x="812800" y="17441"/>
                  <a:pt x="812800" y="38954"/>
                </a:cubicBezTo>
                <a:lnTo>
                  <a:pt x="812800" y="149966"/>
                </a:lnTo>
                <a:cubicBezTo>
                  <a:pt x="812800" y="160298"/>
                  <a:pt x="808696" y="170206"/>
                  <a:pt x="801391" y="177511"/>
                </a:cubicBezTo>
                <a:cubicBezTo>
                  <a:pt x="794085" y="184817"/>
                  <a:pt x="784177" y="188921"/>
                  <a:pt x="773846" y="188921"/>
                </a:cubicBezTo>
                <a:lnTo>
                  <a:pt x="38954" y="188921"/>
                </a:lnTo>
                <a:cubicBezTo>
                  <a:pt x="17441" y="188921"/>
                  <a:pt x="0" y="171480"/>
                  <a:pt x="0" y="149966"/>
                </a:cubicBezTo>
                <a:lnTo>
                  <a:pt x="0" y="38954"/>
                </a:lnTo>
                <a:cubicBezTo>
                  <a:pt x="0" y="17441"/>
                  <a:pt x="17441" y="0"/>
                  <a:pt x="3895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/>
          <a:lstStyle/>
          <a:p>
            <a:endParaRPr lang="ar-EG"/>
          </a:p>
        </p:txBody>
      </p:sp>
      <p:sp>
        <p:nvSpPr>
          <p:cNvPr id="13" name="Freeform 13"/>
          <p:cNvSpPr/>
          <p:nvPr/>
        </p:nvSpPr>
        <p:spPr>
          <a:xfrm>
            <a:off x="10521507" y="3189235"/>
            <a:ext cx="5605215" cy="2006269"/>
          </a:xfrm>
          <a:custGeom>
            <a:avLst/>
            <a:gdLst/>
            <a:ahLst/>
            <a:cxnLst/>
            <a:rect l="l" t="t" r="r" b="b"/>
            <a:pathLst>
              <a:path w="1703131" h="609600">
                <a:moveTo>
                  <a:pt x="240400" y="0"/>
                </a:moveTo>
                <a:lnTo>
                  <a:pt x="1665930" y="0"/>
                </a:lnTo>
                <a:cubicBezTo>
                  <a:pt x="1677888" y="0"/>
                  <a:pt x="1689117" y="5748"/>
                  <a:pt x="1696108" y="15449"/>
                </a:cubicBezTo>
                <a:cubicBezTo>
                  <a:pt x="1703100" y="25149"/>
                  <a:pt x="1705003" y="37620"/>
                  <a:pt x="1701221" y="48964"/>
                </a:cubicBezTo>
                <a:lnTo>
                  <a:pt x="1530664" y="560636"/>
                </a:lnTo>
                <a:cubicBezTo>
                  <a:pt x="1520917" y="589877"/>
                  <a:pt x="1493553" y="609600"/>
                  <a:pt x="1462730" y="609600"/>
                </a:cubicBezTo>
                <a:lnTo>
                  <a:pt x="37200" y="609600"/>
                </a:lnTo>
                <a:cubicBezTo>
                  <a:pt x="25242" y="609600"/>
                  <a:pt x="14014" y="603852"/>
                  <a:pt x="7022" y="594151"/>
                </a:cubicBezTo>
                <a:cubicBezTo>
                  <a:pt x="30" y="584451"/>
                  <a:pt x="-1872" y="571980"/>
                  <a:pt x="1909" y="560636"/>
                </a:cubicBezTo>
                <a:lnTo>
                  <a:pt x="172467" y="48964"/>
                </a:lnTo>
                <a:cubicBezTo>
                  <a:pt x="182214" y="19723"/>
                  <a:pt x="209578" y="0"/>
                  <a:pt x="240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Box 15"/>
          <p:cNvSpPr txBox="1"/>
          <p:nvPr/>
        </p:nvSpPr>
        <p:spPr>
          <a:xfrm>
            <a:off x="9812943" y="3825484"/>
            <a:ext cx="952500" cy="636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3949" b="1" spc="165" dirty="0">
                <a:solidFill>
                  <a:srgbClr val="FFFFFF"/>
                </a:solidFill>
                <a:latin typeface="Bebas Neue Cyrillic" panose="020B0604020202020204" charset="0"/>
                <a:sym typeface="Montserrat Ultra-Bold"/>
              </a:rPr>
              <a:t>3</a:t>
            </a:r>
          </a:p>
        </p:txBody>
      </p:sp>
      <p:sp>
        <p:nvSpPr>
          <p:cNvPr id="24" name="Freeform 24"/>
          <p:cNvSpPr/>
          <p:nvPr/>
        </p:nvSpPr>
        <p:spPr>
          <a:xfrm>
            <a:off x="9607171" y="5998552"/>
            <a:ext cx="5167312" cy="1201049"/>
          </a:xfrm>
          <a:custGeom>
            <a:avLst/>
            <a:gdLst/>
            <a:ahLst/>
            <a:cxnLst/>
            <a:rect l="l" t="t" r="r" b="b"/>
            <a:pathLst>
              <a:path w="812800" h="188921">
                <a:moveTo>
                  <a:pt x="38954" y="0"/>
                </a:moveTo>
                <a:lnTo>
                  <a:pt x="773846" y="0"/>
                </a:lnTo>
                <a:cubicBezTo>
                  <a:pt x="795359" y="0"/>
                  <a:pt x="812800" y="17441"/>
                  <a:pt x="812800" y="38954"/>
                </a:cubicBezTo>
                <a:lnTo>
                  <a:pt x="812800" y="149966"/>
                </a:lnTo>
                <a:cubicBezTo>
                  <a:pt x="812800" y="160298"/>
                  <a:pt x="808696" y="170206"/>
                  <a:pt x="801391" y="177511"/>
                </a:cubicBezTo>
                <a:cubicBezTo>
                  <a:pt x="794085" y="184817"/>
                  <a:pt x="784177" y="188921"/>
                  <a:pt x="773846" y="188921"/>
                </a:cubicBezTo>
                <a:lnTo>
                  <a:pt x="38954" y="188921"/>
                </a:lnTo>
                <a:cubicBezTo>
                  <a:pt x="17441" y="188921"/>
                  <a:pt x="0" y="171480"/>
                  <a:pt x="0" y="149966"/>
                </a:cubicBezTo>
                <a:lnTo>
                  <a:pt x="0" y="38954"/>
                </a:lnTo>
                <a:cubicBezTo>
                  <a:pt x="0" y="17441"/>
                  <a:pt x="17441" y="0"/>
                  <a:pt x="38954" y="0"/>
                </a:cubicBezTo>
                <a:close/>
              </a:path>
            </a:pathLst>
          </a:custGeom>
          <a:solidFill>
            <a:srgbClr val="E6BF1A"/>
          </a:solidFill>
        </p:spPr>
        <p:txBody>
          <a:bodyPr/>
          <a:lstStyle/>
          <a:p>
            <a:endParaRPr lang="ar-EG"/>
          </a:p>
        </p:txBody>
      </p:sp>
      <p:sp>
        <p:nvSpPr>
          <p:cNvPr id="27" name="Freeform 27"/>
          <p:cNvSpPr/>
          <p:nvPr/>
        </p:nvSpPr>
        <p:spPr>
          <a:xfrm>
            <a:off x="10597160" y="5595942"/>
            <a:ext cx="6138615" cy="2006269"/>
          </a:xfrm>
          <a:custGeom>
            <a:avLst/>
            <a:gdLst/>
            <a:ahLst/>
            <a:cxnLst/>
            <a:rect l="l" t="t" r="r" b="b"/>
            <a:pathLst>
              <a:path w="1703131" h="609600">
                <a:moveTo>
                  <a:pt x="240400" y="0"/>
                </a:moveTo>
                <a:lnTo>
                  <a:pt x="1665930" y="0"/>
                </a:lnTo>
                <a:cubicBezTo>
                  <a:pt x="1677888" y="0"/>
                  <a:pt x="1689117" y="5748"/>
                  <a:pt x="1696108" y="15449"/>
                </a:cubicBezTo>
                <a:cubicBezTo>
                  <a:pt x="1703100" y="25149"/>
                  <a:pt x="1705003" y="37620"/>
                  <a:pt x="1701221" y="48964"/>
                </a:cubicBezTo>
                <a:lnTo>
                  <a:pt x="1530664" y="560636"/>
                </a:lnTo>
                <a:cubicBezTo>
                  <a:pt x="1520917" y="589877"/>
                  <a:pt x="1493553" y="609600"/>
                  <a:pt x="1462730" y="609600"/>
                </a:cubicBezTo>
                <a:lnTo>
                  <a:pt x="37200" y="609600"/>
                </a:lnTo>
                <a:cubicBezTo>
                  <a:pt x="25242" y="609600"/>
                  <a:pt x="14014" y="603852"/>
                  <a:pt x="7022" y="594151"/>
                </a:cubicBezTo>
                <a:cubicBezTo>
                  <a:pt x="30" y="584451"/>
                  <a:pt x="-1872" y="571980"/>
                  <a:pt x="1909" y="560636"/>
                </a:cubicBezTo>
                <a:lnTo>
                  <a:pt x="172467" y="48964"/>
                </a:lnTo>
                <a:cubicBezTo>
                  <a:pt x="182214" y="19723"/>
                  <a:pt x="209578" y="0"/>
                  <a:pt x="240400" y="0"/>
                </a:cubicBezTo>
                <a:close/>
              </a:path>
            </a:pathLst>
          </a:custGeom>
          <a:solidFill>
            <a:srgbClr val="FFFF99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29" name="TextBox 29"/>
          <p:cNvSpPr txBox="1"/>
          <p:nvPr/>
        </p:nvSpPr>
        <p:spPr>
          <a:xfrm>
            <a:off x="9716190" y="6232192"/>
            <a:ext cx="952500" cy="636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3949" b="1" spc="165" dirty="0">
                <a:solidFill>
                  <a:srgbClr val="FFFFFF"/>
                </a:solidFill>
                <a:latin typeface="Bebas Neue Cyrillic" panose="020B0604020202020204" charset="0"/>
                <a:sym typeface="Montserrat Ultra-Bold"/>
              </a:rPr>
              <a:t>4</a:t>
            </a:r>
          </a:p>
        </p:txBody>
      </p:sp>
      <p:sp>
        <p:nvSpPr>
          <p:cNvPr id="38" name="Freeform 38"/>
          <p:cNvSpPr/>
          <p:nvPr/>
        </p:nvSpPr>
        <p:spPr>
          <a:xfrm>
            <a:off x="1752600" y="3603943"/>
            <a:ext cx="5167312" cy="1201049"/>
          </a:xfrm>
          <a:custGeom>
            <a:avLst/>
            <a:gdLst/>
            <a:ahLst/>
            <a:cxnLst/>
            <a:rect l="l" t="t" r="r" b="b"/>
            <a:pathLst>
              <a:path w="812800" h="188921">
                <a:moveTo>
                  <a:pt x="38954" y="0"/>
                </a:moveTo>
                <a:lnTo>
                  <a:pt x="773846" y="0"/>
                </a:lnTo>
                <a:cubicBezTo>
                  <a:pt x="795359" y="0"/>
                  <a:pt x="812800" y="17441"/>
                  <a:pt x="812800" y="38954"/>
                </a:cubicBezTo>
                <a:lnTo>
                  <a:pt x="812800" y="149966"/>
                </a:lnTo>
                <a:cubicBezTo>
                  <a:pt x="812800" y="160298"/>
                  <a:pt x="808696" y="170206"/>
                  <a:pt x="801391" y="177511"/>
                </a:cubicBezTo>
                <a:cubicBezTo>
                  <a:pt x="794085" y="184817"/>
                  <a:pt x="784177" y="188921"/>
                  <a:pt x="773846" y="188921"/>
                </a:cubicBezTo>
                <a:lnTo>
                  <a:pt x="38954" y="188921"/>
                </a:lnTo>
                <a:cubicBezTo>
                  <a:pt x="17441" y="188921"/>
                  <a:pt x="0" y="171480"/>
                  <a:pt x="0" y="149966"/>
                </a:cubicBezTo>
                <a:lnTo>
                  <a:pt x="0" y="38954"/>
                </a:lnTo>
                <a:cubicBezTo>
                  <a:pt x="0" y="17441"/>
                  <a:pt x="17441" y="0"/>
                  <a:pt x="38954" y="0"/>
                </a:cubicBezTo>
                <a:close/>
              </a:path>
            </a:pathLst>
          </a:custGeom>
          <a:solidFill>
            <a:srgbClr val="336FA8"/>
          </a:solidFill>
        </p:spPr>
        <p:txBody>
          <a:bodyPr/>
          <a:lstStyle/>
          <a:p>
            <a:endParaRPr lang="ar-EG"/>
          </a:p>
        </p:txBody>
      </p:sp>
      <p:sp>
        <p:nvSpPr>
          <p:cNvPr id="41" name="Freeform 41"/>
          <p:cNvSpPr/>
          <p:nvPr/>
        </p:nvSpPr>
        <p:spPr>
          <a:xfrm>
            <a:off x="2583361" y="3201333"/>
            <a:ext cx="5605215" cy="2246260"/>
          </a:xfrm>
          <a:custGeom>
            <a:avLst/>
            <a:gdLst/>
            <a:ahLst/>
            <a:cxnLst/>
            <a:rect l="l" t="t" r="r" b="b"/>
            <a:pathLst>
              <a:path w="1703131" h="609600">
                <a:moveTo>
                  <a:pt x="240400" y="0"/>
                </a:moveTo>
                <a:lnTo>
                  <a:pt x="1665930" y="0"/>
                </a:lnTo>
                <a:cubicBezTo>
                  <a:pt x="1677888" y="0"/>
                  <a:pt x="1689117" y="5748"/>
                  <a:pt x="1696108" y="15449"/>
                </a:cubicBezTo>
                <a:cubicBezTo>
                  <a:pt x="1703100" y="25149"/>
                  <a:pt x="1705003" y="37620"/>
                  <a:pt x="1701221" y="48964"/>
                </a:cubicBezTo>
                <a:lnTo>
                  <a:pt x="1530664" y="560636"/>
                </a:lnTo>
                <a:cubicBezTo>
                  <a:pt x="1520917" y="589877"/>
                  <a:pt x="1493553" y="609600"/>
                  <a:pt x="1462730" y="609600"/>
                </a:cubicBezTo>
                <a:lnTo>
                  <a:pt x="37200" y="609600"/>
                </a:lnTo>
                <a:cubicBezTo>
                  <a:pt x="25242" y="609600"/>
                  <a:pt x="14014" y="603852"/>
                  <a:pt x="7022" y="594151"/>
                </a:cubicBezTo>
                <a:cubicBezTo>
                  <a:pt x="30" y="584451"/>
                  <a:pt x="-1872" y="571980"/>
                  <a:pt x="1909" y="560636"/>
                </a:cubicBezTo>
                <a:lnTo>
                  <a:pt x="172467" y="48964"/>
                </a:lnTo>
                <a:cubicBezTo>
                  <a:pt x="182214" y="19723"/>
                  <a:pt x="209578" y="0"/>
                  <a:pt x="240400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43" name="TextBox 43"/>
          <p:cNvSpPr txBox="1"/>
          <p:nvPr/>
        </p:nvSpPr>
        <p:spPr>
          <a:xfrm>
            <a:off x="1861619" y="3837582"/>
            <a:ext cx="952500" cy="636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3949" b="1" u="none" strike="noStrike" spc="165" dirty="0">
                <a:solidFill>
                  <a:srgbClr val="FFFFFF"/>
                </a:solidFill>
                <a:latin typeface="Bebas Neue Cyrillic" panose="020B0604020202020204" charset="0"/>
                <a:ea typeface="Montserrat Ultra-Bold"/>
                <a:cs typeface="Montserrat Ultra-Bold"/>
                <a:sym typeface="Montserrat Ultra-Bold"/>
              </a:rPr>
              <a:t>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195998" y="3743202"/>
            <a:ext cx="4539163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Category Analysis</a:t>
            </a:r>
            <a:endParaRPr lang="ar-EG" sz="2500" dirty="0">
              <a:solidFill>
                <a:srgbClr val="25282A"/>
              </a:solidFill>
              <a:latin typeface="Bricolage Grotesque 36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Customer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Regional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Executive Summary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316247" y="3374321"/>
            <a:ext cx="5583643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48"/>
              </a:lnSpc>
            </a:pPr>
            <a:r>
              <a:rPr lang="fr-FR" sz="2799" i="1" dirty="0">
                <a:solidFill>
                  <a:srgbClr val="336FA8"/>
                </a:solidFill>
                <a:latin typeface="Bricolage Grotesque 36 Light"/>
                <a:sym typeface="Montserrat Ultra-Bold"/>
              </a:rPr>
              <a:t>Comprehensive Analysis</a:t>
            </a:r>
            <a:endParaRPr lang="en-US" sz="2799" i="1" dirty="0">
              <a:solidFill>
                <a:srgbClr val="336FA8"/>
              </a:solidFill>
              <a:latin typeface="Bricolage Grotesque 36 Light"/>
              <a:sym typeface="Montserrat Ultra-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3412682" y="5873332"/>
            <a:ext cx="4105793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48"/>
              </a:lnSpc>
            </a:pPr>
            <a:r>
              <a:rPr lang="en-US" sz="2799" i="1" dirty="0">
                <a:solidFill>
                  <a:srgbClr val="298C6D"/>
                </a:solidFill>
                <a:latin typeface="Bricolage Grotesque 36 Light"/>
                <a:sym typeface="Montserrat Ultra-Bold"/>
              </a:rPr>
              <a:t>Primary KPIs Displayed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339098" y="3364641"/>
            <a:ext cx="3598136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48"/>
              </a:lnSpc>
            </a:pPr>
            <a:r>
              <a:rPr lang="en-US" sz="2799" i="1" dirty="0">
                <a:solidFill>
                  <a:srgbClr val="7F7F7F"/>
                </a:solidFill>
                <a:latin typeface="Bricolage Grotesque 36 Light"/>
                <a:sym typeface="Montserrat Ultra-Bold"/>
              </a:rPr>
              <a:t>Interactive Elements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245928" y="6153494"/>
            <a:ext cx="4787624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Total Market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Seasonality and Cyclicality</a:t>
            </a:r>
            <a:endParaRPr lang="ar-EG" sz="2500" dirty="0">
              <a:solidFill>
                <a:srgbClr val="25282A"/>
              </a:solidFill>
              <a:latin typeface="Bricolage Grotesque 36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Historical Growth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69563" y="5789306"/>
            <a:ext cx="5715999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48"/>
              </a:lnSpc>
            </a:pPr>
            <a:r>
              <a:rPr lang="en-US" sz="2799" i="1" dirty="0">
                <a:solidFill>
                  <a:srgbClr val="E6BF1A"/>
                </a:solidFill>
                <a:latin typeface="Bricolage Grotesque 36 Light"/>
                <a:sym typeface="Montserrat Ultra-Bold"/>
              </a:rPr>
              <a:t>Market</a:t>
            </a:r>
            <a:r>
              <a:rPr lang="en-US" sz="2799" b="1" dirty="0">
                <a:solidFill>
                  <a:srgbClr val="E6BF1A"/>
                </a:solidFill>
                <a:latin typeface="Bricolage Grotesque 36 Light"/>
                <a:sym typeface="Montserrat Ultra-Bold"/>
              </a:rPr>
              <a:t> </a:t>
            </a:r>
            <a:r>
              <a:rPr lang="en-US" sz="2799" i="1" dirty="0">
                <a:solidFill>
                  <a:srgbClr val="E6BF1A"/>
                </a:solidFill>
                <a:latin typeface="Bricolage Grotesque 36 Light"/>
                <a:sym typeface="Montserrat Ultra-Bold"/>
              </a:rPr>
              <a:t>Analysis &amp; Growth Trends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646205" y="1071638"/>
            <a:ext cx="7046045" cy="78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  <a:sym typeface="Montserrat Ultra-Bold"/>
              </a:rPr>
              <a:t>Dashboard overview</a:t>
            </a:r>
            <a:endParaRPr lang="en-US" sz="5499" b="1" dirty="0">
              <a:solidFill>
                <a:srgbClr val="1C1C1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59" name="Text 2">
            <a:extLst>
              <a:ext uri="{FF2B5EF4-FFF2-40B4-BE49-F238E27FC236}">
                <a16:creationId xmlns:a16="http://schemas.microsoft.com/office/drawing/2014/main" id="{1D81A421-40E0-8EE8-5828-6E30BC26E5F6}"/>
              </a:ext>
            </a:extLst>
          </p:cNvPr>
          <p:cNvSpPr/>
          <p:nvPr/>
        </p:nvSpPr>
        <p:spPr>
          <a:xfrm>
            <a:off x="7620000" y="1790700"/>
            <a:ext cx="2957541" cy="495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3200" dirty="0">
                <a:solidFill>
                  <a:srgbClr val="336FA8"/>
                </a:solidFill>
                <a:latin typeface="Bricolage Grotesque 36"/>
              </a:rPr>
              <a:t>Structure &amp; KPIs</a:t>
            </a:r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8C99678D-B244-C085-18FB-F4DEDDDE8DFE}"/>
              </a:ext>
            </a:extLst>
          </p:cNvPr>
          <p:cNvSpPr/>
          <p:nvPr/>
        </p:nvSpPr>
        <p:spPr>
          <a:xfrm>
            <a:off x="423037" y="1861164"/>
            <a:ext cx="17483963" cy="774186"/>
          </a:xfrm>
          <a:prstGeom prst="rect">
            <a:avLst/>
          </a:prstGeom>
          <a:noFill/>
          <a:ln/>
        </p:spPr>
        <p:txBody>
          <a:bodyPr wrap="square" lIns="0" tIns="340106" rIns="0" bIns="0" rtlCol="0" anchor="t">
            <a:spAutoFit/>
          </a:bodyPr>
          <a:lstStyle/>
          <a:p>
            <a:r>
              <a:rPr lang="en-US" sz="2799" b="1" i="1" dirty="0">
                <a:solidFill>
                  <a:srgbClr val="25282A"/>
                </a:solidFill>
                <a:latin typeface="Bricolage Grotesque 36 Light"/>
              </a:rPr>
              <a:t>Designed for Decision-Makers: </a:t>
            </a:r>
            <a:r>
              <a:rPr lang="en-US" sz="2799" i="1" dirty="0">
                <a:solidFill>
                  <a:srgbClr val="25282A"/>
                </a:solidFill>
                <a:latin typeface="Bricolage Grotesque 36 Light"/>
              </a:rPr>
              <a:t>Real-time monitoring of sales performance with actionable insights at every level</a:t>
            </a:r>
          </a:p>
        </p:txBody>
      </p:sp>
      <p:sp>
        <p:nvSpPr>
          <p:cNvPr id="63" name="TextBox 44">
            <a:extLst>
              <a:ext uri="{FF2B5EF4-FFF2-40B4-BE49-F238E27FC236}">
                <a16:creationId xmlns:a16="http://schemas.microsoft.com/office/drawing/2014/main" id="{E1BF380A-BE56-FB68-4A3C-8605CCBAF6B6}"/>
              </a:ext>
            </a:extLst>
          </p:cNvPr>
          <p:cNvSpPr txBox="1"/>
          <p:nvPr/>
        </p:nvSpPr>
        <p:spPr>
          <a:xfrm>
            <a:off x="3316247" y="6218631"/>
            <a:ext cx="4539163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Total Sales Revenue</a:t>
            </a:r>
            <a:endParaRPr lang="ar-EG" sz="2500" dirty="0">
              <a:solidFill>
                <a:srgbClr val="25282A"/>
              </a:solidFill>
              <a:latin typeface="Bricolage Grotesque 36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Total Profit</a:t>
            </a:r>
            <a:endParaRPr lang="ar-EG" sz="2500" dirty="0">
              <a:solidFill>
                <a:srgbClr val="25282A"/>
              </a:solidFill>
              <a:latin typeface="Bricolage Grotesque 36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Gross Profit Margin (%)</a:t>
            </a:r>
            <a:endParaRPr lang="ar-EG" sz="2500" dirty="0">
              <a:solidFill>
                <a:srgbClr val="25282A"/>
              </a:solidFill>
              <a:latin typeface="Bricolage Grotesque 36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Sales by Region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Sales by Category</a:t>
            </a:r>
            <a:endParaRPr lang="ar-EG" sz="2500" dirty="0">
              <a:solidFill>
                <a:srgbClr val="25282A"/>
              </a:solidFill>
              <a:latin typeface="Bricolage Grotesque 36 Light"/>
            </a:endParaRPr>
          </a:p>
        </p:txBody>
      </p:sp>
      <p:sp>
        <p:nvSpPr>
          <p:cNvPr id="64" name="TextBox 44">
            <a:extLst>
              <a:ext uri="{FF2B5EF4-FFF2-40B4-BE49-F238E27FC236}">
                <a16:creationId xmlns:a16="http://schemas.microsoft.com/office/drawing/2014/main" id="{D9715E02-0043-28EB-A446-79232769271C}"/>
              </a:ext>
            </a:extLst>
          </p:cNvPr>
          <p:cNvSpPr txBox="1"/>
          <p:nvPr/>
        </p:nvSpPr>
        <p:spPr>
          <a:xfrm>
            <a:off x="11173175" y="3646435"/>
            <a:ext cx="5908777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Dynamic date range filters</a:t>
            </a:r>
            <a:endParaRPr lang="ar-EG" sz="2500" dirty="0">
              <a:solidFill>
                <a:srgbClr val="25282A"/>
              </a:solidFill>
              <a:latin typeface="Bricolage Grotesque 36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Region and category slicers</a:t>
            </a:r>
            <a:endParaRPr lang="ar-EG" sz="2500" dirty="0">
              <a:solidFill>
                <a:srgbClr val="25282A"/>
              </a:solidFill>
              <a:latin typeface="Bricolage Grotesque 36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Drill-through capabilities</a:t>
            </a:r>
            <a:endParaRPr lang="ar-EG" sz="2500" dirty="0">
              <a:solidFill>
                <a:srgbClr val="25282A"/>
              </a:solidFill>
              <a:latin typeface="Bricolage Grotesque 36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Comparative analysis tools</a:t>
            </a:r>
            <a:endParaRPr lang="ar-EG" sz="2500" dirty="0">
              <a:solidFill>
                <a:srgbClr val="25282A"/>
              </a:solidFill>
              <a:latin typeface="Bricolage Grotesque 36 Light"/>
            </a:endParaRPr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025884A5-34D2-8EF9-02CC-3861C7D55DD2}"/>
              </a:ext>
            </a:extLst>
          </p:cNvPr>
          <p:cNvSpPr/>
          <p:nvPr/>
        </p:nvSpPr>
        <p:spPr>
          <a:xfrm>
            <a:off x="685800" y="8877300"/>
            <a:ext cx="2340384" cy="1834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799" i="1" dirty="0">
                <a:solidFill>
                  <a:srgbClr val="336FA8"/>
                </a:solidFill>
                <a:latin typeface="Bricolage Grotesque 36 Light"/>
              </a:rPr>
              <a:t>Strategic Value</a:t>
            </a: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EAF431C0-4253-644A-FB14-4D6803BAF48B}"/>
              </a:ext>
            </a:extLst>
          </p:cNvPr>
          <p:cNvSpPr/>
          <p:nvPr/>
        </p:nvSpPr>
        <p:spPr>
          <a:xfrm>
            <a:off x="708368" y="9039212"/>
            <a:ext cx="17483963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00" dirty="0">
                <a:solidFill>
                  <a:srgbClr val="25282A"/>
                </a:solidFill>
                <a:latin typeface="Bricolage Grotesque 36 Light"/>
              </a:rPr>
              <a:t>Understanding these dimensions enables decision-makers to assess current market position and forecast future trends for improved planning and resource allocation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51DB47-5904-1F3B-3AF6-1CF686AE76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59560" y="-214333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2" r="-2112"/>
            </a:stretch>
          </a:blipFill>
        </p:spPr>
        <p:txBody>
          <a:bodyPr/>
          <a:lstStyle/>
          <a:p>
            <a:endParaRPr lang="ar-EG" sz="2400"/>
          </a:p>
        </p:txBody>
      </p:sp>
      <p:sp>
        <p:nvSpPr>
          <p:cNvPr id="3" name="Freeform 29">
            <a:extLst>
              <a:ext uri="{FF2B5EF4-FFF2-40B4-BE49-F238E27FC236}">
                <a16:creationId xmlns:a16="http://schemas.microsoft.com/office/drawing/2014/main" id="{2CFACC7D-DEB5-7614-6ACE-4FAB85CE4807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TextBox 56">
            <a:extLst>
              <a:ext uri="{FF2B5EF4-FFF2-40B4-BE49-F238E27FC236}">
                <a16:creationId xmlns:a16="http://schemas.microsoft.com/office/drawing/2014/main" id="{62088B71-D865-7E0D-1262-00A60DE1F303}"/>
              </a:ext>
            </a:extLst>
          </p:cNvPr>
          <p:cNvSpPr txBox="1"/>
          <p:nvPr/>
        </p:nvSpPr>
        <p:spPr>
          <a:xfrm>
            <a:off x="5646205" y="1071638"/>
            <a:ext cx="7046045" cy="78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  <a:sym typeface="Montserrat Ultra-Bold"/>
              </a:rPr>
              <a:t>Dashboard overview</a:t>
            </a:r>
            <a:endParaRPr lang="en-US" sz="5499" b="1" dirty="0">
              <a:solidFill>
                <a:srgbClr val="1C1C1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DCF0C5B-80AE-F628-72CB-6180FBA27705}"/>
              </a:ext>
            </a:extLst>
          </p:cNvPr>
          <p:cNvSpPr/>
          <p:nvPr/>
        </p:nvSpPr>
        <p:spPr>
          <a:xfrm>
            <a:off x="7239000" y="1790700"/>
            <a:ext cx="3978653" cy="495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3200" dirty="0">
                <a:solidFill>
                  <a:srgbClr val="336FA8"/>
                </a:solidFill>
                <a:latin typeface="Bricolage Grotesque 36"/>
              </a:rPr>
              <a:t>Key Metrics Displayed</a:t>
            </a:r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CEC352B6-82C1-2F0A-8E83-0A9D411E9931}"/>
              </a:ext>
            </a:extLst>
          </p:cNvPr>
          <p:cNvSpPr/>
          <p:nvPr/>
        </p:nvSpPr>
        <p:spPr>
          <a:xfrm>
            <a:off x="837474" y="2786174"/>
            <a:ext cx="3403565" cy="1713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4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424DEEA9-506E-28B5-EDEF-73241776BE00}"/>
              </a:ext>
            </a:extLst>
          </p:cNvPr>
          <p:cNvSpPr/>
          <p:nvPr/>
        </p:nvSpPr>
        <p:spPr>
          <a:xfrm>
            <a:off x="1260717" y="3338595"/>
            <a:ext cx="3649709" cy="18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dirty="0">
                <a:solidFill>
                  <a:srgbClr val="336FA8"/>
                </a:solidFill>
                <a:latin typeface="Bricolage Grotesque 36"/>
              </a:rPr>
              <a:t>Total Revenue</a:t>
            </a: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19906891-D9DF-4788-89E5-6C0F3AC2AE6B}"/>
              </a:ext>
            </a:extLst>
          </p:cNvPr>
          <p:cNvSpPr/>
          <p:nvPr/>
        </p:nvSpPr>
        <p:spPr>
          <a:xfrm>
            <a:off x="1240664" y="3974512"/>
            <a:ext cx="254317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FAF7F"/>
                </a:solidFill>
                <a:latin typeface="Bricolage Grotesque 36"/>
              </a:rPr>
              <a:t>251.6M</a:t>
            </a:r>
          </a:p>
        </p:txBody>
      </p:sp>
      <p:sp>
        <p:nvSpPr>
          <p:cNvPr id="42" name="Shape 46">
            <a:extLst>
              <a:ext uri="{FF2B5EF4-FFF2-40B4-BE49-F238E27FC236}">
                <a16:creationId xmlns:a16="http://schemas.microsoft.com/office/drawing/2014/main" id="{5C337D1C-ECB9-CA40-F0B8-3D6DBC195C2F}"/>
              </a:ext>
            </a:extLst>
          </p:cNvPr>
          <p:cNvSpPr/>
          <p:nvPr/>
        </p:nvSpPr>
        <p:spPr>
          <a:xfrm rot="5400000">
            <a:off x="2516394" y="1061531"/>
            <a:ext cx="45719" cy="340356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8773F191-C0D5-AB14-09D6-4FD3387F3FBE}"/>
              </a:ext>
            </a:extLst>
          </p:cNvPr>
          <p:cNvSpPr/>
          <p:nvPr/>
        </p:nvSpPr>
        <p:spPr>
          <a:xfrm>
            <a:off x="837474" y="4802084"/>
            <a:ext cx="3403565" cy="1713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4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1CB5914F-AE34-5DD6-EF7B-B8B2E666D228}"/>
              </a:ext>
            </a:extLst>
          </p:cNvPr>
          <p:cNvSpPr/>
          <p:nvPr/>
        </p:nvSpPr>
        <p:spPr>
          <a:xfrm>
            <a:off x="1411989" y="5354504"/>
            <a:ext cx="3649709" cy="18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dirty="0">
                <a:solidFill>
                  <a:srgbClr val="336FA8"/>
                </a:solidFill>
                <a:latin typeface="Bricolage Grotesque 36"/>
              </a:rPr>
              <a:t>Total Profit</a:t>
            </a:r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63DE4A9A-A137-38CA-FAD0-F8E006477332}"/>
              </a:ext>
            </a:extLst>
          </p:cNvPr>
          <p:cNvSpPr/>
          <p:nvPr/>
        </p:nvSpPr>
        <p:spPr>
          <a:xfrm>
            <a:off x="1240664" y="5990422"/>
            <a:ext cx="254317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FAF7F"/>
                </a:solidFill>
                <a:latin typeface="Bricolage Grotesque 36"/>
              </a:rPr>
              <a:t>26.6M</a:t>
            </a:r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75CA12A5-3A65-AE71-05E7-5EC658B3443D}"/>
              </a:ext>
            </a:extLst>
          </p:cNvPr>
          <p:cNvSpPr/>
          <p:nvPr/>
        </p:nvSpPr>
        <p:spPr>
          <a:xfrm rot="5400000">
            <a:off x="2516394" y="3077441"/>
            <a:ext cx="45719" cy="340356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2F1A83F8-E5FF-E3C9-4AE6-A1F04AF9E76D}"/>
              </a:ext>
            </a:extLst>
          </p:cNvPr>
          <p:cNvSpPr/>
          <p:nvPr/>
        </p:nvSpPr>
        <p:spPr>
          <a:xfrm>
            <a:off x="4850642" y="4808220"/>
            <a:ext cx="3860760" cy="1713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4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6508D9DE-D101-CDF2-F85C-26C88C638891}"/>
              </a:ext>
            </a:extLst>
          </p:cNvPr>
          <p:cNvSpPr/>
          <p:nvPr/>
        </p:nvSpPr>
        <p:spPr>
          <a:xfrm>
            <a:off x="5253832" y="5362226"/>
            <a:ext cx="3649709" cy="18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dirty="0">
                <a:solidFill>
                  <a:srgbClr val="336FA8"/>
                </a:solidFill>
                <a:latin typeface="Bricolage Grotesque 36"/>
              </a:rPr>
              <a:t>Avg Order Value</a:t>
            </a:r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C1E72E0C-9271-1E4C-08FC-8D5376ACB397}"/>
              </a:ext>
            </a:extLst>
          </p:cNvPr>
          <p:cNvSpPr/>
          <p:nvPr/>
        </p:nvSpPr>
        <p:spPr>
          <a:xfrm>
            <a:off x="5519896" y="5990422"/>
            <a:ext cx="254317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FAF7F"/>
                </a:solidFill>
                <a:latin typeface="Bricolage Grotesque 36"/>
              </a:rPr>
              <a:t>2.53K</a:t>
            </a:r>
          </a:p>
        </p:txBody>
      </p:sp>
      <p:sp>
        <p:nvSpPr>
          <p:cNvPr id="50" name="Shape 46">
            <a:extLst>
              <a:ext uri="{FF2B5EF4-FFF2-40B4-BE49-F238E27FC236}">
                <a16:creationId xmlns:a16="http://schemas.microsoft.com/office/drawing/2014/main" id="{B91D44B5-5F87-CEE7-75EE-E86188B5FC1B}"/>
              </a:ext>
            </a:extLst>
          </p:cNvPr>
          <p:cNvSpPr/>
          <p:nvPr/>
        </p:nvSpPr>
        <p:spPr>
          <a:xfrm rot="5400000">
            <a:off x="6758157" y="2854981"/>
            <a:ext cx="45719" cy="386075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6026EBC2-BC67-A395-0D51-4B05CF4C205E}"/>
              </a:ext>
            </a:extLst>
          </p:cNvPr>
          <p:cNvSpPr/>
          <p:nvPr/>
        </p:nvSpPr>
        <p:spPr>
          <a:xfrm>
            <a:off x="4850642" y="2820884"/>
            <a:ext cx="3860765" cy="1713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4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CC3EE845-51DF-4E3F-9F72-6F608F6E947E}"/>
              </a:ext>
            </a:extLst>
          </p:cNvPr>
          <p:cNvSpPr/>
          <p:nvPr/>
        </p:nvSpPr>
        <p:spPr>
          <a:xfrm>
            <a:off x="5061698" y="3373305"/>
            <a:ext cx="3649709" cy="18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dirty="0">
                <a:solidFill>
                  <a:srgbClr val="336FA8"/>
                </a:solidFill>
                <a:latin typeface="Bricolage Grotesque 36"/>
              </a:rPr>
              <a:t>Gross Profit Margin</a:t>
            </a:r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94665122-8AE6-096F-2A0F-B5C8FC8B18DA}"/>
              </a:ext>
            </a:extLst>
          </p:cNvPr>
          <p:cNvSpPr/>
          <p:nvPr/>
        </p:nvSpPr>
        <p:spPr>
          <a:xfrm>
            <a:off x="5614964" y="4009595"/>
            <a:ext cx="254317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FAF7F"/>
                </a:solidFill>
                <a:latin typeface="Bricolage Grotesque 36"/>
              </a:rPr>
              <a:t>11%</a:t>
            </a:r>
          </a:p>
        </p:txBody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AE160C69-1A1C-5812-6B55-A568CA9819E4}"/>
              </a:ext>
            </a:extLst>
          </p:cNvPr>
          <p:cNvSpPr/>
          <p:nvPr/>
        </p:nvSpPr>
        <p:spPr>
          <a:xfrm rot="5400000">
            <a:off x="6758160" y="867642"/>
            <a:ext cx="45719" cy="3860764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0B59508D-E798-2B16-F0ED-D4DBD5C82ABF}"/>
              </a:ext>
            </a:extLst>
          </p:cNvPr>
          <p:cNvSpPr/>
          <p:nvPr/>
        </p:nvSpPr>
        <p:spPr>
          <a:xfrm>
            <a:off x="837470" y="6878191"/>
            <a:ext cx="7871895" cy="32313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7879F6E1-AE0A-BA85-0D4C-B0299FF0A97C}"/>
              </a:ext>
            </a:extLst>
          </p:cNvPr>
          <p:cNvSpPr/>
          <p:nvPr/>
        </p:nvSpPr>
        <p:spPr>
          <a:xfrm>
            <a:off x="914400" y="6872804"/>
            <a:ext cx="7794965" cy="45719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5CC6616E-DF14-EAE8-A109-A1F5614D6380}"/>
              </a:ext>
            </a:extLst>
          </p:cNvPr>
          <p:cNvSpPr/>
          <p:nvPr/>
        </p:nvSpPr>
        <p:spPr>
          <a:xfrm>
            <a:off x="1239044" y="7687799"/>
            <a:ext cx="5889433" cy="1792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342900" indent="-342900" algn="l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AF7F"/>
                </a:solidFill>
                <a:latin typeface="Bricolage Grotesque 36"/>
              </a:rPr>
              <a:t>Top-Selling Category analysis by revenue</a:t>
            </a:r>
          </a:p>
        </p:txBody>
      </p:sp>
      <p:sp>
        <p:nvSpPr>
          <p:cNvPr id="70" name="Text 21">
            <a:extLst>
              <a:ext uri="{FF2B5EF4-FFF2-40B4-BE49-F238E27FC236}">
                <a16:creationId xmlns:a16="http://schemas.microsoft.com/office/drawing/2014/main" id="{1939B8B4-254E-CB31-23D4-553EED45EDB7}"/>
              </a:ext>
            </a:extLst>
          </p:cNvPr>
          <p:cNvSpPr/>
          <p:nvPr/>
        </p:nvSpPr>
        <p:spPr>
          <a:xfrm>
            <a:off x="1239044" y="8094514"/>
            <a:ext cx="4095608" cy="19665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AF7F"/>
                </a:solidFill>
              </a:rPr>
              <a:t>Average Quantity per Category</a:t>
            </a:r>
            <a:endParaRPr lang="en-US" sz="2400" i="1" dirty="0">
              <a:solidFill>
                <a:srgbClr val="0FAF7F"/>
              </a:solidFill>
            </a:endParaRPr>
          </a:p>
        </p:txBody>
      </p:sp>
      <p:sp>
        <p:nvSpPr>
          <p:cNvPr id="71" name="Text 22">
            <a:extLst>
              <a:ext uri="{FF2B5EF4-FFF2-40B4-BE49-F238E27FC236}">
                <a16:creationId xmlns:a16="http://schemas.microsoft.com/office/drawing/2014/main" id="{4208C37E-0796-9CBF-F7FF-E72CB891B08D}"/>
              </a:ext>
            </a:extLst>
          </p:cNvPr>
          <p:cNvSpPr/>
          <p:nvPr/>
        </p:nvSpPr>
        <p:spPr>
          <a:xfrm>
            <a:off x="1239044" y="8518607"/>
            <a:ext cx="4416274" cy="1792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342900" indent="-342900" algn="l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AF7F"/>
                </a:solidFill>
                <a:latin typeface="Bricolage Grotesque 36"/>
              </a:rPr>
              <a:t>Profit by Category breakdown</a:t>
            </a:r>
          </a:p>
        </p:txBody>
      </p:sp>
      <p:sp>
        <p:nvSpPr>
          <p:cNvPr id="72" name="Text 23">
            <a:extLst>
              <a:ext uri="{FF2B5EF4-FFF2-40B4-BE49-F238E27FC236}">
                <a16:creationId xmlns:a16="http://schemas.microsoft.com/office/drawing/2014/main" id="{429CA1B1-DC43-73B6-0598-A44247315995}"/>
              </a:ext>
            </a:extLst>
          </p:cNvPr>
          <p:cNvSpPr/>
          <p:nvPr/>
        </p:nvSpPr>
        <p:spPr>
          <a:xfrm>
            <a:off x="1239044" y="8934011"/>
            <a:ext cx="4259179" cy="1792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342900" indent="-342900" algn="l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AF7F"/>
                </a:solidFill>
                <a:latin typeface="Bricolage Grotesque 36"/>
              </a:rPr>
              <a:t>Average Markup by category</a:t>
            </a:r>
          </a:p>
        </p:txBody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947C4C19-42E8-097E-4F90-3DC284CDFA3A}"/>
              </a:ext>
            </a:extLst>
          </p:cNvPr>
          <p:cNvSpPr/>
          <p:nvPr/>
        </p:nvSpPr>
        <p:spPr>
          <a:xfrm>
            <a:off x="1239044" y="9764820"/>
            <a:ext cx="4541308" cy="1792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342900" indent="-342900" algn="l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AF7F"/>
                </a:solidFill>
                <a:latin typeface="Bricolage Grotesque 36"/>
              </a:rPr>
              <a:t>Date slicer for dynamic filtering</a:t>
            </a:r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AEE8D9E7-09AF-4AB5-FE6B-712201D0FEF6}"/>
              </a:ext>
            </a:extLst>
          </p:cNvPr>
          <p:cNvSpPr/>
          <p:nvPr/>
        </p:nvSpPr>
        <p:spPr>
          <a:xfrm>
            <a:off x="1239044" y="9349415"/>
            <a:ext cx="4461158" cy="1792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342900" indent="-342900" algn="l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AF7F"/>
                </a:solidFill>
                <a:latin typeface="Bricolage Grotesque 36"/>
              </a:rPr>
              <a:t>Sales Revenue trend over time</a:t>
            </a:r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BB770FB9-CCF1-7D11-67BE-AD9374DE8DA5}"/>
              </a:ext>
            </a:extLst>
          </p:cNvPr>
          <p:cNvSpPr/>
          <p:nvPr/>
        </p:nvSpPr>
        <p:spPr>
          <a:xfrm>
            <a:off x="2979691" y="7317956"/>
            <a:ext cx="3649709" cy="18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dirty="0">
                <a:solidFill>
                  <a:srgbClr val="336FA8"/>
                </a:solidFill>
                <a:latin typeface="Bricolage Grotesque 36"/>
              </a:rPr>
              <a:t>Dashboard Features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1A651-1B89-4274-AF1D-B4F7CBB0EB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34879" y="2788711"/>
            <a:ext cx="5992404" cy="33562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EF6732-B0CD-4579-B47A-4F37C19893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2877" y="6653031"/>
            <a:ext cx="6324600" cy="35295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398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2E28-1398-7822-0D17-74675AF0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BADA43-429F-6FA2-A650-DCFD34CE59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59560" y="-214333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2" r="-2112"/>
            </a:stretch>
          </a:blipFill>
        </p:spPr>
        <p:txBody>
          <a:bodyPr/>
          <a:lstStyle/>
          <a:p>
            <a:endParaRPr lang="ar-EG" sz="2400" dirty="0"/>
          </a:p>
        </p:txBody>
      </p:sp>
      <p:pic>
        <p:nvPicPr>
          <p:cNvPr id="14" name="Picture 13" descr="A cartoon of a person with stars above his head&#10;&#10;AI-generated content may be incorrect.">
            <a:extLst>
              <a:ext uri="{FF2B5EF4-FFF2-40B4-BE49-F238E27FC236}">
                <a16:creationId xmlns:a16="http://schemas.microsoft.com/office/drawing/2014/main" id="{ACF75952-3FC2-968B-247F-182760A87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599" y="1819687"/>
            <a:ext cx="3724167" cy="37241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Freeform 29">
            <a:extLst>
              <a:ext uri="{FF2B5EF4-FFF2-40B4-BE49-F238E27FC236}">
                <a16:creationId xmlns:a16="http://schemas.microsoft.com/office/drawing/2014/main" id="{F5245552-C8F0-D7C7-E325-E4D4A2E6702D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1BE44BF-46C2-255D-6E5C-252F21BC9D34}"/>
              </a:ext>
            </a:extLst>
          </p:cNvPr>
          <p:cNvSpPr/>
          <p:nvPr/>
        </p:nvSpPr>
        <p:spPr>
          <a:xfrm>
            <a:off x="6499045" y="1157994"/>
            <a:ext cx="5289910" cy="495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3200" b="1" dirty="0">
                <a:latin typeface="Bricolage Grotesque 36"/>
              </a:rPr>
              <a:t>Customer &amp; Regional Insights</a:t>
            </a:r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D464923C-849A-DA69-9BE2-494F112F9377}"/>
              </a:ext>
            </a:extLst>
          </p:cNvPr>
          <p:cNvSpPr/>
          <p:nvPr/>
        </p:nvSpPr>
        <p:spPr>
          <a:xfrm>
            <a:off x="9600474" y="2475238"/>
            <a:ext cx="3403565" cy="1713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4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FBCC4291-A125-64E8-B90C-BC2A108EFB4B}"/>
              </a:ext>
            </a:extLst>
          </p:cNvPr>
          <p:cNvSpPr/>
          <p:nvPr/>
        </p:nvSpPr>
        <p:spPr>
          <a:xfrm>
            <a:off x="9753600" y="3027659"/>
            <a:ext cx="3649709" cy="18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dirty="0">
                <a:solidFill>
                  <a:srgbClr val="336FA8"/>
                </a:solidFill>
                <a:latin typeface="Bricolage Grotesque 36"/>
              </a:rPr>
              <a:t>Total Customers</a:t>
            </a: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31023463-A51F-1F2F-DF86-1A42C07DD7DE}"/>
              </a:ext>
            </a:extLst>
          </p:cNvPr>
          <p:cNvSpPr/>
          <p:nvPr/>
        </p:nvSpPr>
        <p:spPr>
          <a:xfrm>
            <a:off x="10003664" y="3663576"/>
            <a:ext cx="254317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FAF7F"/>
                </a:solidFill>
                <a:latin typeface="Bricolage Grotesque 36"/>
              </a:rPr>
              <a:t>99.5K</a:t>
            </a:r>
          </a:p>
        </p:txBody>
      </p:sp>
      <p:sp>
        <p:nvSpPr>
          <p:cNvPr id="42" name="Shape 46">
            <a:extLst>
              <a:ext uri="{FF2B5EF4-FFF2-40B4-BE49-F238E27FC236}">
                <a16:creationId xmlns:a16="http://schemas.microsoft.com/office/drawing/2014/main" id="{6FBDE05D-AD1A-9F44-FB22-38492B16A74E}"/>
              </a:ext>
            </a:extLst>
          </p:cNvPr>
          <p:cNvSpPr/>
          <p:nvPr/>
        </p:nvSpPr>
        <p:spPr>
          <a:xfrm rot="5400000">
            <a:off x="11279394" y="750595"/>
            <a:ext cx="45719" cy="340356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33EB7C01-2B94-F15F-51D6-1140E82D3EC1}"/>
              </a:ext>
            </a:extLst>
          </p:cNvPr>
          <p:cNvSpPr/>
          <p:nvPr/>
        </p:nvSpPr>
        <p:spPr>
          <a:xfrm>
            <a:off x="9600474" y="4491148"/>
            <a:ext cx="3403565" cy="1713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4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82EF304D-24C5-4F5D-E2AA-6D4E77B0AF4E}"/>
              </a:ext>
            </a:extLst>
          </p:cNvPr>
          <p:cNvSpPr/>
          <p:nvPr/>
        </p:nvSpPr>
        <p:spPr>
          <a:xfrm>
            <a:off x="9829800" y="5039670"/>
            <a:ext cx="4224227" cy="173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i="1" dirty="0">
                <a:solidFill>
                  <a:srgbClr val="336FA8"/>
                </a:solidFill>
                <a:latin typeface="Bricolage Grotesque 36"/>
              </a:rPr>
              <a:t>Avg Customer Age</a:t>
            </a:r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54DC19CE-EDB3-C853-29A7-A730F5714934}"/>
              </a:ext>
            </a:extLst>
          </p:cNvPr>
          <p:cNvSpPr/>
          <p:nvPr/>
        </p:nvSpPr>
        <p:spPr>
          <a:xfrm>
            <a:off x="10003664" y="5679486"/>
            <a:ext cx="254317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FAF7F"/>
                </a:solidFill>
                <a:latin typeface="Bricolage Grotesque 36"/>
              </a:rPr>
              <a:t>43</a:t>
            </a:r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D0614279-8941-9F30-723E-429AEFC5925D}"/>
              </a:ext>
            </a:extLst>
          </p:cNvPr>
          <p:cNvSpPr/>
          <p:nvPr/>
        </p:nvSpPr>
        <p:spPr>
          <a:xfrm rot="5400000">
            <a:off x="11279394" y="2766505"/>
            <a:ext cx="45719" cy="340356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27B1D619-10E2-80F6-5C0B-67A474E092EF}"/>
              </a:ext>
            </a:extLst>
          </p:cNvPr>
          <p:cNvSpPr/>
          <p:nvPr/>
        </p:nvSpPr>
        <p:spPr>
          <a:xfrm>
            <a:off x="13613642" y="4497284"/>
            <a:ext cx="3860760" cy="1713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4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701BCA6C-C1D3-C0ED-B45D-B90BFB740D6B}"/>
              </a:ext>
            </a:extLst>
          </p:cNvPr>
          <p:cNvSpPr/>
          <p:nvPr/>
        </p:nvSpPr>
        <p:spPr>
          <a:xfrm>
            <a:off x="13893841" y="4797321"/>
            <a:ext cx="3860759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i="1" dirty="0">
                <a:solidFill>
                  <a:srgbClr val="336FA8"/>
                </a:solidFill>
                <a:latin typeface="Bricolage Grotesque 36"/>
              </a:rPr>
              <a:t>Top Performing State</a:t>
            </a:r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AFE35580-9B72-74B2-EF21-914F826FF495}"/>
              </a:ext>
            </a:extLst>
          </p:cNvPr>
          <p:cNvSpPr/>
          <p:nvPr/>
        </p:nvSpPr>
        <p:spPr>
          <a:xfrm>
            <a:off x="14282896" y="5679486"/>
            <a:ext cx="254317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FAF7F"/>
                </a:solidFill>
                <a:latin typeface="Bricolage Grotesque 36"/>
              </a:rPr>
              <a:t>California</a:t>
            </a:r>
          </a:p>
        </p:txBody>
      </p:sp>
      <p:sp>
        <p:nvSpPr>
          <p:cNvPr id="50" name="Shape 46">
            <a:extLst>
              <a:ext uri="{FF2B5EF4-FFF2-40B4-BE49-F238E27FC236}">
                <a16:creationId xmlns:a16="http://schemas.microsoft.com/office/drawing/2014/main" id="{18648813-EC5D-A595-232E-B416C8C9A033}"/>
              </a:ext>
            </a:extLst>
          </p:cNvPr>
          <p:cNvSpPr/>
          <p:nvPr/>
        </p:nvSpPr>
        <p:spPr>
          <a:xfrm rot="5400000">
            <a:off x="15521157" y="2544045"/>
            <a:ext cx="45719" cy="386075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3AAC04BF-91A6-0809-A615-8FDEC4E23DD0}"/>
              </a:ext>
            </a:extLst>
          </p:cNvPr>
          <p:cNvSpPr/>
          <p:nvPr/>
        </p:nvSpPr>
        <p:spPr>
          <a:xfrm>
            <a:off x="13613642" y="2509948"/>
            <a:ext cx="3860765" cy="1713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4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4758EDE0-E9AC-3828-4BAF-208AAEB280FA}"/>
              </a:ext>
            </a:extLst>
          </p:cNvPr>
          <p:cNvSpPr/>
          <p:nvPr/>
        </p:nvSpPr>
        <p:spPr>
          <a:xfrm>
            <a:off x="13611596" y="2546564"/>
            <a:ext cx="3860759" cy="861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i="1" dirty="0">
                <a:solidFill>
                  <a:srgbClr val="336FA8"/>
                </a:solidFill>
                <a:latin typeface="Bricolage Grotesque 36"/>
              </a:rPr>
              <a:t>Avg Revenue per Customer</a:t>
            </a:r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FC58D7E7-9908-2D38-E6A9-E3AB82A68D10}"/>
              </a:ext>
            </a:extLst>
          </p:cNvPr>
          <p:cNvSpPr/>
          <p:nvPr/>
        </p:nvSpPr>
        <p:spPr>
          <a:xfrm>
            <a:off x="14325600" y="3841964"/>
            <a:ext cx="254317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FAF7F"/>
                </a:solidFill>
                <a:latin typeface="Bricolage Grotesque 36"/>
              </a:rPr>
              <a:t>$2.5K</a:t>
            </a:r>
          </a:p>
        </p:txBody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76E2C325-4433-9E48-241D-23DBDBF65C35}"/>
              </a:ext>
            </a:extLst>
          </p:cNvPr>
          <p:cNvSpPr/>
          <p:nvPr/>
        </p:nvSpPr>
        <p:spPr>
          <a:xfrm rot="5400000">
            <a:off x="15521160" y="556706"/>
            <a:ext cx="45719" cy="3860764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 sz="360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5FF95155-CE66-D58D-4CC5-43642F4ACAF7}"/>
              </a:ext>
            </a:extLst>
          </p:cNvPr>
          <p:cNvSpPr/>
          <p:nvPr/>
        </p:nvSpPr>
        <p:spPr>
          <a:xfrm>
            <a:off x="454876" y="6417646"/>
            <a:ext cx="17017479" cy="28286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E3642DB9-088B-F9DC-E5D6-5163AD05BDB8}"/>
              </a:ext>
            </a:extLst>
          </p:cNvPr>
          <p:cNvSpPr/>
          <p:nvPr/>
        </p:nvSpPr>
        <p:spPr>
          <a:xfrm flipV="1">
            <a:off x="454876" y="6399141"/>
            <a:ext cx="17092126" cy="45719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8C1A814E-ACA7-B4BF-62A7-5E70B9F31622}"/>
              </a:ext>
            </a:extLst>
          </p:cNvPr>
          <p:cNvSpPr/>
          <p:nvPr/>
        </p:nvSpPr>
        <p:spPr>
          <a:xfrm>
            <a:off x="1102452" y="6776830"/>
            <a:ext cx="10175148" cy="18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dirty="0">
                <a:solidFill>
                  <a:srgbClr val="336FA8"/>
                </a:solidFill>
                <a:latin typeface="Bricolage Grotesque 36"/>
              </a:rPr>
              <a:t>Key Dashboard Components</a:t>
            </a:r>
          </a:p>
        </p:txBody>
      </p:sp>
      <p:sp>
        <p:nvSpPr>
          <p:cNvPr id="6" name="Text 23">
            <a:extLst>
              <a:ext uri="{FF2B5EF4-FFF2-40B4-BE49-F238E27FC236}">
                <a16:creationId xmlns:a16="http://schemas.microsoft.com/office/drawing/2014/main" id="{AE29A959-A645-3EB2-E464-FD58B1EED2C6}"/>
              </a:ext>
            </a:extLst>
          </p:cNvPr>
          <p:cNvSpPr/>
          <p:nvPr/>
        </p:nvSpPr>
        <p:spPr>
          <a:xfrm>
            <a:off x="1096228" y="7214919"/>
            <a:ext cx="15391906" cy="216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 algn="l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FAF7F"/>
                </a:solidFill>
              </a:rPr>
              <a:t>Average Revenue per Customer by Age: </a:t>
            </a:r>
            <a:r>
              <a:rPr lang="en-US" sz="3000" i="1" dirty="0">
                <a:solidFill>
                  <a:srgbClr val="0FAF7F"/>
                </a:solidFill>
              </a:rPr>
              <a:t>Shows how customer spending varies across age groups</a:t>
            </a:r>
          </a:p>
        </p:txBody>
      </p:sp>
      <p:sp>
        <p:nvSpPr>
          <p:cNvPr id="7" name="Text 24">
            <a:extLst>
              <a:ext uri="{FF2B5EF4-FFF2-40B4-BE49-F238E27FC236}">
                <a16:creationId xmlns:a16="http://schemas.microsoft.com/office/drawing/2014/main" id="{9F3B8E4F-DA54-10E4-EBB2-EAB9B72D4DBE}"/>
              </a:ext>
            </a:extLst>
          </p:cNvPr>
          <p:cNvSpPr/>
          <p:nvPr/>
        </p:nvSpPr>
        <p:spPr>
          <a:xfrm>
            <a:off x="1096228" y="7658909"/>
            <a:ext cx="15502642" cy="193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AF7F"/>
                </a:solidFill>
                <a:latin typeface="Bricolage Grotesque 36"/>
              </a:rPr>
              <a:t>Average Transaction Value by region</a:t>
            </a:r>
            <a:r>
              <a:rPr lang="ar-EG" sz="2800" dirty="0">
                <a:solidFill>
                  <a:srgbClr val="0FAF7F"/>
                </a:solidFill>
                <a:latin typeface="Bricolage Grotesque 36"/>
              </a:rPr>
              <a:t> </a:t>
            </a:r>
            <a:r>
              <a:rPr lang="en-US" sz="2800" dirty="0">
                <a:solidFill>
                  <a:srgbClr val="0FAF7F"/>
                </a:solidFill>
                <a:latin typeface="Bricolage Grotesque 36"/>
              </a:rPr>
              <a:t>:</a:t>
            </a:r>
            <a:r>
              <a:rPr lang="ar-EG" sz="2800" dirty="0">
                <a:solidFill>
                  <a:srgbClr val="0FAF7F"/>
                </a:solidFill>
                <a:latin typeface="Bricolage Grotesque 36"/>
              </a:rPr>
              <a:t> </a:t>
            </a:r>
            <a:r>
              <a:rPr lang="en-US" sz="2800" dirty="0">
                <a:solidFill>
                  <a:srgbClr val="0FAF7F"/>
                </a:solidFill>
                <a:latin typeface="Bricolage Grotesque 36"/>
              </a:rPr>
              <a:t>the average amount spent per transaction in each region </a:t>
            </a:r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363BA916-E825-A3B8-27D5-EC4509345957}"/>
              </a:ext>
            </a:extLst>
          </p:cNvPr>
          <p:cNvSpPr/>
          <p:nvPr/>
        </p:nvSpPr>
        <p:spPr>
          <a:xfrm>
            <a:off x="1096228" y="8140937"/>
            <a:ext cx="13991202" cy="216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 algn="l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FAF7F"/>
                </a:solidFill>
              </a:rPr>
              <a:t>Total Sales Revenue by Gender: </a:t>
            </a:r>
            <a:r>
              <a:rPr lang="en-US" sz="3000" i="1" dirty="0">
                <a:solidFill>
                  <a:srgbClr val="0FAF7F"/>
                </a:solidFill>
              </a:rPr>
              <a:t>Breakdown of revenue contribution by customer gender</a:t>
            </a:r>
          </a:p>
        </p:txBody>
      </p:sp>
      <p:sp>
        <p:nvSpPr>
          <p:cNvPr id="9" name="Text 26">
            <a:extLst>
              <a:ext uri="{FF2B5EF4-FFF2-40B4-BE49-F238E27FC236}">
                <a16:creationId xmlns:a16="http://schemas.microsoft.com/office/drawing/2014/main" id="{CD63D7EA-2329-5802-D7E3-3AAE4D0B7029}"/>
              </a:ext>
            </a:extLst>
          </p:cNvPr>
          <p:cNvSpPr/>
          <p:nvPr/>
        </p:nvSpPr>
        <p:spPr>
          <a:xfrm>
            <a:off x="1096228" y="8598137"/>
            <a:ext cx="13190919" cy="216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 algn="l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FAF7F"/>
                </a:solidFill>
              </a:rPr>
              <a:t>Sales by Region: </a:t>
            </a:r>
            <a:r>
              <a:rPr lang="en-US" sz="3000" i="1" dirty="0">
                <a:solidFill>
                  <a:srgbClr val="0FAF7F"/>
                </a:solidFill>
              </a:rPr>
              <a:t>Revenue distribution across West, East, Central, and South regions</a:t>
            </a:r>
          </a:p>
        </p:txBody>
      </p:sp>
      <p:sp>
        <p:nvSpPr>
          <p:cNvPr id="10" name="TextBox 26">
            <a:extLst>
              <a:ext uri="{FF2B5EF4-FFF2-40B4-BE49-F238E27FC236}">
                <a16:creationId xmlns:a16="http://schemas.microsoft.com/office/drawing/2014/main" id="{A50E7A6C-5E59-991D-260C-CAAAF3BCD5D6}"/>
              </a:ext>
            </a:extLst>
          </p:cNvPr>
          <p:cNvSpPr txBox="1"/>
          <p:nvPr/>
        </p:nvSpPr>
        <p:spPr>
          <a:xfrm>
            <a:off x="983206" y="9413827"/>
            <a:ext cx="1677139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2400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This dashboard enables stakeholders to understand customer segmentation by demographics and geography, identify high-value regions and locations, and optimize resource allocation based on regional performance and customer behavior patterns</a:t>
            </a:r>
          </a:p>
        </p:txBody>
      </p:sp>
      <p:pic>
        <p:nvPicPr>
          <p:cNvPr id="12" name="Picture 11" descr="A globe with red pointers&#10;&#10;AI-generated content may be incorrect.">
            <a:extLst>
              <a:ext uri="{FF2B5EF4-FFF2-40B4-BE49-F238E27FC236}">
                <a16:creationId xmlns:a16="http://schemas.microsoft.com/office/drawing/2014/main" id="{D7D45F0E-3F9B-71D6-BFD1-A404E1357C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014" y="3178491"/>
            <a:ext cx="2759407" cy="2759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411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2">
            <a:extLst>
              <a:ext uri="{FF2B5EF4-FFF2-40B4-BE49-F238E27FC236}">
                <a16:creationId xmlns:a16="http://schemas.microsoft.com/office/drawing/2014/main" id="{48F4C6F6-63DC-5CB9-94A1-C022677C20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09521" y="-419100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2" r="-2112"/>
            </a:stretch>
          </a:blipFill>
        </p:spPr>
        <p:txBody>
          <a:bodyPr/>
          <a:lstStyle/>
          <a:p>
            <a:endParaRPr lang="ar-EG" sz="2400"/>
          </a:p>
        </p:txBody>
      </p:sp>
      <p:grpSp>
        <p:nvGrpSpPr>
          <p:cNvPr id="62" name="Group 30">
            <a:extLst>
              <a:ext uri="{FF2B5EF4-FFF2-40B4-BE49-F238E27FC236}">
                <a16:creationId xmlns:a16="http://schemas.microsoft.com/office/drawing/2014/main" id="{164E15B9-4683-AE7B-8597-76C4AFF48575}"/>
              </a:ext>
            </a:extLst>
          </p:cNvPr>
          <p:cNvGrpSpPr/>
          <p:nvPr/>
        </p:nvGrpSpPr>
        <p:grpSpPr>
          <a:xfrm>
            <a:off x="9956964" y="7756030"/>
            <a:ext cx="7640947" cy="2015072"/>
            <a:chOff x="0" y="0"/>
            <a:chExt cx="1415604" cy="477110"/>
          </a:xfrm>
          <a:solidFill>
            <a:schemeClr val="bg1">
              <a:lumMod val="85000"/>
            </a:schemeClr>
          </a:solidFill>
        </p:grpSpPr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D89C0979-85EE-3936-E8B6-2A0CDCE1EABF}"/>
                </a:ext>
              </a:extLst>
            </p:cNvPr>
            <p:cNvSpPr/>
            <p:nvPr/>
          </p:nvSpPr>
          <p:spPr>
            <a:xfrm>
              <a:off x="0" y="0"/>
              <a:ext cx="1415604" cy="477110"/>
            </a:xfrm>
            <a:custGeom>
              <a:avLst/>
              <a:gdLst/>
              <a:ahLst/>
              <a:cxnLst/>
              <a:rect l="l" t="t" r="r" b="b"/>
              <a:pathLst>
                <a:path w="1415604" h="477110">
                  <a:moveTo>
                    <a:pt x="14404" y="0"/>
                  </a:moveTo>
                  <a:lnTo>
                    <a:pt x="1401200" y="0"/>
                  </a:lnTo>
                  <a:cubicBezTo>
                    <a:pt x="1405020" y="0"/>
                    <a:pt x="1408684" y="1518"/>
                    <a:pt x="1411385" y="4219"/>
                  </a:cubicBezTo>
                  <a:cubicBezTo>
                    <a:pt x="1414086" y="6920"/>
                    <a:pt x="1415604" y="10584"/>
                    <a:pt x="1415604" y="14404"/>
                  </a:cubicBezTo>
                  <a:lnTo>
                    <a:pt x="1415604" y="462706"/>
                  </a:lnTo>
                  <a:cubicBezTo>
                    <a:pt x="1415604" y="466526"/>
                    <a:pt x="1414086" y="470190"/>
                    <a:pt x="1411385" y="472891"/>
                  </a:cubicBezTo>
                  <a:cubicBezTo>
                    <a:pt x="1408684" y="475593"/>
                    <a:pt x="1405020" y="477110"/>
                    <a:pt x="1401200" y="477110"/>
                  </a:cubicBezTo>
                  <a:lnTo>
                    <a:pt x="14404" y="477110"/>
                  </a:lnTo>
                  <a:cubicBezTo>
                    <a:pt x="6449" y="477110"/>
                    <a:pt x="0" y="470661"/>
                    <a:pt x="0" y="462706"/>
                  </a:cubicBezTo>
                  <a:lnTo>
                    <a:pt x="0" y="14404"/>
                  </a:lnTo>
                  <a:cubicBezTo>
                    <a:pt x="0" y="6449"/>
                    <a:pt x="6449" y="0"/>
                    <a:pt x="1440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ar-EG"/>
            </a:p>
          </p:txBody>
        </p:sp>
        <p:sp>
          <p:nvSpPr>
            <p:cNvPr id="64" name="TextBox 32">
              <a:extLst>
                <a:ext uri="{FF2B5EF4-FFF2-40B4-BE49-F238E27FC236}">
                  <a16:creationId xmlns:a16="http://schemas.microsoft.com/office/drawing/2014/main" id="{2C9EEB81-1806-0BD5-AF15-CD8E45C6B137}"/>
                </a:ext>
              </a:extLst>
            </p:cNvPr>
            <p:cNvSpPr txBox="1"/>
            <p:nvPr/>
          </p:nvSpPr>
          <p:spPr>
            <a:xfrm>
              <a:off x="0" y="-47625"/>
              <a:ext cx="1415604" cy="52473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9" name="Group 36">
            <a:extLst>
              <a:ext uri="{FF2B5EF4-FFF2-40B4-BE49-F238E27FC236}">
                <a16:creationId xmlns:a16="http://schemas.microsoft.com/office/drawing/2014/main" id="{7D524A87-9CF3-48FF-2DF8-109E9EB8B48C}"/>
              </a:ext>
            </a:extLst>
          </p:cNvPr>
          <p:cNvGrpSpPr/>
          <p:nvPr/>
        </p:nvGrpSpPr>
        <p:grpSpPr>
          <a:xfrm>
            <a:off x="11866496" y="5509237"/>
            <a:ext cx="6076524" cy="1691663"/>
            <a:chOff x="0" y="0"/>
            <a:chExt cx="1415604" cy="477110"/>
          </a:xfrm>
          <a:solidFill>
            <a:schemeClr val="bg1">
              <a:lumMod val="85000"/>
            </a:schemeClr>
          </a:solidFill>
        </p:grpSpPr>
        <p:sp>
          <p:nvSpPr>
            <p:cNvPr id="60" name="Freeform 37">
              <a:extLst>
                <a:ext uri="{FF2B5EF4-FFF2-40B4-BE49-F238E27FC236}">
                  <a16:creationId xmlns:a16="http://schemas.microsoft.com/office/drawing/2014/main" id="{AF6E6EB5-33CB-CD2B-04B7-28F0299F6D39}"/>
                </a:ext>
              </a:extLst>
            </p:cNvPr>
            <p:cNvSpPr/>
            <p:nvPr/>
          </p:nvSpPr>
          <p:spPr>
            <a:xfrm>
              <a:off x="0" y="0"/>
              <a:ext cx="1415604" cy="477110"/>
            </a:xfrm>
            <a:custGeom>
              <a:avLst/>
              <a:gdLst/>
              <a:ahLst/>
              <a:cxnLst/>
              <a:rect l="l" t="t" r="r" b="b"/>
              <a:pathLst>
                <a:path w="1415604" h="477110">
                  <a:moveTo>
                    <a:pt x="14404" y="0"/>
                  </a:moveTo>
                  <a:lnTo>
                    <a:pt x="1401200" y="0"/>
                  </a:lnTo>
                  <a:cubicBezTo>
                    <a:pt x="1405020" y="0"/>
                    <a:pt x="1408684" y="1518"/>
                    <a:pt x="1411385" y="4219"/>
                  </a:cubicBezTo>
                  <a:cubicBezTo>
                    <a:pt x="1414086" y="6920"/>
                    <a:pt x="1415604" y="10584"/>
                    <a:pt x="1415604" y="14404"/>
                  </a:cubicBezTo>
                  <a:lnTo>
                    <a:pt x="1415604" y="462706"/>
                  </a:lnTo>
                  <a:cubicBezTo>
                    <a:pt x="1415604" y="466526"/>
                    <a:pt x="1414086" y="470190"/>
                    <a:pt x="1411385" y="472891"/>
                  </a:cubicBezTo>
                  <a:cubicBezTo>
                    <a:pt x="1408684" y="475593"/>
                    <a:pt x="1405020" y="477110"/>
                    <a:pt x="1401200" y="477110"/>
                  </a:cubicBezTo>
                  <a:lnTo>
                    <a:pt x="14404" y="477110"/>
                  </a:lnTo>
                  <a:cubicBezTo>
                    <a:pt x="6449" y="477110"/>
                    <a:pt x="0" y="470661"/>
                    <a:pt x="0" y="462706"/>
                  </a:cubicBezTo>
                  <a:lnTo>
                    <a:pt x="0" y="14404"/>
                  </a:lnTo>
                  <a:cubicBezTo>
                    <a:pt x="0" y="6449"/>
                    <a:pt x="6449" y="0"/>
                    <a:pt x="1440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ar-EG"/>
            </a:p>
          </p:txBody>
        </p:sp>
        <p:sp>
          <p:nvSpPr>
            <p:cNvPr id="61" name="TextBox 38">
              <a:extLst>
                <a:ext uri="{FF2B5EF4-FFF2-40B4-BE49-F238E27FC236}">
                  <a16:creationId xmlns:a16="http://schemas.microsoft.com/office/drawing/2014/main" id="{8CE91EA0-DEF3-1DF6-990D-8DBA0B32A842}"/>
                </a:ext>
              </a:extLst>
            </p:cNvPr>
            <p:cNvSpPr txBox="1"/>
            <p:nvPr/>
          </p:nvSpPr>
          <p:spPr>
            <a:xfrm>
              <a:off x="0" y="-47625"/>
              <a:ext cx="1415604" cy="52473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3" name="Group 23">
            <a:extLst>
              <a:ext uri="{FF2B5EF4-FFF2-40B4-BE49-F238E27FC236}">
                <a16:creationId xmlns:a16="http://schemas.microsoft.com/office/drawing/2014/main" id="{BBB91949-AD64-15AD-83E9-CC957AA18D66}"/>
              </a:ext>
            </a:extLst>
          </p:cNvPr>
          <p:cNvGrpSpPr/>
          <p:nvPr/>
        </p:nvGrpSpPr>
        <p:grpSpPr>
          <a:xfrm>
            <a:off x="11072989" y="2497459"/>
            <a:ext cx="6870031" cy="2094737"/>
            <a:chOff x="0" y="0"/>
            <a:chExt cx="1415604" cy="477110"/>
          </a:xfrm>
          <a:solidFill>
            <a:schemeClr val="bg1">
              <a:lumMod val="85000"/>
            </a:schemeClr>
          </a:solidFill>
        </p:grpSpPr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0E0F3D49-B5ED-8DF7-AC3C-961ED26D481B}"/>
                </a:ext>
              </a:extLst>
            </p:cNvPr>
            <p:cNvSpPr/>
            <p:nvPr/>
          </p:nvSpPr>
          <p:spPr>
            <a:xfrm>
              <a:off x="0" y="0"/>
              <a:ext cx="1415604" cy="477110"/>
            </a:xfrm>
            <a:custGeom>
              <a:avLst/>
              <a:gdLst/>
              <a:ahLst/>
              <a:cxnLst/>
              <a:rect l="l" t="t" r="r" b="b"/>
              <a:pathLst>
                <a:path w="1415604" h="477110">
                  <a:moveTo>
                    <a:pt x="14404" y="0"/>
                  </a:moveTo>
                  <a:lnTo>
                    <a:pt x="1401200" y="0"/>
                  </a:lnTo>
                  <a:cubicBezTo>
                    <a:pt x="1405020" y="0"/>
                    <a:pt x="1408684" y="1518"/>
                    <a:pt x="1411385" y="4219"/>
                  </a:cubicBezTo>
                  <a:cubicBezTo>
                    <a:pt x="1414086" y="6920"/>
                    <a:pt x="1415604" y="10584"/>
                    <a:pt x="1415604" y="14404"/>
                  </a:cubicBezTo>
                  <a:lnTo>
                    <a:pt x="1415604" y="462706"/>
                  </a:lnTo>
                  <a:cubicBezTo>
                    <a:pt x="1415604" y="466526"/>
                    <a:pt x="1414086" y="470190"/>
                    <a:pt x="1411385" y="472891"/>
                  </a:cubicBezTo>
                  <a:cubicBezTo>
                    <a:pt x="1408684" y="475593"/>
                    <a:pt x="1405020" y="477110"/>
                    <a:pt x="1401200" y="477110"/>
                  </a:cubicBezTo>
                  <a:lnTo>
                    <a:pt x="14404" y="477110"/>
                  </a:lnTo>
                  <a:cubicBezTo>
                    <a:pt x="6449" y="477110"/>
                    <a:pt x="0" y="470661"/>
                    <a:pt x="0" y="462706"/>
                  </a:cubicBezTo>
                  <a:lnTo>
                    <a:pt x="0" y="14404"/>
                  </a:lnTo>
                  <a:cubicBezTo>
                    <a:pt x="0" y="6449"/>
                    <a:pt x="6449" y="0"/>
                    <a:pt x="1440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ar-EG"/>
            </a:p>
          </p:txBody>
        </p:sp>
        <p:sp>
          <p:nvSpPr>
            <p:cNvPr id="55" name="TextBox 25">
              <a:extLst>
                <a:ext uri="{FF2B5EF4-FFF2-40B4-BE49-F238E27FC236}">
                  <a16:creationId xmlns:a16="http://schemas.microsoft.com/office/drawing/2014/main" id="{019D326F-0924-9B17-E006-6B5B4975100C}"/>
                </a:ext>
              </a:extLst>
            </p:cNvPr>
            <p:cNvSpPr txBox="1"/>
            <p:nvPr/>
          </p:nvSpPr>
          <p:spPr>
            <a:xfrm>
              <a:off x="0" y="-47625"/>
              <a:ext cx="1415604" cy="52473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" name="Freeform 3"/>
          <p:cNvSpPr/>
          <p:nvPr/>
        </p:nvSpPr>
        <p:spPr>
          <a:xfrm>
            <a:off x="3577104" y="4607334"/>
            <a:ext cx="7694878" cy="1410531"/>
          </a:xfrm>
          <a:custGeom>
            <a:avLst/>
            <a:gdLst/>
            <a:ahLst/>
            <a:cxnLst/>
            <a:rect l="l" t="t" r="r" b="b"/>
            <a:pathLst>
              <a:path w="2217036" h="406400">
                <a:moveTo>
                  <a:pt x="2013836" y="0"/>
                </a:moveTo>
                <a:lnTo>
                  <a:pt x="0" y="0"/>
                </a:lnTo>
                <a:lnTo>
                  <a:pt x="0" y="406400"/>
                </a:lnTo>
                <a:lnTo>
                  <a:pt x="2013836" y="406400"/>
                </a:lnTo>
                <a:lnTo>
                  <a:pt x="2217036" y="203200"/>
                </a:lnTo>
                <a:lnTo>
                  <a:pt x="2013836" y="0"/>
                </a:lnTo>
                <a:close/>
              </a:path>
            </a:pathLst>
          </a:custGeom>
          <a:solidFill>
            <a:srgbClr val="0FAF7F"/>
          </a:solidFill>
        </p:spPr>
        <p:txBody>
          <a:bodyPr/>
          <a:lstStyle/>
          <a:p>
            <a:endParaRPr lang="ar-EG" dirty="0"/>
          </a:p>
        </p:txBody>
      </p:sp>
      <p:grpSp>
        <p:nvGrpSpPr>
          <p:cNvPr id="5" name="Group 5"/>
          <p:cNvGrpSpPr/>
          <p:nvPr/>
        </p:nvGrpSpPr>
        <p:grpSpPr>
          <a:xfrm>
            <a:off x="3577104" y="3196803"/>
            <a:ext cx="5544080" cy="1299761"/>
            <a:chOff x="0" y="0"/>
            <a:chExt cx="1445080" cy="338786"/>
          </a:xfrm>
          <a:solidFill>
            <a:srgbClr val="336FA8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1445080" cy="338786"/>
            </a:xfrm>
            <a:custGeom>
              <a:avLst/>
              <a:gdLst/>
              <a:ahLst/>
              <a:cxnLst/>
              <a:rect l="l" t="t" r="r" b="b"/>
              <a:pathLst>
                <a:path w="1445080" h="338786">
                  <a:moveTo>
                    <a:pt x="0" y="0"/>
                  </a:moveTo>
                  <a:lnTo>
                    <a:pt x="1445080" y="0"/>
                  </a:lnTo>
                  <a:lnTo>
                    <a:pt x="1445080" y="338786"/>
                  </a:lnTo>
                  <a:lnTo>
                    <a:pt x="0" y="33878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445080" cy="357836"/>
            </a:xfrm>
            <a:prstGeom prst="rect">
              <a:avLst/>
            </a:prstGeom>
            <a:grpFill/>
          </p:spPr>
          <p:txBody>
            <a:bodyPr lIns="43615" tIns="43615" rIns="43615" bIns="43615" rtlCol="0" anchor="ctr"/>
            <a:lstStyle/>
            <a:p>
              <a:pPr marL="0" lvl="0" indent="0" algn="ctr">
                <a:lnSpc>
                  <a:spcPts val="216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676749" y="2572115"/>
            <a:ext cx="1842558" cy="1924449"/>
          </a:xfrm>
          <a:custGeom>
            <a:avLst/>
            <a:gdLst/>
            <a:ahLst/>
            <a:cxnLst/>
            <a:rect l="l" t="t" r="r" b="b"/>
            <a:pathLst>
              <a:path w="571500" h="596900">
                <a:moveTo>
                  <a:pt x="571500" y="596900"/>
                </a:moveTo>
                <a:lnTo>
                  <a:pt x="0" y="596900"/>
                </a:lnTo>
                <a:lnTo>
                  <a:pt x="0" y="0"/>
                </a:lnTo>
                <a:lnTo>
                  <a:pt x="571500" y="596900"/>
                </a:lnTo>
                <a:close/>
              </a:path>
            </a:pathLst>
          </a:custGeom>
          <a:solidFill>
            <a:srgbClr val="336FA8"/>
          </a:solidFill>
        </p:spPr>
        <p:txBody>
          <a:bodyPr/>
          <a:lstStyle/>
          <a:p>
            <a:endParaRPr lang="ar-EG"/>
          </a:p>
        </p:txBody>
      </p:sp>
      <p:grpSp>
        <p:nvGrpSpPr>
          <p:cNvPr id="11" name="Group 11"/>
          <p:cNvGrpSpPr/>
          <p:nvPr/>
        </p:nvGrpSpPr>
        <p:grpSpPr>
          <a:xfrm>
            <a:off x="3577104" y="6197002"/>
            <a:ext cx="5544080" cy="1299761"/>
            <a:chOff x="0" y="0"/>
            <a:chExt cx="1445080" cy="338786"/>
          </a:xfrm>
          <a:solidFill>
            <a:srgbClr val="E6BF1A"/>
          </a:solidFill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5080" cy="338786"/>
            </a:xfrm>
            <a:custGeom>
              <a:avLst/>
              <a:gdLst/>
              <a:ahLst/>
              <a:cxnLst/>
              <a:rect l="l" t="t" r="r" b="b"/>
              <a:pathLst>
                <a:path w="1445080" h="338786">
                  <a:moveTo>
                    <a:pt x="0" y="0"/>
                  </a:moveTo>
                  <a:lnTo>
                    <a:pt x="1445080" y="0"/>
                  </a:lnTo>
                  <a:lnTo>
                    <a:pt x="1445080" y="338786"/>
                  </a:lnTo>
                  <a:lnTo>
                    <a:pt x="0" y="33878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445080" cy="357836"/>
            </a:xfrm>
            <a:prstGeom prst="rect">
              <a:avLst/>
            </a:prstGeom>
            <a:grpFill/>
          </p:spPr>
          <p:txBody>
            <a:bodyPr lIns="43615" tIns="43615" rIns="43615" bIns="43615" rtlCol="0" anchor="ctr"/>
            <a:lstStyle/>
            <a:p>
              <a:pPr marL="0" lvl="0" indent="0" algn="ctr">
                <a:lnSpc>
                  <a:spcPts val="216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5400000">
            <a:off x="8715953" y="6083345"/>
            <a:ext cx="1764151" cy="1842558"/>
          </a:xfrm>
          <a:custGeom>
            <a:avLst/>
            <a:gdLst/>
            <a:ahLst/>
            <a:cxnLst/>
            <a:rect l="l" t="t" r="r" b="b"/>
            <a:pathLst>
              <a:path w="571500" h="596900">
                <a:moveTo>
                  <a:pt x="571500" y="596900"/>
                </a:moveTo>
                <a:lnTo>
                  <a:pt x="0" y="596900"/>
                </a:lnTo>
                <a:lnTo>
                  <a:pt x="0" y="0"/>
                </a:lnTo>
                <a:lnTo>
                  <a:pt x="571500" y="596900"/>
                </a:lnTo>
                <a:close/>
              </a:path>
            </a:pathLst>
          </a:custGeom>
          <a:solidFill>
            <a:srgbClr val="E6BF1A"/>
          </a:solidFill>
        </p:spPr>
        <p:txBody>
          <a:bodyPr/>
          <a:lstStyle/>
          <a:p>
            <a:endParaRPr lang="ar-E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99571" y="2445485"/>
            <a:ext cx="5454107" cy="5447290"/>
          </a:xfrm>
          <a:custGeom>
            <a:avLst/>
            <a:gdLst/>
            <a:ahLst/>
            <a:cxnLst/>
            <a:rect l="l" t="t" r="r" b="b"/>
            <a:pathLst>
              <a:path w="5454107" h="5447290">
                <a:moveTo>
                  <a:pt x="0" y="0"/>
                </a:moveTo>
                <a:lnTo>
                  <a:pt x="5454107" y="0"/>
                </a:lnTo>
                <a:lnTo>
                  <a:pt x="5454107" y="5447290"/>
                </a:lnTo>
                <a:lnTo>
                  <a:pt x="0" y="5447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18" name="Group 18"/>
          <p:cNvGrpSpPr/>
          <p:nvPr/>
        </p:nvGrpSpPr>
        <p:grpSpPr>
          <a:xfrm>
            <a:off x="832393" y="3052712"/>
            <a:ext cx="4563933" cy="456393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2930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4000" dirty="0">
                  <a:solidFill>
                    <a:srgbClr val="336FA8"/>
                  </a:solidFill>
                  <a:latin typeface="Bricolage Grotesque 36"/>
                  <a:sym typeface="TT Hoves Bold"/>
                </a:rPr>
                <a:t>Strategic Discoveries from Data Analysis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0616344" y="3708437"/>
            <a:ext cx="5374871" cy="354598"/>
          </a:xfrm>
          <a:custGeom>
            <a:avLst/>
            <a:gdLst/>
            <a:ahLst/>
            <a:cxnLst/>
            <a:rect l="l" t="t" r="r" b="b"/>
            <a:pathLst>
              <a:path w="5374871" h="354598">
                <a:moveTo>
                  <a:pt x="0" y="0"/>
                </a:moveTo>
                <a:lnTo>
                  <a:pt x="5374870" y="0"/>
                </a:lnTo>
                <a:lnTo>
                  <a:pt x="5374870" y="354599"/>
                </a:lnTo>
                <a:lnTo>
                  <a:pt x="0" y="354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</a:blip>
            <a:stretch>
              <a:fillRect t="-73623"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2" name="Freeform 22"/>
          <p:cNvSpPr/>
          <p:nvPr/>
        </p:nvSpPr>
        <p:spPr>
          <a:xfrm>
            <a:off x="11934323" y="6137466"/>
            <a:ext cx="5374871" cy="354598"/>
          </a:xfrm>
          <a:custGeom>
            <a:avLst/>
            <a:gdLst/>
            <a:ahLst/>
            <a:cxnLst/>
            <a:rect l="l" t="t" r="r" b="b"/>
            <a:pathLst>
              <a:path w="5374871" h="354598">
                <a:moveTo>
                  <a:pt x="0" y="0"/>
                </a:moveTo>
                <a:lnTo>
                  <a:pt x="5374871" y="0"/>
                </a:lnTo>
                <a:lnTo>
                  <a:pt x="5374871" y="354598"/>
                </a:lnTo>
                <a:lnTo>
                  <a:pt x="0" y="3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</a:blip>
            <a:stretch>
              <a:fillRect t="-73623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23" name="Group 23"/>
          <p:cNvGrpSpPr/>
          <p:nvPr/>
        </p:nvGrpSpPr>
        <p:grpSpPr>
          <a:xfrm>
            <a:off x="10396891" y="1943100"/>
            <a:ext cx="7052909" cy="1909383"/>
            <a:chOff x="0" y="0"/>
            <a:chExt cx="1415604" cy="47711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15604" cy="477110"/>
            </a:xfrm>
            <a:custGeom>
              <a:avLst/>
              <a:gdLst/>
              <a:ahLst/>
              <a:cxnLst/>
              <a:rect l="l" t="t" r="r" b="b"/>
              <a:pathLst>
                <a:path w="1415604" h="477110">
                  <a:moveTo>
                    <a:pt x="14404" y="0"/>
                  </a:moveTo>
                  <a:lnTo>
                    <a:pt x="1401200" y="0"/>
                  </a:lnTo>
                  <a:cubicBezTo>
                    <a:pt x="1405020" y="0"/>
                    <a:pt x="1408684" y="1518"/>
                    <a:pt x="1411385" y="4219"/>
                  </a:cubicBezTo>
                  <a:cubicBezTo>
                    <a:pt x="1414086" y="6920"/>
                    <a:pt x="1415604" y="10584"/>
                    <a:pt x="1415604" y="14404"/>
                  </a:cubicBezTo>
                  <a:lnTo>
                    <a:pt x="1415604" y="462706"/>
                  </a:lnTo>
                  <a:cubicBezTo>
                    <a:pt x="1415604" y="466526"/>
                    <a:pt x="1414086" y="470190"/>
                    <a:pt x="1411385" y="472891"/>
                  </a:cubicBezTo>
                  <a:cubicBezTo>
                    <a:pt x="1408684" y="475593"/>
                    <a:pt x="1405020" y="477110"/>
                    <a:pt x="1401200" y="477110"/>
                  </a:cubicBezTo>
                  <a:lnTo>
                    <a:pt x="14404" y="477110"/>
                  </a:lnTo>
                  <a:cubicBezTo>
                    <a:pt x="6449" y="477110"/>
                    <a:pt x="0" y="470661"/>
                    <a:pt x="0" y="462706"/>
                  </a:cubicBezTo>
                  <a:lnTo>
                    <a:pt x="0" y="14404"/>
                  </a:lnTo>
                  <a:cubicBezTo>
                    <a:pt x="0" y="6449"/>
                    <a:pt x="6449" y="0"/>
                    <a:pt x="1440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415604" cy="524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0134600" y="2586573"/>
            <a:ext cx="524581" cy="524581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36FA8"/>
          </a:solidFill>
        </p:spPr>
        <p:txBody>
          <a:bodyPr anchor="ctr"/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1</a:t>
            </a:r>
            <a:endParaRPr lang="ar-EG" sz="2400" dirty="0">
              <a:solidFill>
                <a:schemeClr val="tx1">
                  <a:lumMod val="75000"/>
                  <a:lumOff val="25000"/>
                </a:schemeClr>
              </a:solidFill>
              <a:latin typeface="Bricolage Grotesque 36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9407929" y="7447090"/>
            <a:ext cx="7694878" cy="1541485"/>
            <a:chOff x="0" y="0"/>
            <a:chExt cx="1415604" cy="47711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15604" cy="477110"/>
            </a:xfrm>
            <a:custGeom>
              <a:avLst/>
              <a:gdLst/>
              <a:ahLst/>
              <a:cxnLst/>
              <a:rect l="l" t="t" r="r" b="b"/>
              <a:pathLst>
                <a:path w="1415604" h="477110">
                  <a:moveTo>
                    <a:pt x="14404" y="0"/>
                  </a:moveTo>
                  <a:lnTo>
                    <a:pt x="1401200" y="0"/>
                  </a:lnTo>
                  <a:cubicBezTo>
                    <a:pt x="1405020" y="0"/>
                    <a:pt x="1408684" y="1518"/>
                    <a:pt x="1411385" y="4219"/>
                  </a:cubicBezTo>
                  <a:cubicBezTo>
                    <a:pt x="1414086" y="6920"/>
                    <a:pt x="1415604" y="10584"/>
                    <a:pt x="1415604" y="14404"/>
                  </a:cubicBezTo>
                  <a:lnTo>
                    <a:pt x="1415604" y="462706"/>
                  </a:lnTo>
                  <a:cubicBezTo>
                    <a:pt x="1415604" y="466526"/>
                    <a:pt x="1414086" y="470190"/>
                    <a:pt x="1411385" y="472891"/>
                  </a:cubicBezTo>
                  <a:cubicBezTo>
                    <a:pt x="1408684" y="475593"/>
                    <a:pt x="1405020" y="477110"/>
                    <a:pt x="1401200" y="477110"/>
                  </a:cubicBezTo>
                  <a:lnTo>
                    <a:pt x="14404" y="477110"/>
                  </a:lnTo>
                  <a:cubicBezTo>
                    <a:pt x="6449" y="477110"/>
                    <a:pt x="0" y="470661"/>
                    <a:pt x="0" y="462706"/>
                  </a:cubicBezTo>
                  <a:lnTo>
                    <a:pt x="0" y="14404"/>
                  </a:lnTo>
                  <a:cubicBezTo>
                    <a:pt x="0" y="6449"/>
                    <a:pt x="6449" y="0"/>
                    <a:pt x="1440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415604" cy="524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9145638" y="7920573"/>
            <a:ext cx="524581" cy="524581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6BF1A"/>
          </a:solidFill>
        </p:spPr>
        <p:txBody>
          <a:bodyPr anchor="ctr"/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3</a:t>
            </a:r>
            <a:endParaRPr lang="ar-EG" sz="2400" dirty="0">
              <a:solidFill>
                <a:schemeClr val="tx1">
                  <a:lumMod val="75000"/>
                  <a:lumOff val="25000"/>
                </a:schemeClr>
              </a:solidFill>
              <a:latin typeface="Bricolage Grotesque 36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11463690" y="4884102"/>
            <a:ext cx="6138510" cy="1562562"/>
            <a:chOff x="0" y="0"/>
            <a:chExt cx="1415604" cy="47711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15604" cy="477110"/>
            </a:xfrm>
            <a:custGeom>
              <a:avLst/>
              <a:gdLst/>
              <a:ahLst/>
              <a:cxnLst/>
              <a:rect l="l" t="t" r="r" b="b"/>
              <a:pathLst>
                <a:path w="1415604" h="477110">
                  <a:moveTo>
                    <a:pt x="14404" y="0"/>
                  </a:moveTo>
                  <a:lnTo>
                    <a:pt x="1401200" y="0"/>
                  </a:lnTo>
                  <a:cubicBezTo>
                    <a:pt x="1405020" y="0"/>
                    <a:pt x="1408684" y="1518"/>
                    <a:pt x="1411385" y="4219"/>
                  </a:cubicBezTo>
                  <a:cubicBezTo>
                    <a:pt x="1414086" y="6920"/>
                    <a:pt x="1415604" y="10584"/>
                    <a:pt x="1415604" y="14404"/>
                  </a:cubicBezTo>
                  <a:lnTo>
                    <a:pt x="1415604" y="462706"/>
                  </a:lnTo>
                  <a:cubicBezTo>
                    <a:pt x="1415604" y="466526"/>
                    <a:pt x="1414086" y="470190"/>
                    <a:pt x="1411385" y="472891"/>
                  </a:cubicBezTo>
                  <a:cubicBezTo>
                    <a:pt x="1408684" y="475593"/>
                    <a:pt x="1405020" y="477110"/>
                    <a:pt x="1401200" y="477110"/>
                  </a:cubicBezTo>
                  <a:lnTo>
                    <a:pt x="14404" y="477110"/>
                  </a:lnTo>
                  <a:cubicBezTo>
                    <a:pt x="6449" y="477110"/>
                    <a:pt x="0" y="470661"/>
                    <a:pt x="0" y="462706"/>
                  </a:cubicBezTo>
                  <a:lnTo>
                    <a:pt x="0" y="14404"/>
                  </a:lnTo>
                  <a:cubicBezTo>
                    <a:pt x="0" y="6449"/>
                    <a:pt x="6449" y="0"/>
                    <a:pt x="1440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415604" cy="524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1201400" y="5527575"/>
            <a:ext cx="524581" cy="524581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FAF7F"/>
          </a:solidFill>
        </p:spPr>
        <p:txBody>
          <a:bodyPr anchor="ctr"/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2</a:t>
            </a:r>
            <a:endParaRPr lang="ar-EG" sz="2400" dirty="0">
              <a:solidFill>
                <a:schemeClr val="tx1">
                  <a:lumMod val="75000"/>
                  <a:lumOff val="25000"/>
                </a:schemeClr>
              </a:solidFill>
              <a:latin typeface="Bricolage Grotesque 36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281278" y="3639992"/>
            <a:ext cx="394984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Regional Profitability Leaders</a:t>
            </a:r>
            <a:endParaRPr lang="ar-EG" sz="2400" dirty="0">
              <a:solidFill>
                <a:schemeClr val="tx1">
                  <a:lumMod val="75000"/>
                  <a:lumOff val="25000"/>
                </a:schemeClr>
              </a:solidFill>
              <a:latin typeface="Bricolage Grotesque 36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065494" y="6640190"/>
            <a:ext cx="3708196" cy="362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  <a:sym typeface="TT Hoves Bold"/>
              </a:rPr>
              <a:t>Customer Loyalty Metrics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50605" y="5128394"/>
            <a:ext cx="423054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Category Performance Gaps</a:t>
            </a:r>
            <a:endParaRPr lang="ar-EG" sz="2400" dirty="0">
              <a:solidFill>
                <a:schemeClr val="tx1">
                  <a:lumMod val="75000"/>
                  <a:lumOff val="25000"/>
                </a:schemeClr>
              </a:solidFill>
              <a:latin typeface="Bricolage Grotesque 36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0775268" y="2081344"/>
            <a:ext cx="667453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Identified top-performing states and regions with the highest total profit. Certain geographic areas significantly outperform others, indicating strong market potential.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786306" y="7736225"/>
            <a:ext cx="7316501" cy="858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  <a:sym typeface="TT Hoves"/>
              </a:rPr>
              <a:t>Analyzed repeat customer rates and average revenue per customer. Understanding customer lifetime value reveals retention opportunities.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925184" y="5122998"/>
            <a:ext cx="5677015" cy="1141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  <a:sym typeface="TT Hoves"/>
              </a:rPr>
              <a:t>Pinpointed product categories with low profit margins and underperforming sales. Some categories are generating volume but not profitability.</a:t>
            </a:r>
          </a:p>
        </p:txBody>
      </p:sp>
      <p:sp>
        <p:nvSpPr>
          <p:cNvPr id="52" name="TextBox 56">
            <a:extLst>
              <a:ext uri="{FF2B5EF4-FFF2-40B4-BE49-F238E27FC236}">
                <a16:creationId xmlns:a16="http://schemas.microsoft.com/office/drawing/2014/main" id="{5DC52D2C-98FE-6750-9628-624EAACBA919}"/>
              </a:ext>
            </a:extLst>
          </p:cNvPr>
          <p:cNvSpPr txBox="1"/>
          <p:nvPr/>
        </p:nvSpPr>
        <p:spPr>
          <a:xfrm>
            <a:off x="1126549" y="793363"/>
            <a:ext cx="17309194" cy="77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  <a:sym typeface="Montserrat Ultra-Bold"/>
              </a:rPr>
              <a:t>Key Findings &amp; Actionable Business Insights</a:t>
            </a:r>
          </a:p>
        </p:txBody>
      </p:sp>
      <p:sp>
        <p:nvSpPr>
          <p:cNvPr id="65" name="TextBox 45">
            <a:extLst>
              <a:ext uri="{FF2B5EF4-FFF2-40B4-BE49-F238E27FC236}">
                <a16:creationId xmlns:a16="http://schemas.microsoft.com/office/drawing/2014/main" id="{530D15D2-5A88-F95E-1474-DC1A797AF54A}"/>
              </a:ext>
            </a:extLst>
          </p:cNvPr>
          <p:cNvSpPr txBox="1"/>
          <p:nvPr/>
        </p:nvSpPr>
        <p:spPr>
          <a:xfrm>
            <a:off x="11217658" y="3903702"/>
            <a:ext cx="6725362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i="1" dirty="0">
                <a:solidFill>
                  <a:srgbClr val="336FA8"/>
                </a:solidFill>
                <a:latin typeface="Bricolage Grotesque 36"/>
              </a:rPr>
              <a:t>Action: </a:t>
            </a:r>
            <a:r>
              <a:rPr lang="en-US" dirty="0">
                <a:solidFill>
                  <a:srgbClr val="336FA8"/>
                </a:solidFill>
                <a:latin typeface="Bricolage Grotesque 36"/>
              </a:rPr>
              <a:t>Allocate more resources and inventory to high-performing regions to maximize returns.</a:t>
            </a:r>
          </a:p>
        </p:txBody>
      </p:sp>
      <p:sp>
        <p:nvSpPr>
          <p:cNvPr id="66" name="TextBox 45">
            <a:extLst>
              <a:ext uri="{FF2B5EF4-FFF2-40B4-BE49-F238E27FC236}">
                <a16:creationId xmlns:a16="http://schemas.microsoft.com/office/drawing/2014/main" id="{4CB944F2-2B1F-3D64-4ED9-7E5122E26424}"/>
              </a:ext>
            </a:extLst>
          </p:cNvPr>
          <p:cNvSpPr txBox="1"/>
          <p:nvPr/>
        </p:nvSpPr>
        <p:spPr>
          <a:xfrm>
            <a:off x="11943638" y="6522630"/>
            <a:ext cx="606720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i="1" dirty="0">
                <a:solidFill>
                  <a:srgbClr val="0FAF7F"/>
                </a:solidFill>
                <a:latin typeface="Bricolage Grotesque 36"/>
              </a:rPr>
              <a:t>Action</a:t>
            </a:r>
            <a:r>
              <a:rPr lang="en-US" dirty="0">
                <a:solidFill>
                  <a:srgbClr val="0FAF7F"/>
                </a:solidFill>
                <a:latin typeface="Bricolage Grotesque 36"/>
              </a:rPr>
              <a:t>: Adjust pricing strategies or reduce costs for low-margin categories to improve profitability.</a:t>
            </a:r>
          </a:p>
        </p:txBody>
      </p:sp>
      <p:sp>
        <p:nvSpPr>
          <p:cNvPr id="67" name="TextBox 45">
            <a:extLst>
              <a:ext uri="{FF2B5EF4-FFF2-40B4-BE49-F238E27FC236}">
                <a16:creationId xmlns:a16="http://schemas.microsoft.com/office/drawing/2014/main" id="{92D71F90-A768-FD9F-2C00-C476CDDC537A}"/>
              </a:ext>
            </a:extLst>
          </p:cNvPr>
          <p:cNvSpPr txBox="1"/>
          <p:nvPr/>
        </p:nvSpPr>
        <p:spPr>
          <a:xfrm>
            <a:off x="10134600" y="9085302"/>
            <a:ext cx="7463311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i="1" dirty="0">
                <a:solidFill>
                  <a:srgbClr val="E6BF1A"/>
                </a:solidFill>
                <a:latin typeface="Bricolage Grotesque 36"/>
              </a:rPr>
              <a:t>Action: </a:t>
            </a:r>
            <a:r>
              <a:rPr lang="en-US" dirty="0">
                <a:solidFill>
                  <a:srgbClr val="E6BF1A"/>
                </a:solidFill>
                <a:latin typeface="Bricolage Grotesque 36"/>
              </a:rPr>
              <a:t>Develop targeted loyalty programs to increase repeat purchases and customer lifetime value.</a:t>
            </a:r>
          </a:p>
        </p:txBody>
      </p:sp>
      <p:sp>
        <p:nvSpPr>
          <p:cNvPr id="68" name="Freeform 29">
            <a:extLst>
              <a:ext uri="{FF2B5EF4-FFF2-40B4-BE49-F238E27FC236}">
                <a16:creationId xmlns:a16="http://schemas.microsoft.com/office/drawing/2014/main" id="{682AFFB6-41A1-6646-AB5A-FCFC879ED38C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69" name="Group 30">
            <a:extLst>
              <a:ext uri="{FF2B5EF4-FFF2-40B4-BE49-F238E27FC236}">
                <a16:creationId xmlns:a16="http://schemas.microsoft.com/office/drawing/2014/main" id="{716B63A0-0BBD-685D-6824-3FDBD7B1F3E1}"/>
              </a:ext>
            </a:extLst>
          </p:cNvPr>
          <p:cNvGrpSpPr/>
          <p:nvPr/>
        </p:nvGrpSpPr>
        <p:grpSpPr>
          <a:xfrm>
            <a:off x="506584" y="8166534"/>
            <a:ext cx="8327795" cy="1541485"/>
            <a:chOff x="0" y="0"/>
            <a:chExt cx="1415604" cy="477110"/>
          </a:xfrm>
        </p:grpSpPr>
        <p:sp>
          <p:nvSpPr>
            <p:cNvPr id="70" name="Freeform 31">
              <a:extLst>
                <a:ext uri="{FF2B5EF4-FFF2-40B4-BE49-F238E27FC236}">
                  <a16:creationId xmlns:a16="http://schemas.microsoft.com/office/drawing/2014/main" id="{F3A0F280-2DE7-CEFF-1861-68F176D4F47D}"/>
                </a:ext>
              </a:extLst>
            </p:cNvPr>
            <p:cNvSpPr/>
            <p:nvPr/>
          </p:nvSpPr>
          <p:spPr>
            <a:xfrm>
              <a:off x="0" y="0"/>
              <a:ext cx="1415604" cy="477110"/>
            </a:xfrm>
            <a:custGeom>
              <a:avLst/>
              <a:gdLst/>
              <a:ahLst/>
              <a:cxnLst/>
              <a:rect l="l" t="t" r="r" b="b"/>
              <a:pathLst>
                <a:path w="1415604" h="477110">
                  <a:moveTo>
                    <a:pt x="14404" y="0"/>
                  </a:moveTo>
                  <a:lnTo>
                    <a:pt x="1401200" y="0"/>
                  </a:lnTo>
                  <a:cubicBezTo>
                    <a:pt x="1405020" y="0"/>
                    <a:pt x="1408684" y="1518"/>
                    <a:pt x="1411385" y="4219"/>
                  </a:cubicBezTo>
                  <a:cubicBezTo>
                    <a:pt x="1414086" y="6920"/>
                    <a:pt x="1415604" y="10584"/>
                    <a:pt x="1415604" y="14404"/>
                  </a:cubicBezTo>
                  <a:lnTo>
                    <a:pt x="1415604" y="462706"/>
                  </a:lnTo>
                  <a:cubicBezTo>
                    <a:pt x="1415604" y="466526"/>
                    <a:pt x="1414086" y="470190"/>
                    <a:pt x="1411385" y="472891"/>
                  </a:cubicBezTo>
                  <a:cubicBezTo>
                    <a:pt x="1408684" y="475593"/>
                    <a:pt x="1405020" y="477110"/>
                    <a:pt x="1401200" y="477110"/>
                  </a:cubicBezTo>
                  <a:lnTo>
                    <a:pt x="14404" y="477110"/>
                  </a:lnTo>
                  <a:cubicBezTo>
                    <a:pt x="6449" y="477110"/>
                    <a:pt x="0" y="470661"/>
                    <a:pt x="0" y="462706"/>
                  </a:cubicBezTo>
                  <a:lnTo>
                    <a:pt x="0" y="14404"/>
                  </a:lnTo>
                  <a:cubicBezTo>
                    <a:pt x="0" y="6449"/>
                    <a:pt x="6449" y="0"/>
                    <a:pt x="1440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1" name="TextBox 32">
              <a:extLst>
                <a:ext uri="{FF2B5EF4-FFF2-40B4-BE49-F238E27FC236}">
                  <a16:creationId xmlns:a16="http://schemas.microsoft.com/office/drawing/2014/main" id="{14017324-75E0-7EE8-A83A-5A9A6D6C1BAA}"/>
                </a:ext>
              </a:extLst>
            </p:cNvPr>
            <p:cNvSpPr txBox="1"/>
            <p:nvPr/>
          </p:nvSpPr>
          <p:spPr>
            <a:xfrm>
              <a:off x="0" y="-47625"/>
              <a:ext cx="1415604" cy="524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2" name="Shape 12">
            <a:extLst>
              <a:ext uri="{FF2B5EF4-FFF2-40B4-BE49-F238E27FC236}">
                <a16:creationId xmlns:a16="http://schemas.microsoft.com/office/drawing/2014/main" id="{0412665D-24C7-3DB4-A14B-F71235542BBE}"/>
              </a:ext>
            </a:extLst>
          </p:cNvPr>
          <p:cNvSpPr/>
          <p:nvPr/>
        </p:nvSpPr>
        <p:spPr>
          <a:xfrm>
            <a:off x="506584" y="8181362"/>
            <a:ext cx="8352279" cy="45719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3" name="TextBox 46">
            <a:extLst>
              <a:ext uri="{FF2B5EF4-FFF2-40B4-BE49-F238E27FC236}">
                <a16:creationId xmlns:a16="http://schemas.microsoft.com/office/drawing/2014/main" id="{F02C576E-EBBA-9E04-A277-274F6B87C16A}"/>
              </a:ext>
            </a:extLst>
          </p:cNvPr>
          <p:cNvSpPr txBox="1"/>
          <p:nvPr/>
        </p:nvSpPr>
        <p:spPr>
          <a:xfrm>
            <a:off x="690089" y="8395780"/>
            <a:ext cx="8072715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  <a:sym typeface="TT Hoves"/>
              </a:rPr>
              <a:t>These findings directly guide strategic decision-making, enabling managers to reallocate inventory, adjust pricing, and develop customer retention strategies with data-driven confidence.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Freeform 2">
            <a:extLst>
              <a:ext uri="{FF2B5EF4-FFF2-40B4-BE49-F238E27FC236}">
                <a16:creationId xmlns:a16="http://schemas.microsoft.com/office/drawing/2014/main" id="{0729E3E3-6DA0-843F-F39E-9B352B5C2E5B}"/>
              </a:ext>
            </a:extLst>
          </p:cNvPr>
          <p:cNvSpPr/>
          <p:nvPr/>
        </p:nvSpPr>
        <p:spPr>
          <a:xfrm>
            <a:off x="-559560" y="-419100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2" r="-2112"/>
            </a:stretch>
          </a:blipFill>
        </p:spPr>
        <p:txBody>
          <a:bodyPr/>
          <a:lstStyle/>
          <a:p>
            <a:endParaRPr lang="ar-EG" sz="2400"/>
          </a:p>
        </p:txBody>
      </p:sp>
      <p:sp>
        <p:nvSpPr>
          <p:cNvPr id="7" name="AutoShape 7"/>
          <p:cNvSpPr/>
          <p:nvPr/>
        </p:nvSpPr>
        <p:spPr>
          <a:xfrm flipV="1">
            <a:off x="2409825" y="3541406"/>
            <a:ext cx="0" cy="1774230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20" name="AutoShape 20"/>
          <p:cNvSpPr/>
          <p:nvPr/>
        </p:nvSpPr>
        <p:spPr>
          <a:xfrm flipV="1">
            <a:off x="6657975" y="3541406"/>
            <a:ext cx="0" cy="1774230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30" name="AutoShape 30"/>
          <p:cNvSpPr/>
          <p:nvPr/>
        </p:nvSpPr>
        <p:spPr>
          <a:xfrm flipV="1">
            <a:off x="11687175" y="3541406"/>
            <a:ext cx="0" cy="1774230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46" name="AutoShape 46"/>
          <p:cNvSpPr/>
          <p:nvPr/>
        </p:nvSpPr>
        <p:spPr>
          <a:xfrm flipV="1">
            <a:off x="16049625" y="3541406"/>
            <a:ext cx="0" cy="1774230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106" name="Freeform 44">
            <a:extLst>
              <a:ext uri="{FF2B5EF4-FFF2-40B4-BE49-F238E27FC236}">
                <a16:creationId xmlns:a16="http://schemas.microsoft.com/office/drawing/2014/main" id="{1317BB1C-97FA-7E88-5324-FDB48DD0F4A1}"/>
              </a:ext>
            </a:extLst>
          </p:cNvPr>
          <p:cNvSpPr/>
          <p:nvPr/>
        </p:nvSpPr>
        <p:spPr>
          <a:xfrm>
            <a:off x="14859000" y="5495181"/>
            <a:ext cx="2381250" cy="3477327"/>
          </a:xfrm>
          <a:custGeom>
            <a:avLst/>
            <a:gdLst/>
            <a:ahLst/>
            <a:cxnLst/>
            <a:rect l="l" t="t" r="r" b="b"/>
            <a:pathLst>
              <a:path w="686632" h="1257787">
                <a:moveTo>
                  <a:pt x="146304" y="0"/>
                </a:moveTo>
                <a:lnTo>
                  <a:pt x="540328" y="0"/>
                </a:lnTo>
                <a:cubicBezTo>
                  <a:pt x="579130" y="0"/>
                  <a:pt x="616343" y="15414"/>
                  <a:pt x="643781" y="42851"/>
                </a:cubicBezTo>
                <a:cubicBezTo>
                  <a:pt x="671218" y="70289"/>
                  <a:pt x="686632" y="107502"/>
                  <a:pt x="686632" y="146304"/>
                </a:cubicBezTo>
                <a:lnTo>
                  <a:pt x="686632" y="1111483"/>
                </a:lnTo>
                <a:cubicBezTo>
                  <a:pt x="686632" y="1150286"/>
                  <a:pt x="671218" y="1187499"/>
                  <a:pt x="643781" y="1214936"/>
                </a:cubicBezTo>
                <a:cubicBezTo>
                  <a:pt x="616343" y="1242373"/>
                  <a:pt x="579130" y="1257787"/>
                  <a:pt x="540328" y="1257787"/>
                </a:cubicBezTo>
                <a:lnTo>
                  <a:pt x="146304" y="1257787"/>
                </a:lnTo>
                <a:cubicBezTo>
                  <a:pt x="65503" y="1257787"/>
                  <a:pt x="0" y="1192285"/>
                  <a:pt x="0" y="1111483"/>
                </a:cubicBezTo>
                <a:lnTo>
                  <a:pt x="0" y="146304"/>
                </a:lnTo>
                <a:cubicBezTo>
                  <a:pt x="0" y="65503"/>
                  <a:pt x="65503" y="0"/>
                  <a:pt x="146304" y="0"/>
                </a:cubicBezTo>
                <a:close/>
              </a:path>
            </a:pathLst>
          </a:custGeom>
          <a:solidFill>
            <a:srgbClr val="DDA707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03" name="Freeform 32">
            <a:extLst>
              <a:ext uri="{FF2B5EF4-FFF2-40B4-BE49-F238E27FC236}">
                <a16:creationId xmlns:a16="http://schemas.microsoft.com/office/drawing/2014/main" id="{B9EC527D-AC3E-3B50-06DD-49E1327FA1D2}"/>
              </a:ext>
            </a:extLst>
          </p:cNvPr>
          <p:cNvSpPr/>
          <p:nvPr/>
        </p:nvSpPr>
        <p:spPr>
          <a:xfrm>
            <a:off x="10496550" y="5495182"/>
            <a:ext cx="2381250" cy="3477327"/>
          </a:xfrm>
          <a:custGeom>
            <a:avLst/>
            <a:gdLst/>
            <a:ahLst/>
            <a:cxnLst/>
            <a:rect l="l" t="t" r="r" b="b"/>
            <a:pathLst>
              <a:path w="686632" h="1257787">
                <a:moveTo>
                  <a:pt x="146304" y="0"/>
                </a:moveTo>
                <a:lnTo>
                  <a:pt x="540328" y="0"/>
                </a:lnTo>
                <a:cubicBezTo>
                  <a:pt x="579130" y="0"/>
                  <a:pt x="616343" y="15414"/>
                  <a:pt x="643781" y="42851"/>
                </a:cubicBezTo>
                <a:cubicBezTo>
                  <a:pt x="671218" y="70289"/>
                  <a:pt x="686632" y="107502"/>
                  <a:pt x="686632" y="146304"/>
                </a:cubicBezTo>
                <a:lnTo>
                  <a:pt x="686632" y="1111483"/>
                </a:lnTo>
                <a:cubicBezTo>
                  <a:pt x="686632" y="1150286"/>
                  <a:pt x="671218" y="1187499"/>
                  <a:pt x="643781" y="1214936"/>
                </a:cubicBezTo>
                <a:cubicBezTo>
                  <a:pt x="616343" y="1242373"/>
                  <a:pt x="579130" y="1257787"/>
                  <a:pt x="540328" y="1257787"/>
                </a:cubicBezTo>
                <a:lnTo>
                  <a:pt x="146304" y="1257787"/>
                </a:lnTo>
                <a:cubicBezTo>
                  <a:pt x="65503" y="1257787"/>
                  <a:pt x="0" y="1192285"/>
                  <a:pt x="0" y="1111483"/>
                </a:cubicBezTo>
                <a:lnTo>
                  <a:pt x="0" y="146304"/>
                </a:lnTo>
                <a:cubicBezTo>
                  <a:pt x="0" y="65503"/>
                  <a:pt x="65503" y="0"/>
                  <a:pt x="146304" y="0"/>
                </a:cubicBezTo>
                <a:close/>
              </a:path>
            </a:pathLst>
          </a:custGeom>
          <a:solidFill>
            <a:srgbClr val="7F7F7F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01" name="Freeform 18">
            <a:extLst>
              <a:ext uri="{FF2B5EF4-FFF2-40B4-BE49-F238E27FC236}">
                <a16:creationId xmlns:a16="http://schemas.microsoft.com/office/drawing/2014/main" id="{EEBC68AB-972C-B982-43B9-253926A00CAB}"/>
              </a:ext>
            </a:extLst>
          </p:cNvPr>
          <p:cNvSpPr/>
          <p:nvPr/>
        </p:nvSpPr>
        <p:spPr>
          <a:xfrm>
            <a:off x="5467350" y="5495183"/>
            <a:ext cx="2381250" cy="3477327"/>
          </a:xfrm>
          <a:custGeom>
            <a:avLst/>
            <a:gdLst/>
            <a:ahLst/>
            <a:cxnLst/>
            <a:rect l="l" t="t" r="r" b="b"/>
            <a:pathLst>
              <a:path w="686632" h="1257787">
                <a:moveTo>
                  <a:pt x="146304" y="0"/>
                </a:moveTo>
                <a:lnTo>
                  <a:pt x="540328" y="0"/>
                </a:lnTo>
                <a:cubicBezTo>
                  <a:pt x="579130" y="0"/>
                  <a:pt x="616343" y="15414"/>
                  <a:pt x="643781" y="42851"/>
                </a:cubicBezTo>
                <a:cubicBezTo>
                  <a:pt x="671218" y="70289"/>
                  <a:pt x="686632" y="107502"/>
                  <a:pt x="686632" y="146304"/>
                </a:cubicBezTo>
                <a:lnTo>
                  <a:pt x="686632" y="1111483"/>
                </a:lnTo>
                <a:cubicBezTo>
                  <a:pt x="686632" y="1150286"/>
                  <a:pt x="671218" y="1187499"/>
                  <a:pt x="643781" y="1214936"/>
                </a:cubicBezTo>
                <a:cubicBezTo>
                  <a:pt x="616343" y="1242373"/>
                  <a:pt x="579130" y="1257787"/>
                  <a:pt x="540328" y="1257787"/>
                </a:cubicBezTo>
                <a:lnTo>
                  <a:pt x="146304" y="1257787"/>
                </a:lnTo>
                <a:cubicBezTo>
                  <a:pt x="65503" y="1257787"/>
                  <a:pt x="0" y="1192285"/>
                  <a:pt x="0" y="1111483"/>
                </a:cubicBezTo>
                <a:lnTo>
                  <a:pt x="0" y="146304"/>
                </a:lnTo>
                <a:cubicBezTo>
                  <a:pt x="0" y="65503"/>
                  <a:pt x="65503" y="0"/>
                  <a:pt x="146304" y="0"/>
                </a:cubicBezTo>
                <a:close/>
              </a:path>
            </a:pathLst>
          </a:custGeom>
          <a:solidFill>
            <a:srgbClr val="0FAF7F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00" name="Freeform 5">
            <a:extLst>
              <a:ext uri="{FF2B5EF4-FFF2-40B4-BE49-F238E27FC236}">
                <a16:creationId xmlns:a16="http://schemas.microsoft.com/office/drawing/2014/main" id="{499F15E6-4AE7-D2CD-7990-DB5A16D99EC8}"/>
              </a:ext>
            </a:extLst>
          </p:cNvPr>
          <p:cNvSpPr/>
          <p:nvPr/>
        </p:nvSpPr>
        <p:spPr>
          <a:xfrm>
            <a:off x="1219200" y="5495184"/>
            <a:ext cx="2381250" cy="3477327"/>
          </a:xfrm>
          <a:custGeom>
            <a:avLst/>
            <a:gdLst/>
            <a:ahLst/>
            <a:cxnLst/>
            <a:rect l="l" t="t" r="r" b="b"/>
            <a:pathLst>
              <a:path w="702036" h="1286005">
                <a:moveTo>
                  <a:pt x="146304" y="0"/>
                </a:moveTo>
                <a:lnTo>
                  <a:pt x="555732" y="0"/>
                </a:lnTo>
                <a:cubicBezTo>
                  <a:pt x="594535" y="0"/>
                  <a:pt x="631748" y="15414"/>
                  <a:pt x="659185" y="42851"/>
                </a:cubicBezTo>
                <a:cubicBezTo>
                  <a:pt x="686622" y="70289"/>
                  <a:pt x="702036" y="107502"/>
                  <a:pt x="702036" y="146304"/>
                </a:cubicBezTo>
                <a:lnTo>
                  <a:pt x="702036" y="1139701"/>
                </a:lnTo>
                <a:cubicBezTo>
                  <a:pt x="702036" y="1178504"/>
                  <a:pt x="686622" y="1215717"/>
                  <a:pt x="659185" y="1243154"/>
                </a:cubicBezTo>
                <a:cubicBezTo>
                  <a:pt x="631748" y="1270591"/>
                  <a:pt x="594535" y="1286005"/>
                  <a:pt x="555732" y="1286005"/>
                </a:cubicBezTo>
                <a:lnTo>
                  <a:pt x="146304" y="1286005"/>
                </a:lnTo>
                <a:cubicBezTo>
                  <a:pt x="65503" y="1286005"/>
                  <a:pt x="0" y="1220503"/>
                  <a:pt x="0" y="1139701"/>
                </a:cubicBezTo>
                <a:lnTo>
                  <a:pt x="0" y="146304"/>
                </a:lnTo>
                <a:cubicBezTo>
                  <a:pt x="0" y="65503"/>
                  <a:pt x="65503" y="0"/>
                  <a:pt x="146304" y="0"/>
                </a:cubicBezTo>
                <a:close/>
              </a:path>
            </a:pathLst>
          </a:custGeom>
          <a:solidFill>
            <a:srgbClr val="336FA8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>
              <a:solidFill>
                <a:srgbClr val="336FA8"/>
              </a:solidFill>
            </a:endParaRPr>
          </a:p>
        </p:txBody>
      </p:sp>
      <p:sp>
        <p:nvSpPr>
          <p:cNvPr id="2" name="AutoShape 2"/>
          <p:cNvSpPr/>
          <p:nvPr/>
        </p:nvSpPr>
        <p:spPr>
          <a:xfrm flipV="1">
            <a:off x="551430" y="4325267"/>
            <a:ext cx="17279369" cy="8138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>
            <a:off x="1219200" y="4838700"/>
            <a:ext cx="2381250" cy="3477327"/>
          </a:xfrm>
          <a:custGeom>
            <a:avLst/>
            <a:gdLst/>
            <a:ahLst/>
            <a:cxnLst/>
            <a:rect l="l" t="t" r="r" b="b"/>
            <a:pathLst>
              <a:path w="702036" h="1286005">
                <a:moveTo>
                  <a:pt x="146304" y="0"/>
                </a:moveTo>
                <a:lnTo>
                  <a:pt x="555732" y="0"/>
                </a:lnTo>
                <a:cubicBezTo>
                  <a:pt x="594535" y="0"/>
                  <a:pt x="631748" y="15414"/>
                  <a:pt x="659185" y="42851"/>
                </a:cubicBezTo>
                <a:cubicBezTo>
                  <a:pt x="686622" y="70289"/>
                  <a:pt x="702036" y="107502"/>
                  <a:pt x="702036" y="146304"/>
                </a:cubicBezTo>
                <a:lnTo>
                  <a:pt x="702036" y="1139701"/>
                </a:lnTo>
                <a:cubicBezTo>
                  <a:pt x="702036" y="1178504"/>
                  <a:pt x="686622" y="1215717"/>
                  <a:pt x="659185" y="1243154"/>
                </a:cubicBezTo>
                <a:cubicBezTo>
                  <a:pt x="631748" y="1270591"/>
                  <a:pt x="594535" y="1286005"/>
                  <a:pt x="555732" y="1286005"/>
                </a:cubicBezTo>
                <a:lnTo>
                  <a:pt x="146304" y="1286005"/>
                </a:lnTo>
                <a:cubicBezTo>
                  <a:pt x="65503" y="1286005"/>
                  <a:pt x="0" y="1220503"/>
                  <a:pt x="0" y="1139701"/>
                </a:cubicBezTo>
                <a:lnTo>
                  <a:pt x="0" y="146304"/>
                </a:lnTo>
                <a:cubicBezTo>
                  <a:pt x="0" y="65503"/>
                  <a:pt x="65503" y="0"/>
                  <a:pt x="146304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1749003" y="2219761"/>
            <a:ext cx="1321645" cy="132164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36FA8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Box 11"/>
          <p:cNvSpPr txBox="1"/>
          <p:nvPr/>
        </p:nvSpPr>
        <p:spPr>
          <a:xfrm>
            <a:off x="1295400" y="5961964"/>
            <a:ext cx="221932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Manager selects a specific region using the region slicer to focus analysis on that market.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8076" y="2610590"/>
            <a:ext cx="724554" cy="729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6000" dirty="0">
                <a:solidFill>
                  <a:schemeClr val="bg2"/>
                </a:solidFill>
                <a:latin typeface="Bricolage Grotesque 36"/>
                <a:sym typeface="Montserrat Ultra-Bold"/>
              </a:rPr>
              <a:t>1</a:t>
            </a:r>
            <a:endParaRPr lang="en-US" sz="6000" b="1" u="none" strike="noStrike" spc="165" dirty="0">
              <a:solidFill>
                <a:schemeClr val="bg2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2134713" y="3943664"/>
            <a:ext cx="550227" cy="437836"/>
          </a:xfrm>
          <a:custGeom>
            <a:avLst/>
            <a:gdLst/>
            <a:ahLst/>
            <a:cxnLst/>
            <a:rect l="l" t="t" r="r" b="b"/>
            <a:pathLst>
              <a:path w="809420" h="644085">
                <a:moveTo>
                  <a:pt x="471894" y="36510"/>
                </a:moveTo>
                <a:lnTo>
                  <a:pt x="798620" y="540460"/>
                </a:lnTo>
                <a:cubicBezTo>
                  <a:pt x="812001" y="561099"/>
                  <a:pt x="813020" y="587405"/>
                  <a:pt x="801275" y="609017"/>
                </a:cubicBezTo>
                <a:cubicBezTo>
                  <a:pt x="789530" y="630629"/>
                  <a:pt x="766903" y="644085"/>
                  <a:pt x="742305" y="644085"/>
                </a:cubicBezTo>
                <a:lnTo>
                  <a:pt x="67115" y="644085"/>
                </a:lnTo>
                <a:cubicBezTo>
                  <a:pt x="42517" y="644085"/>
                  <a:pt x="19890" y="630629"/>
                  <a:pt x="8145" y="609017"/>
                </a:cubicBezTo>
                <a:cubicBezTo>
                  <a:pt x="-3600" y="587405"/>
                  <a:pt x="-2581" y="561099"/>
                  <a:pt x="10800" y="540460"/>
                </a:cubicBezTo>
                <a:lnTo>
                  <a:pt x="337526" y="36510"/>
                </a:lnTo>
                <a:cubicBezTo>
                  <a:pt x="352287" y="13742"/>
                  <a:pt x="377575" y="0"/>
                  <a:pt x="404710" y="0"/>
                </a:cubicBezTo>
                <a:cubicBezTo>
                  <a:pt x="431844" y="0"/>
                  <a:pt x="457132" y="13742"/>
                  <a:pt x="471894" y="36510"/>
                </a:cubicBezTo>
                <a:close/>
              </a:path>
            </a:pathLst>
          </a:custGeom>
          <a:solidFill>
            <a:srgbClr val="336FA8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Box 16"/>
          <p:cNvSpPr txBox="1"/>
          <p:nvPr/>
        </p:nvSpPr>
        <p:spPr>
          <a:xfrm>
            <a:off x="1627372" y="4972416"/>
            <a:ext cx="156490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000" dirty="0">
                <a:solidFill>
                  <a:srgbClr val="336FA8"/>
                </a:solidFill>
                <a:latin typeface="Bricolage Grotesque 36"/>
              </a:rPr>
              <a:t>Filter</a:t>
            </a:r>
            <a:r>
              <a:rPr lang="en-US" sz="3000" b="1" dirty="0"/>
              <a:t> </a:t>
            </a:r>
            <a:r>
              <a:rPr lang="en-US" sz="3000" dirty="0">
                <a:solidFill>
                  <a:srgbClr val="336FA8"/>
                </a:solidFill>
                <a:latin typeface="Bricolage Grotesque 36"/>
              </a:rPr>
              <a:t>by Region</a:t>
            </a:r>
            <a:endParaRPr lang="ar-EG" sz="3000" dirty="0">
              <a:solidFill>
                <a:srgbClr val="336FA8"/>
              </a:solidFill>
              <a:latin typeface="Bricolage Grotesque 36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5467350" y="4838700"/>
            <a:ext cx="2381250" cy="3477327"/>
          </a:xfrm>
          <a:custGeom>
            <a:avLst/>
            <a:gdLst/>
            <a:ahLst/>
            <a:cxnLst/>
            <a:rect l="l" t="t" r="r" b="b"/>
            <a:pathLst>
              <a:path w="686632" h="1257787">
                <a:moveTo>
                  <a:pt x="146304" y="0"/>
                </a:moveTo>
                <a:lnTo>
                  <a:pt x="540328" y="0"/>
                </a:lnTo>
                <a:cubicBezTo>
                  <a:pt x="579130" y="0"/>
                  <a:pt x="616343" y="15414"/>
                  <a:pt x="643781" y="42851"/>
                </a:cubicBezTo>
                <a:cubicBezTo>
                  <a:pt x="671218" y="70289"/>
                  <a:pt x="686632" y="107502"/>
                  <a:pt x="686632" y="146304"/>
                </a:cubicBezTo>
                <a:lnTo>
                  <a:pt x="686632" y="1111483"/>
                </a:lnTo>
                <a:cubicBezTo>
                  <a:pt x="686632" y="1150286"/>
                  <a:pt x="671218" y="1187499"/>
                  <a:pt x="643781" y="1214936"/>
                </a:cubicBezTo>
                <a:cubicBezTo>
                  <a:pt x="616343" y="1242373"/>
                  <a:pt x="579130" y="1257787"/>
                  <a:pt x="540328" y="1257787"/>
                </a:cubicBezTo>
                <a:lnTo>
                  <a:pt x="146304" y="1257787"/>
                </a:lnTo>
                <a:cubicBezTo>
                  <a:pt x="65503" y="1257787"/>
                  <a:pt x="0" y="1192285"/>
                  <a:pt x="0" y="1111483"/>
                </a:cubicBezTo>
                <a:lnTo>
                  <a:pt x="0" y="146304"/>
                </a:lnTo>
                <a:cubicBezTo>
                  <a:pt x="0" y="65503"/>
                  <a:pt x="65503" y="0"/>
                  <a:pt x="146304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22" name="Freeform 22"/>
          <p:cNvSpPr/>
          <p:nvPr/>
        </p:nvSpPr>
        <p:spPr>
          <a:xfrm>
            <a:off x="5997152" y="2219761"/>
            <a:ext cx="1321645" cy="132164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FAF7F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Box 24"/>
          <p:cNvSpPr txBox="1"/>
          <p:nvPr/>
        </p:nvSpPr>
        <p:spPr>
          <a:xfrm>
            <a:off x="5534025" y="6052621"/>
            <a:ext cx="2314575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  <a:sym typeface="Montserrat"/>
              </a:rPr>
              <a:t>Notices a product category with declining sales and low profit margin compared to other categories.</a:t>
            </a:r>
          </a:p>
        </p:txBody>
      </p:sp>
      <p:sp>
        <p:nvSpPr>
          <p:cNvPr id="27" name="Freeform 27"/>
          <p:cNvSpPr/>
          <p:nvPr/>
        </p:nvSpPr>
        <p:spPr>
          <a:xfrm>
            <a:off x="6382862" y="3943664"/>
            <a:ext cx="550227" cy="437836"/>
          </a:xfrm>
          <a:custGeom>
            <a:avLst/>
            <a:gdLst/>
            <a:ahLst/>
            <a:cxnLst/>
            <a:rect l="l" t="t" r="r" b="b"/>
            <a:pathLst>
              <a:path w="809420" h="644085">
                <a:moveTo>
                  <a:pt x="471894" y="36510"/>
                </a:moveTo>
                <a:lnTo>
                  <a:pt x="798620" y="540460"/>
                </a:lnTo>
                <a:cubicBezTo>
                  <a:pt x="812001" y="561099"/>
                  <a:pt x="813020" y="587405"/>
                  <a:pt x="801275" y="609017"/>
                </a:cubicBezTo>
                <a:cubicBezTo>
                  <a:pt x="789530" y="630629"/>
                  <a:pt x="766903" y="644085"/>
                  <a:pt x="742305" y="644085"/>
                </a:cubicBezTo>
                <a:lnTo>
                  <a:pt x="67115" y="644085"/>
                </a:lnTo>
                <a:cubicBezTo>
                  <a:pt x="42517" y="644085"/>
                  <a:pt x="19890" y="630629"/>
                  <a:pt x="8145" y="609017"/>
                </a:cubicBezTo>
                <a:cubicBezTo>
                  <a:pt x="-3600" y="587405"/>
                  <a:pt x="-2581" y="561099"/>
                  <a:pt x="10800" y="540460"/>
                </a:cubicBezTo>
                <a:lnTo>
                  <a:pt x="337526" y="36510"/>
                </a:lnTo>
                <a:cubicBezTo>
                  <a:pt x="352287" y="13742"/>
                  <a:pt x="377575" y="0"/>
                  <a:pt x="404710" y="0"/>
                </a:cubicBezTo>
                <a:cubicBezTo>
                  <a:pt x="431844" y="0"/>
                  <a:pt x="457132" y="13742"/>
                  <a:pt x="471894" y="36510"/>
                </a:cubicBezTo>
                <a:close/>
              </a:path>
            </a:pathLst>
          </a:custGeom>
          <a:solidFill>
            <a:srgbClr val="0FAF7F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29" name="TextBox 29"/>
          <p:cNvSpPr txBox="1"/>
          <p:nvPr/>
        </p:nvSpPr>
        <p:spPr>
          <a:xfrm>
            <a:off x="5600700" y="4972416"/>
            <a:ext cx="221932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000" dirty="0">
                <a:solidFill>
                  <a:srgbClr val="0FAF7F"/>
                </a:solidFill>
                <a:latin typeface="Bricolage Grotesque 36"/>
              </a:rPr>
              <a:t>Spot Low Performance</a:t>
            </a:r>
            <a:endParaRPr lang="ar-EG" sz="3000" dirty="0">
              <a:solidFill>
                <a:srgbClr val="0FAF7F"/>
              </a:solidFill>
              <a:latin typeface="Bricolage Grotesque 36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0496550" y="4838700"/>
            <a:ext cx="2381250" cy="3477327"/>
          </a:xfrm>
          <a:custGeom>
            <a:avLst/>
            <a:gdLst/>
            <a:ahLst/>
            <a:cxnLst/>
            <a:rect l="l" t="t" r="r" b="b"/>
            <a:pathLst>
              <a:path w="686632" h="1257787">
                <a:moveTo>
                  <a:pt x="146304" y="0"/>
                </a:moveTo>
                <a:lnTo>
                  <a:pt x="540328" y="0"/>
                </a:lnTo>
                <a:cubicBezTo>
                  <a:pt x="579130" y="0"/>
                  <a:pt x="616343" y="15414"/>
                  <a:pt x="643781" y="42851"/>
                </a:cubicBezTo>
                <a:cubicBezTo>
                  <a:pt x="671218" y="70289"/>
                  <a:pt x="686632" y="107502"/>
                  <a:pt x="686632" y="146304"/>
                </a:cubicBezTo>
                <a:lnTo>
                  <a:pt x="686632" y="1111483"/>
                </a:lnTo>
                <a:cubicBezTo>
                  <a:pt x="686632" y="1150286"/>
                  <a:pt x="671218" y="1187499"/>
                  <a:pt x="643781" y="1214936"/>
                </a:cubicBezTo>
                <a:cubicBezTo>
                  <a:pt x="616343" y="1242373"/>
                  <a:pt x="579130" y="1257787"/>
                  <a:pt x="540328" y="1257787"/>
                </a:cubicBezTo>
                <a:lnTo>
                  <a:pt x="146304" y="1257787"/>
                </a:lnTo>
                <a:cubicBezTo>
                  <a:pt x="65503" y="1257787"/>
                  <a:pt x="0" y="1192285"/>
                  <a:pt x="0" y="1111483"/>
                </a:cubicBezTo>
                <a:lnTo>
                  <a:pt x="0" y="146304"/>
                </a:lnTo>
                <a:cubicBezTo>
                  <a:pt x="0" y="65503"/>
                  <a:pt x="65503" y="0"/>
                  <a:pt x="14630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35" name="Freeform 35"/>
          <p:cNvSpPr/>
          <p:nvPr/>
        </p:nvSpPr>
        <p:spPr>
          <a:xfrm>
            <a:off x="11026352" y="2219761"/>
            <a:ext cx="1321645" cy="132164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7F7F7F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37" name="TextBox 37"/>
          <p:cNvSpPr txBox="1"/>
          <p:nvPr/>
        </p:nvSpPr>
        <p:spPr>
          <a:xfrm>
            <a:off x="10486698" y="5991633"/>
            <a:ext cx="2381250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  <a:sym typeface="Montserrat"/>
              </a:rPr>
              <a:t>Clicks on the underperforming category to see average markup and quantity.</a:t>
            </a:r>
          </a:p>
        </p:txBody>
      </p:sp>
      <p:sp>
        <p:nvSpPr>
          <p:cNvPr id="40" name="Freeform 40"/>
          <p:cNvSpPr/>
          <p:nvPr/>
        </p:nvSpPr>
        <p:spPr>
          <a:xfrm>
            <a:off x="11412062" y="3943664"/>
            <a:ext cx="550227" cy="437836"/>
          </a:xfrm>
          <a:custGeom>
            <a:avLst/>
            <a:gdLst/>
            <a:ahLst/>
            <a:cxnLst/>
            <a:rect l="l" t="t" r="r" b="b"/>
            <a:pathLst>
              <a:path w="809420" h="644085">
                <a:moveTo>
                  <a:pt x="471894" y="36510"/>
                </a:moveTo>
                <a:lnTo>
                  <a:pt x="798620" y="540460"/>
                </a:lnTo>
                <a:cubicBezTo>
                  <a:pt x="812001" y="561099"/>
                  <a:pt x="813020" y="587405"/>
                  <a:pt x="801275" y="609017"/>
                </a:cubicBezTo>
                <a:cubicBezTo>
                  <a:pt x="789530" y="630629"/>
                  <a:pt x="766903" y="644085"/>
                  <a:pt x="742305" y="644085"/>
                </a:cubicBezTo>
                <a:lnTo>
                  <a:pt x="67115" y="644085"/>
                </a:lnTo>
                <a:cubicBezTo>
                  <a:pt x="42517" y="644085"/>
                  <a:pt x="19890" y="630629"/>
                  <a:pt x="8145" y="609017"/>
                </a:cubicBezTo>
                <a:cubicBezTo>
                  <a:pt x="-3600" y="587405"/>
                  <a:pt x="-2581" y="561099"/>
                  <a:pt x="10800" y="540460"/>
                </a:cubicBezTo>
                <a:lnTo>
                  <a:pt x="337526" y="36510"/>
                </a:lnTo>
                <a:cubicBezTo>
                  <a:pt x="352287" y="13742"/>
                  <a:pt x="377575" y="0"/>
                  <a:pt x="404710" y="0"/>
                </a:cubicBezTo>
                <a:cubicBezTo>
                  <a:pt x="431844" y="0"/>
                  <a:pt x="457132" y="13742"/>
                  <a:pt x="471894" y="36510"/>
                </a:cubicBezTo>
                <a:close/>
              </a:path>
            </a:pathLst>
          </a:custGeom>
          <a:solidFill>
            <a:srgbClr val="7F7F7F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42" name="TextBox 42"/>
          <p:cNvSpPr txBox="1"/>
          <p:nvPr/>
        </p:nvSpPr>
        <p:spPr>
          <a:xfrm>
            <a:off x="10608939" y="4972416"/>
            <a:ext cx="215647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000" dirty="0">
                <a:solidFill>
                  <a:srgbClr val="7F7F7F"/>
                </a:solidFill>
                <a:latin typeface="Bricolage Grotesque 36"/>
              </a:rPr>
              <a:t>Drill-Through Analysis</a:t>
            </a:r>
            <a:endParaRPr lang="ar-EG" sz="3000" dirty="0">
              <a:solidFill>
                <a:srgbClr val="7F7F7F"/>
              </a:solidFill>
              <a:latin typeface="Bricolage Grotesque 36"/>
            </a:endParaRPr>
          </a:p>
        </p:txBody>
      </p:sp>
      <p:grpSp>
        <p:nvGrpSpPr>
          <p:cNvPr id="43" name="Group 43"/>
          <p:cNvGrpSpPr/>
          <p:nvPr/>
        </p:nvGrpSpPr>
        <p:grpSpPr>
          <a:xfrm>
            <a:off x="14859000" y="4838700"/>
            <a:ext cx="2381250" cy="3477327"/>
            <a:chOff x="0" y="0"/>
            <a:chExt cx="686632" cy="125778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86632" cy="1257787"/>
            </a:xfrm>
            <a:custGeom>
              <a:avLst/>
              <a:gdLst/>
              <a:ahLst/>
              <a:cxnLst/>
              <a:rect l="l" t="t" r="r" b="b"/>
              <a:pathLst>
                <a:path w="686632" h="1257787">
                  <a:moveTo>
                    <a:pt x="146304" y="0"/>
                  </a:moveTo>
                  <a:lnTo>
                    <a:pt x="540328" y="0"/>
                  </a:lnTo>
                  <a:cubicBezTo>
                    <a:pt x="579130" y="0"/>
                    <a:pt x="616343" y="15414"/>
                    <a:pt x="643781" y="42851"/>
                  </a:cubicBezTo>
                  <a:cubicBezTo>
                    <a:pt x="671218" y="70289"/>
                    <a:pt x="686632" y="107502"/>
                    <a:pt x="686632" y="146304"/>
                  </a:cubicBezTo>
                  <a:lnTo>
                    <a:pt x="686632" y="1111483"/>
                  </a:lnTo>
                  <a:cubicBezTo>
                    <a:pt x="686632" y="1150286"/>
                    <a:pt x="671218" y="1187499"/>
                    <a:pt x="643781" y="1214936"/>
                  </a:cubicBezTo>
                  <a:cubicBezTo>
                    <a:pt x="616343" y="1242373"/>
                    <a:pt x="579130" y="1257787"/>
                    <a:pt x="540328" y="1257787"/>
                  </a:cubicBezTo>
                  <a:lnTo>
                    <a:pt x="146304" y="1257787"/>
                  </a:lnTo>
                  <a:cubicBezTo>
                    <a:pt x="65503" y="1257787"/>
                    <a:pt x="0" y="1192285"/>
                    <a:pt x="0" y="1111483"/>
                  </a:cubicBezTo>
                  <a:lnTo>
                    <a:pt x="0" y="146304"/>
                  </a:lnTo>
                  <a:cubicBezTo>
                    <a:pt x="0" y="65503"/>
                    <a:pt x="65503" y="0"/>
                    <a:pt x="146304" y="0"/>
                  </a:cubicBezTo>
                  <a:close/>
                </a:path>
              </a:pathLst>
            </a:custGeom>
            <a:solidFill>
              <a:srgbClr val="FFE8A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686632" cy="1295887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388802" y="2219761"/>
            <a:ext cx="1321645" cy="1321645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4859000" y="5885764"/>
            <a:ext cx="2381249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  <a:sym typeface="Montserrat"/>
              </a:rPr>
              <a:t>Based on insights, decides to adjust pricing, reduce costs, or reallocate inventory to improve performance.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5736183" y="3898041"/>
            <a:ext cx="626884" cy="483459"/>
            <a:chOff x="0" y="0"/>
            <a:chExt cx="922188" cy="711200"/>
          </a:xfrm>
        </p:grpSpPr>
        <p:sp>
          <p:nvSpPr>
            <p:cNvPr id="53" name="Freeform 53"/>
            <p:cNvSpPr/>
            <p:nvPr/>
          </p:nvSpPr>
          <p:spPr>
            <a:xfrm>
              <a:off x="56384" y="67115"/>
              <a:ext cx="809420" cy="644085"/>
            </a:xfrm>
            <a:custGeom>
              <a:avLst/>
              <a:gdLst/>
              <a:ahLst/>
              <a:cxnLst/>
              <a:rect l="l" t="t" r="r" b="b"/>
              <a:pathLst>
                <a:path w="809420" h="644085">
                  <a:moveTo>
                    <a:pt x="471894" y="36510"/>
                  </a:moveTo>
                  <a:lnTo>
                    <a:pt x="798620" y="540460"/>
                  </a:lnTo>
                  <a:cubicBezTo>
                    <a:pt x="812001" y="561099"/>
                    <a:pt x="813020" y="587405"/>
                    <a:pt x="801275" y="609017"/>
                  </a:cubicBezTo>
                  <a:cubicBezTo>
                    <a:pt x="789530" y="630629"/>
                    <a:pt x="766903" y="644085"/>
                    <a:pt x="742305" y="644085"/>
                  </a:cubicBezTo>
                  <a:lnTo>
                    <a:pt x="67115" y="644085"/>
                  </a:lnTo>
                  <a:cubicBezTo>
                    <a:pt x="42517" y="644085"/>
                    <a:pt x="19890" y="630629"/>
                    <a:pt x="8145" y="609017"/>
                  </a:cubicBezTo>
                  <a:cubicBezTo>
                    <a:pt x="-3600" y="587405"/>
                    <a:pt x="-2581" y="561099"/>
                    <a:pt x="10800" y="540460"/>
                  </a:cubicBezTo>
                  <a:lnTo>
                    <a:pt x="337526" y="36510"/>
                  </a:lnTo>
                  <a:cubicBezTo>
                    <a:pt x="352287" y="13742"/>
                    <a:pt x="377575" y="0"/>
                    <a:pt x="404710" y="0"/>
                  </a:cubicBezTo>
                  <a:cubicBezTo>
                    <a:pt x="431844" y="0"/>
                    <a:pt x="457132" y="13742"/>
                    <a:pt x="471894" y="36510"/>
                  </a:cubicBezTo>
                  <a:close/>
                </a:path>
              </a:pathLst>
            </a:custGeom>
            <a:solidFill>
              <a:srgbClr val="DDA70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44092" y="292100"/>
              <a:ext cx="634004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5141153" y="4895164"/>
            <a:ext cx="18514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000" dirty="0">
                <a:solidFill>
                  <a:srgbClr val="DDA707"/>
                </a:solidFill>
                <a:latin typeface="Bricolage Grotesque 36"/>
              </a:rPr>
              <a:t>Take Action</a:t>
            </a:r>
            <a:endParaRPr lang="ar-EG" sz="3000" dirty="0">
              <a:solidFill>
                <a:srgbClr val="DDA707"/>
              </a:solidFill>
              <a:latin typeface="Bricolage Grotesque 36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3736723" y="821290"/>
            <a:ext cx="11420895" cy="77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  <a:sym typeface="Montserrat Ultra-Bold"/>
              </a:rPr>
              <a:t>Real-World Scenario</a:t>
            </a:r>
          </a:p>
        </p:txBody>
      </p:sp>
      <p:sp>
        <p:nvSpPr>
          <p:cNvPr id="96" name="Freeform 29">
            <a:extLst>
              <a:ext uri="{FF2B5EF4-FFF2-40B4-BE49-F238E27FC236}">
                <a16:creationId xmlns:a16="http://schemas.microsoft.com/office/drawing/2014/main" id="{9EC75A02-520F-82A4-6462-F0898BAE44B9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7" name="Text 2">
            <a:extLst>
              <a:ext uri="{FF2B5EF4-FFF2-40B4-BE49-F238E27FC236}">
                <a16:creationId xmlns:a16="http://schemas.microsoft.com/office/drawing/2014/main" id="{16BFBE11-C733-7AE3-AABC-578C2AFDECAA}"/>
              </a:ext>
            </a:extLst>
          </p:cNvPr>
          <p:cNvSpPr/>
          <p:nvPr/>
        </p:nvSpPr>
        <p:spPr>
          <a:xfrm>
            <a:off x="7399377" y="1619372"/>
            <a:ext cx="3680495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36FA8"/>
                </a:solidFill>
                <a:latin typeface="Bricolage Grotesque 36"/>
              </a:rPr>
              <a:t>Manager's Workflow</a:t>
            </a:r>
            <a:endParaRPr lang="ar-EG" sz="3200" dirty="0">
              <a:solidFill>
                <a:srgbClr val="336FA8"/>
              </a:solidFill>
              <a:latin typeface="Bricolage Grotesque 36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4F424EE-860E-4655-57B5-9A0C06F9CF7B}"/>
              </a:ext>
            </a:extLst>
          </p:cNvPr>
          <p:cNvSpPr txBox="1"/>
          <p:nvPr/>
        </p:nvSpPr>
        <p:spPr>
          <a:xfrm>
            <a:off x="1394248" y="8372774"/>
            <a:ext cx="2517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chemeClr val="bg2"/>
                </a:solidFill>
                <a:latin typeface="Bricolage Grotesque 36"/>
              </a:rPr>
              <a:t>Instant Update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314F33-5970-18B1-AE0D-D5B3E8476627}"/>
              </a:ext>
            </a:extLst>
          </p:cNvPr>
          <p:cNvSpPr txBox="1"/>
          <p:nvPr/>
        </p:nvSpPr>
        <p:spPr>
          <a:xfrm>
            <a:off x="5486400" y="8400364"/>
            <a:ext cx="2517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chemeClr val="bg2"/>
                </a:solidFill>
                <a:latin typeface="Bricolage Grotesque 36"/>
              </a:rPr>
              <a:t>Identify Problem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DB69235-436E-8B75-4B48-3090D662B622}"/>
              </a:ext>
            </a:extLst>
          </p:cNvPr>
          <p:cNvSpPr txBox="1"/>
          <p:nvPr/>
        </p:nvSpPr>
        <p:spPr>
          <a:xfrm>
            <a:off x="10512677" y="8400364"/>
            <a:ext cx="2517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chemeClr val="bg2"/>
                </a:solidFill>
                <a:latin typeface="Bricolage Grotesque 36"/>
              </a:rPr>
              <a:t>Uncover Causes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DDD694A-F8F6-60EA-B8B0-D564B8DAEDDC}"/>
              </a:ext>
            </a:extLst>
          </p:cNvPr>
          <p:cNvSpPr txBox="1"/>
          <p:nvPr/>
        </p:nvSpPr>
        <p:spPr>
          <a:xfrm>
            <a:off x="14932278" y="8400364"/>
            <a:ext cx="2307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chemeClr val="bg2"/>
                </a:solidFill>
                <a:latin typeface="Bricolage Grotesque 36"/>
              </a:rPr>
              <a:t>Make Decisions</a:t>
            </a:r>
          </a:p>
        </p:txBody>
      </p:sp>
      <p:sp>
        <p:nvSpPr>
          <p:cNvPr id="109" name="TextBox 26">
            <a:extLst>
              <a:ext uri="{FF2B5EF4-FFF2-40B4-BE49-F238E27FC236}">
                <a16:creationId xmlns:a16="http://schemas.microsoft.com/office/drawing/2014/main" id="{A10D5CAD-7D77-6CA8-082F-9EFD9E3D1318}"/>
              </a:ext>
            </a:extLst>
          </p:cNvPr>
          <p:cNvSpPr txBox="1"/>
          <p:nvPr/>
        </p:nvSpPr>
        <p:spPr>
          <a:xfrm>
            <a:off x="762000" y="9258300"/>
            <a:ext cx="1707619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2400" i="1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Outcome: </a:t>
            </a:r>
            <a:r>
              <a:rPr lang="en-US" sz="2400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From problem identification to actionable decision in minutes, not days. The dashboard enables rapid decision-making and strategic action.</a:t>
            </a:r>
          </a:p>
        </p:txBody>
      </p:sp>
      <p:sp>
        <p:nvSpPr>
          <p:cNvPr id="110" name="TextBox 12">
            <a:extLst>
              <a:ext uri="{FF2B5EF4-FFF2-40B4-BE49-F238E27FC236}">
                <a16:creationId xmlns:a16="http://schemas.microsoft.com/office/drawing/2014/main" id="{61CCF475-A61D-D17F-DE5E-A4054499BB02}"/>
              </a:ext>
            </a:extLst>
          </p:cNvPr>
          <p:cNvSpPr txBox="1"/>
          <p:nvPr/>
        </p:nvSpPr>
        <p:spPr>
          <a:xfrm>
            <a:off x="6248400" y="2585013"/>
            <a:ext cx="724554" cy="729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6000" dirty="0">
                <a:solidFill>
                  <a:schemeClr val="bg2"/>
                </a:solidFill>
                <a:latin typeface="Bricolage Grotesque 36"/>
                <a:sym typeface="Montserrat Ultra-Bold"/>
              </a:rPr>
              <a:t>2</a:t>
            </a:r>
            <a:endParaRPr lang="en-US" sz="6000" b="1" u="none" strike="noStrike" spc="165" dirty="0">
              <a:solidFill>
                <a:schemeClr val="bg2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11" name="TextBox 12">
            <a:extLst>
              <a:ext uri="{FF2B5EF4-FFF2-40B4-BE49-F238E27FC236}">
                <a16:creationId xmlns:a16="http://schemas.microsoft.com/office/drawing/2014/main" id="{9D882E7E-9534-E44F-0AED-C019588A06A3}"/>
              </a:ext>
            </a:extLst>
          </p:cNvPr>
          <p:cNvSpPr txBox="1"/>
          <p:nvPr/>
        </p:nvSpPr>
        <p:spPr>
          <a:xfrm>
            <a:off x="11315046" y="2585013"/>
            <a:ext cx="724554" cy="729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6000" dirty="0">
                <a:solidFill>
                  <a:schemeClr val="bg2"/>
                </a:solidFill>
                <a:latin typeface="Bricolage Grotesque 36"/>
                <a:sym typeface="Montserrat Ultra-Bold"/>
              </a:rPr>
              <a:t>3</a:t>
            </a:r>
            <a:endParaRPr lang="en-US" sz="6000" b="1" u="none" strike="noStrike" spc="165" dirty="0">
              <a:solidFill>
                <a:schemeClr val="bg2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12" name="TextBox 12">
            <a:extLst>
              <a:ext uri="{FF2B5EF4-FFF2-40B4-BE49-F238E27FC236}">
                <a16:creationId xmlns:a16="http://schemas.microsoft.com/office/drawing/2014/main" id="{3B9E34B7-B709-CD1F-C791-F2692D057F33}"/>
              </a:ext>
            </a:extLst>
          </p:cNvPr>
          <p:cNvSpPr txBox="1"/>
          <p:nvPr/>
        </p:nvSpPr>
        <p:spPr>
          <a:xfrm>
            <a:off x="15658446" y="2628900"/>
            <a:ext cx="724554" cy="729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6000" dirty="0">
                <a:solidFill>
                  <a:schemeClr val="bg2"/>
                </a:solidFill>
                <a:latin typeface="Bricolage Grotesque 36"/>
                <a:sym typeface="Montserrat Ultra-Bold"/>
              </a:rPr>
              <a:t>4</a:t>
            </a:r>
            <a:endParaRPr lang="en-US" sz="6000" b="1" u="none" strike="noStrike" spc="165" dirty="0">
              <a:solidFill>
                <a:schemeClr val="bg2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2">
            <a:extLst>
              <a:ext uri="{FF2B5EF4-FFF2-40B4-BE49-F238E27FC236}">
                <a16:creationId xmlns:a16="http://schemas.microsoft.com/office/drawing/2014/main" id="{5D9AF3C3-FEA0-D2C6-AB13-28723CAFEB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59560" y="-419100"/>
            <a:ext cx="19407121" cy="11377633"/>
          </a:xfrm>
          <a:custGeom>
            <a:avLst/>
            <a:gdLst/>
            <a:ahLst/>
            <a:cxnLst/>
            <a:rect l="l" t="t" r="r" b="b"/>
            <a:pathLst>
              <a:path w="19407121" h="11377633">
                <a:moveTo>
                  <a:pt x="0" y="0"/>
                </a:moveTo>
                <a:lnTo>
                  <a:pt x="19407120" y="0"/>
                </a:lnTo>
                <a:lnTo>
                  <a:pt x="19407120" y="11377633"/>
                </a:lnTo>
                <a:lnTo>
                  <a:pt x="0" y="1137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2" r="-2112"/>
            </a:stretch>
          </a:blipFill>
        </p:spPr>
        <p:txBody>
          <a:bodyPr/>
          <a:lstStyle/>
          <a:p>
            <a:endParaRPr lang="ar-EG" sz="2400"/>
          </a:p>
        </p:txBody>
      </p:sp>
      <p:sp>
        <p:nvSpPr>
          <p:cNvPr id="49" name="Freeform 29">
            <a:extLst>
              <a:ext uri="{FF2B5EF4-FFF2-40B4-BE49-F238E27FC236}">
                <a16:creationId xmlns:a16="http://schemas.microsoft.com/office/drawing/2014/main" id="{9EFE169D-A852-B3E3-7B6C-23582CFB08E7}"/>
              </a:ext>
            </a:extLst>
          </p:cNvPr>
          <p:cNvSpPr/>
          <p:nvPr/>
        </p:nvSpPr>
        <p:spPr>
          <a:xfrm>
            <a:off x="506584" y="449406"/>
            <a:ext cx="1521492" cy="1398791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>
            <a:off x="1028700" y="2194659"/>
            <a:ext cx="6286500" cy="1396414"/>
          </a:xfrm>
          <a:custGeom>
            <a:avLst/>
            <a:gdLst/>
            <a:ahLst/>
            <a:cxnLst/>
            <a:rect l="l" t="t" r="r" b="b"/>
            <a:pathLst>
              <a:path w="1708612" h="425199">
                <a:moveTo>
                  <a:pt x="68023" y="0"/>
                </a:moveTo>
                <a:lnTo>
                  <a:pt x="1640589" y="0"/>
                </a:lnTo>
                <a:cubicBezTo>
                  <a:pt x="1678157" y="0"/>
                  <a:pt x="1708612" y="30455"/>
                  <a:pt x="1708612" y="68023"/>
                </a:cubicBezTo>
                <a:lnTo>
                  <a:pt x="1708612" y="357176"/>
                </a:lnTo>
                <a:cubicBezTo>
                  <a:pt x="1708612" y="394744"/>
                  <a:pt x="1678157" y="425199"/>
                  <a:pt x="1640589" y="425199"/>
                </a:cubicBezTo>
                <a:lnTo>
                  <a:pt x="68023" y="425199"/>
                </a:lnTo>
                <a:cubicBezTo>
                  <a:pt x="30455" y="425199"/>
                  <a:pt x="0" y="394744"/>
                  <a:pt x="0" y="357176"/>
                </a:cubicBezTo>
                <a:lnTo>
                  <a:pt x="0" y="68023"/>
                </a:lnTo>
                <a:cubicBezTo>
                  <a:pt x="0" y="30455"/>
                  <a:pt x="30455" y="0"/>
                  <a:pt x="68023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1039586" y="3996033"/>
            <a:ext cx="6487386" cy="1396414"/>
          </a:xfrm>
          <a:custGeom>
            <a:avLst/>
            <a:gdLst/>
            <a:ahLst/>
            <a:cxnLst/>
            <a:rect l="l" t="t" r="r" b="b"/>
            <a:pathLst>
              <a:path w="1708612" h="425199">
                <a:moveTo>
                  <a:pt x="68023" y="0"/>
                </a:moveTo>
                <a:lnTo>
                  <a:pt x="1640589" y="0"/>
                </a:lnTo>
                <a:cubicBezTo>
                  <a:pt x="1678157" y="0"/>
                  <a:pt x="1708612" y="30455"/>
                  <a:pt x="1708612" y="68023"/>
                </a:cubicBezTo>
                <a:lnTo>
                  <a:pt x="1708612" y="357176"/>
                </a:lnTo>
                <a:cubicBezTo>
                  <a:pt x="1708612" y="394744"/>
                  <a:pt x="1678157" y="425199"/>
                  <a:pt x="1640589" y="425199"/>
                </a:cubicBezTo>
                <a:lnTo>
                  <a:pt x="68023" y="425199"/>
                </a:lnTo>
                <a:cubicBezTo>
                  <a:pt x="30455" y="425199"/>
                  <a:pt x="0" y="394744"/>
                  <a:pt x="0" y="357176"/>
                </a:cubicBezTo>
                <a:lnTo>
                  <a:pt x="0" y="68023"/>
                </a:lnTo>
                <a:cubicBezTo>
                  <a:pt x="0" y="30455"/>
                  <a:pt x="30455" y="0"/>
                  <a:pt x="68023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6562968" y="2471978"/>
            <a:ext cx="1658719" cy="916674"/>
          </a:xfrm>
          <a:custGeom>
            <a:avLst/>
            <a:gdLst/>
            <a:ahLst/>
            <a:cxnLst/>
            <a:rect l="l" t="t" r="r" b="b"/>
            <a:pathLst>
              <a:path w="878194" h="543720">
                <a:moveTo>
                  <a:pt x="25923" y="0"/>
                </a:moveTo>
                <a:lnTo>
                  <a:pt x="640454" y="0"/>
                </a:lnTo>
                <a:cubicBezTo>
                  <a:pt x="673018" y="0"/>
                  <a:pt x="703674" y="15360"/>
                  <a:pt x="723170" y="41443"/>
                </a:cubicBezTo>
                <a:lnTo>
                  <a:pt x="864418" y="230417"/>
                </a:lnTo>
                <a:cubicBezTo>
                  <a:pt x="882786" y="254993"/>
                  <a:pt x="882786" y="288728"/>
                  <a:pt x="864418" y="313303"/>
                </a:cubicBezTo>
                <a:lnTo>
                  <a:pt x="723170" y="502278"/>
                </a:lnTo>
                <a:cubicBezTo>
                  <a:pt x="703674" y="528361"/>
                  <a:pt x="673018" y="543720"/>
                  <a:pt x="640454" y="543720"/>
                </a:cubicBezTo>
                <a:lnTo>
                  <a:pt x="25923" y="543720"/>
                </a:lnTo>
                <a:cubicBezTo>
                  <a:pt x="16112" y="543720"/>
                  <a:pt x="7141" y="538181"/>
                  <a:pt x="2746" y="529409"/>
                </a:cubicBezTo>
                <a:cubicBezTo>
                  <a:pt x="-1649" y="520638"/>
                  <a:pt x="-715" y="510136"/>
                  <a:pt x="5159" y="502278"/>
                </a:cubicBezTo>
                <a:lnTo>
                  <a:pt x="146407" y="313303"/>
                </a:lnTo>
                <a:cubicBezTo>
                  <a:pt x="164776" y="288728"/>
                  <a:pt x="164776" y="254993"/>
                  <a:pt x="146407" y="230417"/>
                </a:cubicBezTo>
                <a:lnTo>
                  <a:pt x="5159" y="41443"/>
                </a:lnTo>
                <a:cubicBezTo>
                  <a:pt x="-715" y="33584"/>
                  <a:pt x="-1649" y="23083"/>
                  <a:pt x="2746" y="14311"/>
                </a:cubicBezTo>
                <a:cubicBezTo>
                  <a:pt x="7141" y="5539"/>
                  <a:pt x="16112" y="0"/>
                  <a:pt x="25923" y="0"/>
                </a:cubicBezTo>
                <a:close/>
              </a:path>
            </a:pathLst>
          </a:custGeom>
          <a:solidFill>
            <a:srgbClr val="336FA8"/>
          </a:solidFill>
        </p:spPr>
        <p:txBody>
          <a:bodyPr/>
          <a:lstStyle/>
          <a:p>
            <a:endParaRPr lang="ar-EG"/>
          </a:p>
        </p:txBody>
      </p:sp>
      <p:sp>
        <p:nvSpPr>
          <p:cNvPr id="12" name="Freeform 12"/>
          <p:cNvSpPr/>
          <p:nvPr/>
        </p:nvSpPr>
        <p:spPr>
          <a:xfrm>
            <a:off x="6573854" y="4273352"/>
            <a:ext cx="1711724" cy="916674"/>
          </a:xfrm>
          <a:custGeom>
            <a:avLst/>
            <a:gdLst/>
            <a:ahLst/>
            <a:cxnLst/>
            <a:rect l="l" t="t" r="r" b="b"/>
            <a:pathLst>
              <a:path w="878194" h="543720">
                <a:moveTo>
                  <a:pt x="25923" y="0"/>
                </a:moveTo>
                <a:lnTo>
                  <a:pt x="640454" y="0"/>
                </a:lnTo>
                <a:cubicBezTo>
                  <a:pt x="673018" y="0"/>
                  <a:pt x="703674" y="15360"/>
                  <a:pt x="723170" y="41443"/>
                </a:cubicBezTo>
                <a:lnTo>
                  <a:pt x="864418" y="230417"/>
                </a:lnTo>
                <a:cubicBezTo>
                  <a:pt x="882786" y="254993"/>
                  <a:pt x="882786" y="288728"/>
                  <a:pt x="864418" y="313303"/>
                </a:cubicBezTo>
                <a:lnTo>
                  <a:pt x="723170" y="502278"/>
                </a:lnTo>
                <a:cubicBezTo>
                  <a:pt x="703674" y="528361"/>
                  <a:pt x="673018" y="543720"/>
                  <a:pt x="640454" y="543720"/>
                </a:cubicBezTo>
                <a:lnTo>
                  <a:pt x="25923" y="543720"/>
                </a:lnTo>
                <a:cubicBezTo>
                  <a:pt x="16112" y="543720"/>
                  <a:pt x="7141" y="538181"/>
                  <a:pt x="2746" y="529409"/>
                </a:cubicBezTo>
                <a:cubicBezTo>
                  <a:pt x="-1649" y="520638"/>
                  <a:pt x="-715" y="510136"/>
                  <a:pt x="5159" y="502278"/>
                </a:cubicBezTo>
                <a:lnTo>
                  <a:pt x="146407" y="313303"/>
                </a:lnTo>
                <a:cubicBezTo>
                  <a:pt x="164776" y="288728"/>
                  <a:pt x="164776" y="254993"/>
                  <a:pt x="146407" y="230417"/>
                </a:cubicBezTo>
                <a:lnTo>
                  <a:pt x="5159" y="41443"/>
                </a:lnTo>
                <a:cubicBezTo>
                  <a:pt x="-715" y="33584"/>
                  <a:pt x="-1649" y="23083"/>
                  <a:pt x="2746" y="14311"/>
                </a:cubicBezTo>
                <a:cubicBezTo>
                  <a:pt x="7141" y="5539"/>
                  <a:pt x="16112" y="0"/>
                  <a:pt x="25923" y="0"/>
                </a:cubicBezTo>
                <a:close/>
              </a:path>
            </a:pathLst>
          </a:custGeom>
          <a:solidFill>
            <a:srgbClr val="0FAF7F"/>
          </a:solidFill>
        </p:spPr>
        <p:txBody>
          <a:bodyPr/>
          <a:lstStyle/>
          <a:p>
            <a:endParaRPr lang="ar-EG" dirty="0"/>
          </a:p>
        </p:txBody>
      </p:sp>
      <p:sp>
        <p:nvSpPr>
          <p:cNvPr id="17" name="Freeform 17"/>
          <p:cNvSpPr/>
          <p:nvPr/>
        </p:nvSpPr>
        <p:spPr>
          <a:xfrm>
            <a:off x="1028700" y="5863019"/>
            <a:ext cx="6487386" cy="1337174"/>
          </a:xfrm>
          <a:custGeom>
            <a:avLst/>
            <a:gdLst/>
            <a:ahLst/>
            <a:cxnLst/>
            <a:rect l="l" t="t" r="r" b="b"/>
            <a:pathLst>
              <a:path w="1708612" h="425199">
                <a:moveTo>
                  <a:pt x="68023" y="0"/>
                </a:moveTo>
                <a:lnTo>
                  <a:pt x="1640589" y="0"/>
                </a:lnTo>
                <a:cubicBezTo>
                  <a:pt x="1678157" y="0"/>
                  <a:pt x="1708612" y="30455"/>
                  <a:pt x="1708612" y="68023"/>
                </a:cubicBezTo>
                <a:lnTo>
                  <a:pt x="1708612" y="357176"/>
                </a:lnTo>
                <a:cubicBezTo>
                  <a:pt x="1708612" y="394744"/>
                  <a:pt x="1678157" y="425199"/>
                  <a:pt x="1640589" y="425199"/>
                </a:cubicBezTo>
                <a:lnTo>
                  <a:pt x="68023" y="425199"/>
                </a:lnTo>
                <a:cubicBezTo>
                  <a:pt x="30455" y="425199"/>
                  <a:pt x="0" y="394744"/>
                  <a:pt x="0" y="357176"/>
                </a:cubicBezTo>
                <a:lnTo>
                  <a:pt x="0" y="68023"/>
                </a:lnTo>
                <a:cubicBezTo>
                  <a:pt x="0" y="30455"/>
                  <a:pt x="30455" y="0"/>
                  <a:pt x="6802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ar-EG"/>
          </a:p>
        </p:txBody>
      </p:sp>
      <p:grpSp>
        <p:nvGrpSpPr>
          <p:cNvPr id="19" name="Group 19"/>
          <p:cNvGrpSpPr/>
          <p:nvPr/>
        </p:nvGrpSpPr>
        <p:grpSpPr>
          <a:xfrm>
            <a:off x="1028700" y="7796274"/>
            <a:ext cx="6487386" cy="1538226"/>
            <a:chOff x="0" y="0"/>
            <a:chExt cx="1708612" cy="4251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08612" cy="425199"/>
            </a:xfrm>
            <a:custGeom>
              <a:avLst/>
              <a:gdLst/>
              <a:ahLst/>
              <a:cxnLst/>
              <a:rect l="l" t="t" r="r" b="b"/>
              <a:pathLst>
                <a:path w="1708612" h="425199">
                  <a:moveTo>
                    <a:pt x="68023" y="0"/>
                  </a:moveTo>
                  <a:lnTo>
                    <a:pt x="1640589" y="0"/>
                  </a:lnTo>
                  <a:cubicBezTo>
                    <a:pt x="1678157" y="0"/>
                    <a:pt x="1708612" y="30455"/>
                    <a:pt x="1708612" y="68023"/>
                  </a:cubicBezTo>
                  <a:lnTo>
                    <a:pt x="1708612" y="357176"/>
                  </a:lnTo>
                  <a:cubicBezTo>
                    <a:pt x="1708612" y="394744"/>
                    <a:pt x="1678157" y="425199"/>
                    <a:pt x="1640589" y="425199"/>
                  </a:cubicBezTo>
                  <a:lnTo>
                    <a:pt x="68023" y="425199"/>
                  </a:lnTo>
                  <a:cubicBezTo>
                    <a:pt x="30455" y="425199"/>
                    <a:pt x="0" y="394744"/>
                    <a:pt x="0" y="357176"/>
                  </a:cubicBezTo>
                  <a:lnTo>
                    <a:pt x="0" y="68023"/>
                  </a:lnTo>
                  <a:cubicBezTo>
                    <a:pt x="0" y="30455"/>
                    <a:pt x="30455" y="0"/>
                    <a:pt x="68023" y="0"/>
                  </a:cubicBezTo>
                  <a:close/>
                </a:path>
              </a:pathLst>
            </a:custGeom>
            <a:solidFill>
              <a:srgbClr val="FFE8A3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708612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6562968" y="6140338"/>
            <a:ext cx="1711724" cy="877786"/>
          </a:xfrm>
          <a:custGeom>
            <a:avLst/>
            <a:gdLst/>
            <a:ahLst/>
            <a:cxnLst/>
            <a:rect l="l" t="t" r="r" b="b"/>
            <a:pathLst>
              <a:path w="878194" h="543720">
                <a:moveTo>
                  <a:pt x="25923" y="0"/>
                </a:moveTo>
                <a:lnTo>
                  <a:pt x="640454" y="0"/>
                </a:lnTo>
                <a:cubicBezTo>
                  <a:pt x="673018" y="0"/>
                  <a:pt x="703674" y="15360"/>
                  <a:pt x="723170" y="41443"/>
                </a:cubicBezTo>
                <a:lnTo>
                  <a:pt x="864418" y="230417"/>
                </a:lnTo>
                <a:cubicBezTo>
                  <a:pt x="882786" y="254993"/>
                  <a:pt x="882786" y="288728"/>
                  <a:pt x="864418" y="313303"/>
                </a:cubicBezTo>
                <a:lnTo>
                  <a:pt x="723170" y="502278"/>
                </a:lnTo>
                <a:cubicBezTo>
                  <a:pt x="703674" y="528361"/>
                  <a:pt x="673018" y="543720"/>
                  <a:pt x="640454" y="543720"/>
                </a:cubicBezTo>
                <a:lnTo>
                  <a:pt x="25923" y="543720"/>
                </a:lnTo>
                <a:cubicBezTo>
                  <a:pt x="16112" y="543720"/>
                  <a:pt x="7141" y="538181"/>
                  <a:pt x="2746" y="529409"/>
                </a:cubicBezTo>
                <a:cubicBezTo>
                  <a:pt x="-1649" y="520638"/>
                  <a:pt x="-715" y="510136"/>
                  <a:pt x="5159" y="502278"/>
                </a:cubicBezTo>
                <a:lnTo>
                  <a:pt x="146407" y="313303"/>
                </a:lnTo>
                <a:cubicBezTo>
                  <a:pt x="164776" y="288728"/>
                  <a:pt x="164776" y="254993"/>
                  <a:pt x="146407" y="230417"/>
                </a:cubicBezTo>
                <a:lnTo>
                  <a:pt x="5159" y="41443"/>
                </a:lnTo>
                <a:cubicBezTo>
                  <a:pt x="-715" y="33584"/>
                  <a:pt x="-1649" y="23083"/>
                  <a:pt x="2746" y="14311"/>
                </a:cubicBezTo>
                <a:cubicBezTo>
                  <a:pt x="7141" y="5539"/>
                  <a:pt x="16112" y="0"/>
                  <a:pt x="25923" y="0"/>
                </a:cubicBezTo>
                <a:close/>
              </a:path>
            </a:pathLst>
          </a:custGeom>
          <a:solidFill>
            <a:srgbClr val="7F7F7F"/>
          </a:solidFill>
        </p:spPr>
        <p:txBody>
          <a:bodyPr/>
          <a:lstStyle/>
          <a:p>
            <a:endParaRPr lang="ar-EG"/>
          </a:p>
        </p:txBody>
      </p:sp>
      <p:grpSp>
        <p:nvGrpSpPr>
          <p:cNvPr id="26" name="Group 26"/>
          <p:cNvGrpSpPr/>
          <p:nvPr/>
        </p:nvGrpSpPr>
        <p:grpSpPr>
          <a:xfrm>
            <a:off x="6512647" y="8073593"/>
            <a:ext cx="1795570" cy="1018839"/>
            <a:chOff x="0" y="0"/>
            <a:chExt cx="921211" cy="543720"/>
          </a:xfrm>
        </p:grpSpPr>
        <p:sp>
          <p:nvSpPr>
            <p:cNvPr id="27" name="Freeform 27"/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DDA707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128156" y="2247900"/>
            <a:ext cx="8397844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en-US" sz="2800" i="1" dirty="0">
                <a:solidFill>
                  <a:srgbClr val="336FA8"/>
                </a:solidFill>
                <a:latin typeface="Bricolage Grotesque 36"/>
                <a:sym typeface="Montserrat Bold"/>
              </a:rPr>
              <a:t>Predictive trend forecasting using Machine Learning</a:t>
            </a:r>
            <a:endParaRPr lang="en-US" sz="2800" b="1" i="1" dirty="0">
              <a:solidFill>
                <a:srgbClr val="1C1C1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128157" y="5818874"/>
            <a:ext cx="5715000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5"/>
              </a:lnSpc>
            </a:pPr>
            <a:r>
              <a:rPr lang="en-US" sz="3000" i="1" dirty="0">
                <a:solidFill>
                  <a:srgbClr val="7F7F7F"/>
                </a:solidFill>
                <a:latin typeface="Bricolage Grotesque 36"/>
                <a:sym typeface="Montserrat Bold"/>
              </a:rPr>
              <a:t>Automated real‑time data insights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28156" y="4076700"/>
            <a:ext cx="8397843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25"/>
              </a:lnSpc>
            </a:pPr>
            <a:r>
              <a:rPr lang="en-US" sz="3000" i="1" dirty="0">
                <a:solidFill>
                  <a:srgbClr val="0FAF7F"/>
                </a:solidFill>
                <a:latin typeface="Bricolage Grotesque 36"/>
                <a:sym typeface="Montserrat Bold"/>
              </a:rPr>
              <a:t>Advanced customer lifetime analytics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28156" y="7658100"/>
            <a:ext cx="8131143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25"/>
              </a:lnSpc>
            </a:pPr>
            <a:r>
              <a:rPr lang="en-US" sz="3000" i="1" dirty="0">
                <a:solidFill>
                  <a:srgbClr val="DDA707"/>
                </a:solidFill>
                <a:latin typeface="Bricolage Grotesque 36"/>
                <a:sym typeface="Montserrat Bold"/>
              </a:rPr>
              <a:t>Mobile-friendly accessible dashboard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67326" y="2624615"/>
            <a:ext cx="452880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dirty="0">
                <a:solidFill>
                  <a:srgbClr val="336FA8"/>
                </a:solidFill>
                <a:latin typeface="Bricolage Grotesque 36"/>
              </a:rPr>
              <a:t>Advanced</a:t>
            </a:r>
            <a:r>
              <a:rPr lang="en-US" b="1" dirty="0"/>
              <a:t> </a:t>
            </a:r>
            <a:r>
              <a:rPr lang="en-US" sz="3000" dirty="0">
                <a:solidFill>
                  <a:srgbClr val="336FA8"/>
                </a:solidFill>
                <a:latin typeface="Bricolage Grotesque 36"/>
              </a:rPr>
              <a:t>Analytics</a:t>
            </a:r>
            <a:endParaRPr lang="ar-EG" sz="3000" dirty="0">
              <a:solidFill>
                <a:srgbClr val="336FA8"/>
              </a:solidFill>
              <a:latin typeface="Bricolage Grotesque 36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678212" y="4479700"/>
            <a:ext cx="467351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000" dirty="0">
                <a:solidFill>
                  <a:srgbClr val="0FAF7F"/>
                </a:solidFill>
                <a:latin typeface="Bricolage Grotesque 36"/>
              </a:rPr>
              <a:t>Customer Intelligence</a:t>
            </a:r>
            <a:endParaRPr lang="ar-EG" sz="3000" dirty="0">
              <a:solidFill>
                <a:srgbClr val="0FAF7F"/>
              </a:solidFill>
              <a:latin typeface="Bricolage Grotesque 36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667326" y="6408843"/>
            <a:ext cx="467351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000" dirty="0">
                <a:solidFill>
                  <a:srgbClr val="7F7F7F"/>
                </a:solidFill>
                <a:latin typeface="Bricolage Grotesque 36"/>
              </a:rPr>
              <a:t>Data &amp; Integration</a:t>
            </a:r>
            <a:endParaRPr lang="ar-EG" sz="3000" dirty="0">
              <a:solidFill>
                <a:srgbClr val="7F7F7F"/>
              </a:solidFill>
              <a:latin typeface="Bricolage Grotesque 36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667326" y="8404255"/>
            <a:ext cx="467351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000" dirty="0">
                <a:solidFill>
                  <a:srgbClr val="DDA707"/>
                </a:solidFill>
                <a:latin typeface="Bricolage Grotesque 36"/>
              </a:rPr>
              <a:t>User Experience</a:t>
            </a:r>
            <a:endParaRPr lang="ar-EG" sz="3000" dirty="0">
              <a:solidFill>
                <a:srgbClr val="DDA707"/>
              </a:solidFill>
              <a:latin typeface="Bricolage Grotesque 36"/>
            </a:endParaRPr>
          </a:p>
        </p:txBody>
      </p:sp>
      <p:sp>
        <p:nvSpPr>
          <p:cNvPr id="50" name="TextBox 94">
            <a:extLst>
              <a:ext uri="{FF2B5EF4-FFF2-40B4-BE49-F238E27FC236}">
                <a16:creationId xmlns:a16="http://schemas.microsoft.com/office/drawing/2014/main" id="{D9CD1DE5-1F91-8634-931C-5CEF826DF7A7}"/>
              </a:ext>
            </a:extLst>
          </p:cNvPr>
          <p:cNvSpPr txBox="1"/>
          <p:nvPr/>
        </p:nvSpPr>
        <p:spPr>
          <a:xfrm>
            <a:off x="3736723" y="821290"/>
            <a:ext cx="11420895" cy="77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8000" dirty="0">
                <a:solidFill>
                  <a:srgbClr val="25282A"/>
                </a:solidFill>
                <a:latin typeface="Bebas Neue Cyrillic"/>
                <a:sym typeface="Montserrat Ultra-Bold"/>
              </a:rPr>
              <a:t>Future improvements</a:t>
            </a:r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809BA158-7600-3F84-7784-B237F7F64EB6}"/>
              </a:ext>
            </a:extLst>
          </p:cNvPr>
          <p:cNvSpPr/>
          <p:nvPr/>
        </p:nvSpPr>
        <p:spPr>
          <a:xfrm>
            <a:off x="6705600" y="1562100"/>
            <a:ext cx="5349221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36FA8"/>
                </a:solidFill>
                <a:latin typeface="Bricolage Grotesque 36"/>
              </a:rPr>
              <a:t>Scaling the Analytics Platform</a:t>
            </a:r>
          </a:p>
        </p:txBody>
      </p:sp>
      <p:sp>
        <p:nvSpPr>
          <p:cNvPr id="52" name="TextBox 12">
            <a:extLst>
              <a:ext uri="{FF2B5EF4-FFF2-40B4-BE49-F238E27FC236}">
                <a16:creationId xmlns:a16="http://schemas.microsoft.com/office/drawing/2014/main" id="{B8BA2727-C85E-61A7-667E-2E6317D6C58F}"/>
              </a:ext>
            </a:extLst>
          </p:cNvPr>
          <p:cNvSpPr txBox="1"/>
          <p:nvPr/>
        </p:nvSpPr>
        <p:spPr>
          <a:xfrm>
            <a:off x="7050743" y="2661213"/>
            <a:ext cx="702118" cy="729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6000" dirty="0">
                <a:solidFill>
                  <a:schemeClr val="bg2"/>
                </a:solidFill>
                <a:latin typeface="Bricolage Grotesque 36"/>
                <a:sym typeface="Montserrat Ultra-Bold"/>
              </a:rPr>
              <a:t>1</a:t>
            </a:r>
            <a:endParaRPr lang="en-US" sz="6000" b="1" u="none" strike="noStrike" spc="165" dirty="0">
              <a:solidFill>
                <a:schemeClr val="bg2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53" name="TextBox 12">
            <a:extLst>
              <a:ext uri="{FF2B5EF4-FFF2-40B4-BE49-F238E27FC236}">
                <a16:creationId xmlns:a16="http://schemas.microsoft.com/office/drawing/2014/main" id="{1D4A3652-3670-D2AD-B27F-E4E1B3437E58}"/>
              </a:ext>
            </a:extLst>
          </p:cNvPr>
          <p:cNvSpPr txBox="1"/>
          <p:nvPr/>
        </p:nvSpPr>
        <p:spPr>
          <a:xfrm>
            <a:off x="7097486" y="4413813"/>
            <a:ext cx="724554" cy="729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6000" dirty="0">
                <a:solidFill>
                  <a:schemeClr val="bg2"/>
                </a:solidFill>
                <a:latin typeface="Bricolage Grotesque 36"/>
                <a:sym typeface="Montserrat Ultra-Bold"/>
              </a:rPr>
              <a:t>2</a:t>
            </a:r>
            <a:endParaRPr lang="en-US" sz="6000" b="1" u="none" strike="noStrike" spc="165" dirty="0">
              <a:solidFill>
                <a:schemeClr val="bg2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A083F18C-85B1-80DA-BBDF-04FF2EA91428}"/>
              </a:ext>
            </a:extLst>
          </p:cNvPr>
          <p:cNvSpPr txBox="1"/>
          <p:nvPr/>
        </p:nvSpPr>
        <p:spPr>
          <a:xfrm>
            <a:off x="7098564" y="6307145"/>
            <a:ext cx="724554" cy="729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6000" dirty="0">
                <a:solidFill>
                  <a:schemeClr val="bg2"/>
                </a:solidFill>
                <a:latin typeface="Bricolage Grotesque 36"/>
                <a:sym typeface="Montserrat Ultra-Bold"/>
              </a:rPr>
              <a:t>3</a:t>
            </a:r>
            <a:endParaRPr lang="en-US" sz="6000" b="1" u="none" strike="noStrike" spc="165" dirty="0">
              <a:solidFill>
                <a:schemeClr val="bg2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55" name="TextBox 12">
            <a:extLst>
              <a:ext uri="{FF2B5EF4-FFF2-40B4-BE49-F238E27FC236}">
                <a16:creationId xmlns:a16="http://schemas.microsoft.com/office/drawing/2014/main" id="{4B5B26F7-2E53-8A7D-D343-1D7EBF89D811}"/>
              </a:ext>
            </a:extLst>
          </p:cNvPr>
          <p:cNvSpPr txBox="1"/>
          <p:nvPr/>
        </p:nvSpPr>
        <p:spPr>
          <a:xfrm>
            <a:off x="7086600" y="8300013"/>
            <a:ext cx="724554" cy="729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6000" dirty="0">
                <a:solidFill>
                  <a:schemeClr val="bg2"/>
                </a:solidFill>
                <a:latin typeface="Bricolage Grotesque 36"/>
                <a:sym typeface="Montserrat Ultra-Bold"/>
              </a:rPr>
              <a:t>4</a:t>
            </a:r>
            <a:endParaRPr lang="en-US" sz="6000" b="1" u="none" strike="noStrike" spc="165" dirty="0">
              <a:solidFill>
                <a:schemeClr val="bg2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882B73FE-4F64-E6E0-5668-290C25D5076E}"/>
              </a:ext>
            </a:extLst>
          </p:cNvPr>
          <p:cNvSpPr/>
          <p:nvPr/>
        </p:nvSpPr>
        <p:spPr>
          <a:xfrm>
            <a:off x="9214758" y="2678787"/>
            <a:ext cx="408124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Predictive sales forecasting</a:t>
            </a: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1CCF681D-787D-D2E3-6881-C4C920829192}"/>
              </a:ext>
            </a:extLst>
          </p:cNvPr>
          <p:cNvSpPr/>
          <p:nvPr/>
        </p:nvSpPr>
        <p:spPr>
          <a:xfrm>
            <a:off x="9190300" y="3071455"/>
            <a:ext cx="404277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ML-based demand planning</a:t>
            </a:r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99ADD072-FAD1-10EB-DA23-4365448ADF04}"/>
              </a:ext>
            </a:extLst>
          </p:cNvPr>
          <p:cNvSpPr/>
          <p:nvPr/>
        </p:nvSpPr>
        <p:spPr>
          <a:xfrm>
            <a:off x="9190300" y="3452455"/>
            <a:ext cx="4395434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Anomaly detection algorithms</a:t>
            </a:r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3C8F0E2E-28E1-16D4-12FA-984EBBB83303}"/>
              </a:ext>
            </a:extLst>
          </p:cNvPr>
          <p:cNvSpPr/>
          <p:nvPr/>
        </p:nvSpPr>
        <p:spPr>
          <a:xfrm>
            <a:off x="9244658" y="4494257"/>
            <a:ext cx="408124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Segmentation optimization</a:t>
            </a: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B8088D27-15E1-DCDA-1DD1-BF8E62359226}"/>
              </a:ext>
            </a:extLst>
          </p:cNvPr>
          <p:cNvSpPr/>
          <p:nvPr/>
        </p:nvSpPr>
        <p:spPr>
          <a:xfrm>
            <a:off x="9220200" y="4886925"/>
            <a:ext cx="5310749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Customer Lifetime Value (CLV) model</a:t>
            </a:r>
            <a:endParaRPr lang="ar-EG" sz="2400" dirty="0">
              <a:solidFill>
                <a:schemeClr val="tx1">
                  <a:lumMod val="75000"/>
                  <a:lumOff val="25000"/>
                </a:schemeClr>
              </a:solidFill>
              <a:latin typeface="Bricolage Grotesque 36"/>
            </a:endParaRPr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706C76F9-4F01-4988-B6B0-9AF79D522F70}"/>
              </a:ext>
            </a:extLst>
          </p:cNvPr>
          <p:cNvSpPr/>
          <p:nvPr/>
        </p:nvSpPr>
        <p:spPr>
          <a:xfrm>
            <a:off x="9220200" y="5267925"/>
            <a:ext cx="3755836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Churn prediction analysis</a:t>
            </a:r>
            <a:endParaRPr lang="ar-EG" sz="2400" dirty="0">
              <a:solidFill>
                <a:schemeClr val="tx1">
                  <a:lumMod val="75000"/>
                  <a:lumOff val="25000"/>
                </a:schemeClr>
              </a:solidFill>
              <a:latin typeface="Bricolage Grotesque 36"/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A0AC6698-9719-7270-33EF-4F9AEDB6B61B}"/>
              </a:ext>
            </a:extLst>
          </p:cNvPr>
          <p:cNvSpPr/>
          <p:nvPr/>
        </p:nvSpPr>
        <p:spPr>
          <a:xfrm>
            <a:off x="9244658" y="6286500"/>
            <a:ext cx="415338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Inventory &amp; CRM integration</a:t>
            </a: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779EE04B-2936-59AD-4260-FEE3905F8672}"/>
              </a:ext>
            </a:extLst>
          </p:cNvPr>
          <p:cNvSpPr/>
          <p:nvPr/>
        </p:nvSpPr>
        <p:spPr>
          <a:xfrm>
            <a:off x="9220200" y="6679168"/>
            <a:ext cx="390491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Marketing data integration</a:t>
            </a:r>
            <a:endParaRPr lang="ar-EG" sz="2400" dirty="0">
              <a:solidFill>
                <a:schemeClr val="tx1">
                  <a:lumMod val="75000"/>
                  <a:lumOff val="25000"/>
                </a:schemeClr>
              </a:solidFill>
              <a:latin typeface="Bricolage Grotesque 36"/>
            </a:endParaRPr>
          </a:p>
        </p:txBody>
      </p:sp>
      <p:sp>
        <p:nvSpPr>
          <p:cNvPr id="64" name="Text 13">
            <a:extLst>
              <a:ext uri="{FF2B5EF4-FFF2-40B4-BE49-F238E27FC236}">
                <a16:creationId xmlns:a16="http://schemas.microsoft.com/office/drawing/2014/main" id="{E15ADF61-F720-8FB0-8C59-1C80750B00E6}"/>
              </a:ext>
            </a:extLst>
          </p:cNvPr>
          <p:cNvSpPr/>
          <p:nvPr/>
        </p:nvSpPr>
        <p:spPr>
          <a:xfrm>
            <a:off x="9220200" y="7060168"/>
            <a:ext cx="4839466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Automated data refresh pipelines</a:t>
            </a:r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C6D6E18F-C2CD-32BF-2CCC-871A42DAC9D7}"/>
              </a:ext>
            </a:extLst>
          </p:cNvPr>
          <p:cNvSpPr/>
          <p:nvPr/>
        </p:nvSpPr>
        <p:spPr>
          <a:xfrm>
            <a:off x="9168458" y="8111952"/>
            <a:ext cx="4616648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Enhanced accessibility features</a:t>
            </a:r>
          </a:p>
        </p:txBody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0E8A132F-E5E5-B679-33F5-C5F06C36C00F}"/>
              </a:ext>
            </a:extLst>
          </p:cNvPr>
          <p:cNvSpPr/>
          <p:nvPr/>
        </p:nvSpPr>
        <p:spPr>
          <a:xfrm>
            <a:off x="9144000" y="8504620"/>
            <a:ext cx="3202800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Executive mobile app</a:t>
            </a:r>
            <a:endParaRPr lang="ar-EG" sz="2400" dirty="0">
              <a:solidFill>
                <a:schemeClr val="tx1">
                  <a:lumMod val="75000"/>
                  <a:lumOff val="25000"/>
                </a:schemeClr>
              </a:solidFill>
              <a:latin typeface="Bricolage Grotesque 36"/>
            </a:endParaRPr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EDAA41E1-06DB-AB6F-A58F-42C99B945641}"/>
              </a:ext>
            </a:extLst>
          </p:cNvPr>
          <p:cNvSpPr/>
          <p:nvPr/>
        </p:nvSpPr>
        <p:spPr>
          <a:xfrm>
            <a:off x="9144000" y="8885620"/>
            <a:ext cx="385682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Mobile-friendly</a:t>
            </a:r>
            <a:r>
              <a:rPr lang="en-US" b="1" dirty="0"/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icolage Grotesque 36"/>
              </a:rPr>
              <a:t>dashboard</a:t>
            </a:r>
            <a:endParaRPr lang="ar-EG" sz="2400" dirty="0">
              <a:solidFill>
                <a:schemeClr val="tx1">
                  <a:lumMod val="75000"/>
                  <a:lumOff val="25000"/>
                </a:schemeClr>
              </a:solidFill>
              <a:latin typeface="Bricolage Grotesque 36"/>
            </a:endParaRPr>
          </a:p>
        </p:txBody>
      </p:sp>
      <p:sp>
        <p:nvSpPr>
          <p:cNvPr id="68" name="TextBox 26">
            <a:extLst>
              <a:ext uri="{FF2B5EF4-FFF2-40B4-BE49-F238E27FC236}">
                <a16:creationId xmlns:a16="http://schemas.microsoft.com/office/drawing/2014/main" id="{18878FC3-F1C1-1DEA-86EF-6E812C7970F4}"/>
              </a:ext>
            </a:extLst>
          </p:cNvPr>
          <p:cNvSpPr txBox="1"/>
          <p:nvPr/>
        </p:nvSpPr>
        <p:spPr>
          <a:xfrm>
            <a:off x="842113" y="9434036"/>
            <a:ext cx="1707619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2400" i="1" dirty="0">
                <a:solidFill>
                  <a:srgbClr val="25282A"/>
                </a:solidFill>
                <a:latin typeface="Bricolage Grotesque 36"/>
                <a:ea typeface="Bricolage Grotesque 36"/>
                <a:cs typeface="Bricolage Grotesque 36"/>
                <a:sym typeface="Bricolage Grotesque 36"/>
              </a:rPr>
              <a:t>Transform the analytics platform into a comprehensive, AI-powered intelligence system that enables real-time decision-making across the entire organization.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2114" y="3518625"/>
            <a:ext cx="6934200" cy="3590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8000" dirty="0">
                <a:solidFill>
                  <a:srgbClr val="F2F2F2"/>
                </a:solidFill>
                <a:latin typeface="Bebas Neue Cyrillic"/>
              </a:rPr>
              <a:t>Turning</a:t>
            </a:r>
          </a:p>
          <a:p>
            <a:pPr>
              <a:lnSpc>
                <a:spcPts val="7000"/>
              </a:lnSpc>
            </a:pPr>
            <a:r>
              <a:rPr lang="en-US" sz="8000" dirty="0">
                <a:solidFill>
                  <a:srgbClr val="336FA8"/>
                </a:solidFill>
                <a:latin typeface="Bebas Neue Cyrillic"/>
              </a:rPr>
              <a:t>Raw Data </a:t>
            </a:r>
          </a:p>
          <a:p>
            <a:pPr>
              <a:lnSpc>
                <a:spcPts val="7000"/>
              </a:lnSpc>
            </a:pPr>
            <a:r>
              <a:rPr lang="en-US" sz="8000" dirty="0">
                <a:solidFill>
                  <a:srgbClr val="F2F2F2"/>
                </a:solidFill>
                <a:latin typeface="Bebas Neue Cyrillic"/>
              </a:rPr>
              <a:t>into</a:t>
            </a:r>
          </a:p>
          <a:p>
            <a:pPr>
              <a:lnSpc>
                <a:spcPts val="7000"/>
              </a:lnSpc>
            </a:pPr>
            <a:r>
              <a:rPr lang="en-US" sz="8000" dirty="0">
                <a:solidFill>
                  <a:srgbClr val="336FA8"/>
                </a:solidFill>
                <a:latin typeface="Bebas Neue Cyrillic"/>
              </a:rPr>
              <a:t>Actionable Insights</a:t>
            </a:r>
          </a:p>
        </p:txBody>
      </p:sp>
      <p:sp>
        <p:nvSpPr>
          <p:cNvPr id="5" name="Text 2"/>
          <p:cNvSpPr/>
          <p:nvPr/>
        </p:nvSpPr>
        <p:spPr>
          <a:xfrm>
            <a:off x="1143000" y="7093382"/>
            <a:ext cx="2110962" cy="3361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000" dirty="0">
                <a:solidFill>
                  <a:srgbClr val="0FAF7F"/>
                </a:solidFill>
                <a:latin typeface="Bricolage Grotesque 36" panose="020B0604020202020204" charset="0"/>
              </a:rPr>
              <a:t>LIMITLESS INSIGHTS</a:t>
            </a:r>
          </a:p>
        </p:txBody>
      </p:sp>
      <p:sp>
        <p:nvSpPr>
          <p:cNvPr id="6" name="Text 3"/>
          <p:cNvSpPr/>
          <p:nvPr/>
        </p:nvSpPr>
        <p:spPr>
          <a:xfrm>
            <a:off x="10972800" y="6210300"/>
            <a:ext cx="4879541" cy="546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8000" dirty="0">
                <a:solidFill>
                  <a:srgbClr val="0FAF7F"/>
                </a:solidFill>
                <a:latin typeface="Bricolage Grotesque 36" panose="020B0604020202020204" charset="0"/>
              </a:rPr>
              <a:t>Thank You!</a:t>
            </a:r>
          </a:p>
        </p:txBody>
      </p:sp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EC60DA3A-B0BC-4D6F-170C-67EEFE98CBFA}"/>
              </a:ext>
            </a:extLst>
          </p:cNvPr>
          <p:cNvSpPr/>
          <p:nvPr/>
        </p:nvSpPr>
        <p:spPr>
          <a:xfrm>
            <a:off x="14933180" y="7621387"/>
            <a:ext cx="3354820" cy="2748408"/>
          </a:xfrm>
          <a:prstGeom prst="snip2Diag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sz="11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59DB3EF1-509B-7AE0-320B-69FC4CBCA124}"/>
              </a:ext>
            </a:extLst>
          </p:cNvPr>
          <p:cNvSpPr/>
          <p:nvPr/>
        </p:nvSpPr>
        <p:spPr>
          <a:xfrm>
            <a:off x="15392400" y="7886700"/>
            <a:ext cx="2477266" cy="2037213"/>
          </a:xfrm>
          <a:custGeom>
            <a:avLst/>
            <a:gdLst/>
            <a:ahLst/>
            <a:cxnLst/>
            <a:rect l="l" t="t" r="r" b="b"/>
            <a:pathLst>
              <a:path w="1521492" h="1398791">
                <a:moveTo>
                  <a:pt x="0" y="0"/>
                </a:moveTo>
                <a:lnTo>
                  <a:pt x="1521491" y="0"/>
                </a:lnTo>
                <a:lnTo>
                  <a:pt x="1521491" y="1398791"/>
                </a:lnTo>
                <a:lnTo>
                  <a:pt x="0" y="1398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1457</Words>
  <Application>Microsoft Office PowerPoint</Application>
  <PresentationFormat>Custom</PresentationFormat>
  <Paragraphs>287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Bricolage Grotesque 36 Bold</vt:lpstr>
      <vt:lpstr>Arial</vt:lpstr>
      <vt:lpstr>Bricolage Grotesque 36</vt:lpstr>
      <vt:lpstr>TT Hoves Bold</vt:lpstr>
      <vt:lpstr>Bricolage Grotesque 36 Light</vt:lpstr>
      <vt:lpstr>Bebas Neue Cyrillic</vt:lpstr>
      <vt:lpstr>TT Hoves</vt:lpstr>
      <vt:lpstr>Calibri</vt:lpstr>
      <vt:lpstr>Montserrat Ultra-Bold</vt:lpstr>
      <vt:lpstr>Montserrat Bold</vt:lpstr>
      <vt:lpstr>Montserrat</vt:lpstr>
      <vt:lpstr>Aptos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Multicolor Pastel Modern Corporate Infographic And Chart Presentation</dc:title>
  <dc:creator>BasantSaeed</dc:creator>
  <cp:lastModifiedBy>Administrator</cp:lastModifiedBy>
  <cp:revision>103</cp:revision>
  <dcterms:created xsi:type="dcterms:W3CDTF">2006-08-16T00:00:00Z</dcterms:created>
  <dcterms:modified xsi:type="dcterms:W3CDTF">2025-12-12T14:00:34Z</dcterms:modified>
  <dc:identifier>DAG6NfXZy7A</dc:identifier>
</cp:coreProperties>
</file>
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75" r:id="rId4"/>
    <p:sldId id="276" r:id="rId5"/>
    <p:sldId id="258" r:id="rId6"/>
    <p:sldId id="259" r:id="rId7"/>
    <p:sldId id="262" r:id="rId8"/>
    <p:sldId id="260" r:id="rId9"/>
    <p:sldId id="263" r:id="rId10"/>
    <p:sldId id="273" r:id="rId11"/>
    <p:sldId id="271" r:id="rId12"/>
    <p:sldId id="274" r:id="rId13"/>
    <p:sldId id="264" r:id="rId14"/>
    <p:sldId id="261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534" y="2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32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51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6500" y="0"/>
            <a:ext cx="2857500" cy="5165127"/>
          </a:xfrm>
          <a:prstGeom prst="rect">
            <a:avLst/>
          </a:prstGeom>
          <a:solidFill>
            <a:srgbClr val="003399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171575"/>
            <a:ext cx="3429000" cy="329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2F2F2"/>
                </a:solidFill>
              </a:rPr>
              <a:t>Sales Performance Analysis for Better Business Decisions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4606156"/>
            <a:ext cx="3429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52CC"/>
                </a:solidFill>
              </a:rPr>
              <a:t>Turning Raw Data into Actionable Insights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143500" y="1157288"/>
            <a:ext cx="34290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2F2F2"/>
                </a:solidFill>
              </a:rPr>
              <a:t>Limitless Insights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143500" y="1644848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Data Cleaning Specialist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143500" y="1804857"/>
            <a:ext cx="3429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Ensuring data quality and consistency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143500" y="2130596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SQL Analyst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143500" y="2290604"/>
            <a:ext cx="3429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Extracting insights through structured queries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143500" y="2616343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BI Developer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5143500" y="2776351"/>
            <a:ext cx="3429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Building interactive dashboards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143500" y="3102090"/>
            <a:ext cx="3429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Documentation Lead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143500" y="3262099"/>
            <a:ext cx="3429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Comprehensive project documentation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17745" y="1089785"/>
            <a:ext cx="2908483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Team Members and Roles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723010" y="1672698"/>
            <a:ext cx="169795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Limitless Insights</a:t>
            </a:r>
            <a:endParaRPr lang="en-US" sz="1397" dirty="0"/>
          </a:p>
        </p:txBody>
      </p:sp>
      <p:sp>
        <p:nvSpPr>
          <p:cNvPr id="5" name="Shape 2"/>
          <p:cNvSpPr/>
          <p:nvPr/>
        </p:nvSpPr>
        <p:spPr>
          <a:xfrm>
            <a:off x="2815837" y="2195978"/>
            <a:ext cx="1649006" cy="46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815837" y="2195978"/>
            <a:ext cx="1649006" cy="214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7" name="Text 4"/>
          <p:cNvSpPr/>
          <p:nvPr/>
        </p:nvSpPr>
        <p:spPr>
          <a:xfrm>
            <a:off x="3158862" y="2338853"/>
            <a:ext cx="962956" cy="179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Karim Azab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79156" y="2195978"/>
            <a:ext cx="1649006" cy="46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679156" y="2195978"/>
            <a:ext cx="1649006" cy="214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0" name="Text 7"/>
          <p:cNvSpPr/>
          <p:nvPr/>
        </p:nvSpPr>
        <p:spPr>
          <a:xfrm>
            <a:off x="4602932" y="2349568"/>
            <a:ext cx="1801455" cy="179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Basant Saeed Ahmed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15837" y="2866765"/>
            <a:ext cx="1649006" cy="46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815837" y="2866765"/>
            <a:ext cx="1649006" cy="214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2884492" y="3009640"/>
            <a:ext cx="1511697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Mohamed Metwally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79156" y="2866765"/>
            <a:ext cx="1649006" cy="467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679156" y="2866765"/>
            <a:ext cx="1649006" cy="214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6" name="Text 13"/>
          <p:cNvSpPr/>
          <p:nvPr/>
        </p:nvSpPr>
        <p:spPr>
          <a:xfrm>
            <a:off x="4589627" y="3020355"/>
            <a:ext cx="1828065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Eman Hamdy Abdelnaby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1967" y="3680427"/>
            <a:ext cx="65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57313" y="3903669"/>
            <a:ext cx="6429375" cy="54111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A full-stack data analysis team responsible for data collection and cleaning, database construction, applying advanced SQL queries, and creating interactive PowerBI dashboards to deliver actionable insights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012654"/>
            <a:ext cx="5072063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Project Idea and Goal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524130"/>
            <a:ext cx="708079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Core Idea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8625" y="1731299"/>
            <a:ext cx="5072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Comprehensive analysis of sales data to determine current market performance and identify future growth trends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2275619"/>
            <a:ext cx="770596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Main Goal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482788"/>
            <a:ext cx="5072063" cy="54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Provide actionable insights to help decision-makers assess market evolution, identify seasonal and regional patterns, and optimize pricing and inventory strategies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7213" y="3169983"/>
            <a:ext cx="748154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Sub-Goals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213" y="3377152"/>
            <a:ext cx="3244799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Assess overall market size and sales volume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7213" y="3623611"/>
            <a:ext cx="4052071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Analyze historical growth and identify cyclical patterns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7213" y="3870071"/>
            <a:ext cx="3555973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Determine regional and local sales performance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1500188"/>
            <a:ext cx="28575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87291"/>
            <a:ext cx="4786313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Project Methodology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34486"/>
            <a:ext cx="399918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Step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493434"/>
            <a:ext cx="1087029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Data Preparation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1691673"/>
            <a:ext cx="3348545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Loading data from the CSV file into a MySQL database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1870267"/>
            <a:ext cx="1429237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i="1" dirty="0">
                <a:solidFill>
                  <a:srgbClr val="666666"/>
                </a:solidFill>
              </a:rPr>
              <a:t>File: Different Store.csv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124568"/>
            <a:ext cx="399918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Step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2283516"/>
            <a:ext cx="1450910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Database Construction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" y="2481755"/>
            <a:ext cx="4614148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Creating the Sales table with required structure and all necessary columns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2660349"/>
            <a:ext cx="4643438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i="1" dirty="0">
                <a:solidFill>
                  <a:srgbClr val="666666"/>
                </a:solidFill>
              </a:rPr>
              <a:t>Key columns: invoice_no, customer_id, gender, age, category, quantity, prices, profit, payment_method, region, state, shopping_mall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1500" y="3054651"/>
            <a:ext cx="399918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Step 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" y="3213599"/>
            <a:ext cx="521618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Analysis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" y="3411838"/>
            <a:ext cx="4437177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Applying advanced SQL queries to calculate key performance indicators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1500" y="3590432"/>
            <a:ext cx="4325928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i="1" dirty="0">
                <a:solidFill>
                  <a:srgbClr val="666666"/>
                </a:solidFill>
              </a:rPr>
              <a:t>Calculating margins, revenues, regional performance, and seasonality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1500" y="3844733"/>
            <a:ext cx="399918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Step 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1500" y="4003681"/>
            <a:ext cx="817403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1500" y="4201920"/>
            <a:ext cx="3110852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Creating an interactive dashboard using PowerBI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1500" y="4380514"/>
            <a:ext cx="3026726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Charts, tables, and visual performance indicators</a:t>
            </a: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8" y="1214438"/>
            <a:ext cx="3214688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preencoded.png">
            <a:extLst>
              <a:ext uri="{FF2B5EF4-FFF2-40B4-BE49-F238E27FC236}">
                <a16:creationId xmlns:a16="http://schemas.microsoft.com/office/drawing/2014/main" id="{B1B3FAB3-E594-4BEE-8D1D-A580D34F0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1517980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Dataset Overview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12602"/>
            <a:ext cx="2249655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Guiding the Analytics Strategy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8625" y="1234083"/>
            <a:ext cx="1603965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Core KPIs Researched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28625" y="1512689"/>
            <a:ext cx="2666991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512689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512689"/>
            <a:ext cx="2666991" cy="50622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Revenue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38491" y="1512689"/>
            <a:ext cx="2666991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238491" y="1512689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1" name="Text 8"/>
          <p:cNvSpPr/>
          <p:nvPr/>
        </p:nvSpPr>
        <p:spPr>
          <a:xfrm>
            <a:off x="3238491" y="1512689"/>
            <a:ext cx="2666991" cy="50622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Profit &amp; Profit Margin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48356" y="1512689"/>
            <a:ext cx="2667019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48356" y="1512689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4" name="Text 11"/>
          <p:cNvSpPr/>
          <p:nvPr/>
        </p:nvSpPr>
        <p:spPr>
          <a:xfrm>
            <a:off x="6048356" y="1512689"/>
            <a:ext cx="2667019" cy="50622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Sales by Region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8625" y="2091333"/>
            <a:ext cx="2666991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2091333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2091333"/>
            <a:ext cx="2666991" cy="50622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Sales by Category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38491" y="2091333"/>
            <a:ext cx="2666991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3238491" y="2091333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0" name="Text 17"/>
          <p:cNvSpPr/>
          <p:nvPr/>
        </p:nvSpPr>
        <p:spPr>
          <a:xfrm>
            <a:off x="3238491" y="2091333"/>
            <a:ext cx="2666991" cy="50622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Customer Segments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48356" y="2091333"/>
            <a:ext cx="2667019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6048356" y="2091333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3" name="Text 20"/>
          <p:cNvSpPr/>
          <p:nvPr/>
        </p:nvSpPr>
        <p:spPr>
          <a:xfrm>
            <a:off x="6048356" y="2053181"/>
            <a:ext cx="2667019" cy="6601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Order Priority &amp; Payment Methods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28625" y="3098602"/>
            <a:ext cx="1332544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Dataset Overview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00075" y="3377208"/>
            <a:ext cx="432234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dirty="0">
                <a:solidFill>
                  <a:srgbClr val="0052CC"/>
                </a:solidFill>
              </a:rPr>
              <a:t>Source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0075" y="3529013"/>
            <a:ext cx="1640642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Different_stores_data_V2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0075" y="3720108"/>
            <a:ext cx="2233432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Superstore-equivalent retail dataset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0075" y="4013002"/>
            <a:ext cx="712887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dirty="0">
                <a:solidFill>
                  <a:srgbClr val="0052CC"/>
                </a:solidFill>
              </a:rPr>
              <a:t>Data Scope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00075" y="4164806"/>
            <a:ext cx="1181414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Multi-dimensional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0075" y="4355902"/>
            <a:ext cx="3420936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Transactions across regions, states, and shopping malls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80261" y="3543300"/>
            <a:ext cx="137538" cy="2051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6813156" y="3543300"/>
            <a:ext cx="137538" cy="2051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7334287" y="3543300"/>
            <a:ext cx="137538" cy="2051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7837670" y="3543300"/>
            <a:ext cx="137538" cy="2051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946E5EB4-A0FA-4000-9B38-3DC62D004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Data Cleaning and Preparation Process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12602"/>
            <a:ext cx="2733056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1" dirty="0">
                <a:solidFill>
                  <a:srgbClr val="0052CC"/>
                </a:solidFill>
              </a:rPr>
              <a:t>Ensuring Data Quality and Reliability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8625" y="1234083"/>
            <a:ext cx="4000500" cy="256993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Raw Data Issues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1651992"/>
            <a:ext cx="1345048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dirty="0">
                <a:solidFill>
                  <a:srgbClr val="0052CC"/>
                </a:solidFill>
              </a:rPr>
              <a:t>Challenges Identified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1875234"/>
            <a:ext cx="12503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C0000"/>
                </a:solidFill>
              </a:rPr>
              <a:t>✕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8650" y="1882378"/>
            <a:ext cx="2580130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Missing or incomplete values in key fields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2110978"/>
            <a:ext cx="12503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C0000"/>
                </a:solidFill>
              </a:rPr>
              <a:t>✕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8650" y="2118122"/>
            <a:ext cx="2318520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Duplicate records across transactions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25" y="2346722"/>
            <a:ext cx="12503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C0000"/>
                </a:solidFill>
              </a:rPr>
              <a:t>✕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8650" y="2353866"/>
            <a:ext cx="2797369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Inconsistent category naming and formatting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8625" y="2582466"/>
            <a:ext cx="12503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C0000"/>
                </a:solidFill>
              </a:rPr>
              <a:t>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8650" y="2589609"/>
            <a:ext cx="1831207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Incorrect or mixed data types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14875" y="1234083"/>
            <a:ext cx="4000500" cy="27503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Clean Data Solutions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4714875" y="1651992"/>
            <a:ext cx="4000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Improvements Applied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4714875" y="1875234"/>
            <a:ext cx="11541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AA00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14900" y="1882378"/>
            <a:ext cx="3175806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Handled missing values with appropriate strategies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14875" y="2110978"/>
            <a:ext cx="11541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AA00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14900" y="2118122"/>
            <a:ext cx="3319050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Removed duplicate records and validated uniqueness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14875" y="2346722"/>
            <a:ext cx="11541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AA00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14900" y="2353866"/>
            <a:ext cx="3552063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Standardized all category values and naming conventions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14875" y="2582466"/>
            <a:ext cx="11541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AA00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14900" y="2589609"/>
            <a:ext cx="3658502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Converted fields to correct data types (numeric, date, text)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14875" y="2818209"/>
            <a:ext cx="65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14900" y="2825353"/>
            <a:ext cx="65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28625" y="3253978"/>
            <a:ext cx="8286750" cy="582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3253978"/>
            <a:ext cx="28575" cy="54292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1" name="Text 28"/>
          <p:cNvSpPr/>
          <p:nvPr/>
        </p:nvSpPr>
        <p:spPr>
          <a:xfrm>
            <a:off x="553659" y="3295408"/>
            <a:ext cx="1567737" cy="114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Tools &amp; Technologies Used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71500" y="3409607"/>
            <a:ext cx="346974" cy="38729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3" name="Text 30"/>
          <p:cNvSpPr/>
          <p:nvPr/>
        </p:nvSpPr>
        <p:spPr>
          <a:xfrm>
            <a:off x="589341" y="3406651"/>
            <a:ext cx="346974" cy="45775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F2F2F2"/>
                </a:solidFill>
              </a:rPr>
              <a:t>SQL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16711" y="3409608"/>
            <a:ext cx="621590" cy="348972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5" name="Text 32"/>
          <p:cNvSpPr/>
          <p:nvPr/>
        </p:nvSpPr>
        <p:spPr>
          <a:xfrm>
            <a:off x="1045884" y="3432087"/>
            <a:ext cx="727790" cy="34233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F2F2F2"/>
                </a:solidFill>
              </a:rPr>
              <a:t>Power Query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718697" y="3469613"/>
            <a:ext cx="869277" cy="23952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7" name="Text 34"/>
          <p:cNvSpPr/>
          <p:nvPr/>
        </p:nvSpPr>
        <p:spPr>
          <a:xfrm>
            <a:off x="1755991" y="3432085"/>
            <a:ext cx="869277" cy="34233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F2F2F2"/>
                </a:solidFill>
              </a:rPr>
              <a:t>Data Validation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28625" y="4021364"/>
            <a:ext cx="8286750" cy="65041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39" name="Shape 36"/>
          <p:cNvSpPr/>
          <p:nvPr/>
        </p:nvSpPr>
        <p:spPr>
          <a:xfrm>
            <a:off x="428625" y="4011216"/>
            <a:ext cx="28575" cy="65041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0" name="Text 37"/>
          <p:cNvSpPr/>
          <p:nvPr/>
        </p:nvSpPr>
        <p:spPr>
          <a:xfrm>
            <a:off x="571500" y="4154091"/>
            <a:ext cx="405560" cy="114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Impact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71500" y="4341614"/>
            <a:ext cx="8001000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The cleaning process transformed raw, inconsistent data into a reliable, structured source ready for advanced modeling and analysis. This ensures accuracy in all downstream KPI calculations and dashboard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8FC26E0C-2790-4D6E-87A3-95AAE0771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4288" cy="520132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161018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Star Schema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694730"/>
            <a:ext cx="1064972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Data Model Design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8625" y="953691"/>
            <a:ext cx="3857625" cy="1150144"/>
          </a:xfrm>
          <a:prstGeom prst="rect">
            <a:avLst/>
          </a:prstGeom>
          <a:solidFill>
            <a:srgbClr val="E8F0FF"/>
          </a:solidFill>
          <a:ln w="18288">
            <a:solidFill>
              <a:srgbClr val="0052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0063" y="1025128"/>
            <a:ext cx="633315" cy="1079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1200" b="1" dirty="0">
                <a:solidFill>
                  <a:srgbClr val="0052CC"/>
                </a:solidFill>
              </a:rPr>
              <a:t>Fact Table</a:t>
            </a:r>
            <a:endParaRPr lang="en-US" sz="1200" b="1" dirty="0"/>
          </a:p>
        </p:txBody>
      </p:sp>
      <p:sp>
        <p:nvSpPr>
          <p:cNvPr id="8" name="Text 5"/>
          <p:cNvSpPr/>
          <p:nvPr/>
        </p:nvSpPr>
        <p:spPr>
          <a:xfrm>
            <a:off x="500063" y="1168003"/>
            <a:ext cx="582467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FactSales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0063" y="1360884"/>
            <a:ext cx="3714750" cy="64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invoice_no
 quantity
 selling_price
 cost_price
 Keys: date, customer, product, location, payment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8625" y="2175272"/>
            <a:ext cx="3857625" cy="5786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28625" y="2175272"/>
            <a:ext cx="28575" cy="578644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Text 9"/>
          <p:cNvSpPr/>
          <p:nvPr/>
        </p:nvSpPr>
        <p:spPr>
          <a:xfrm>
            <a:off x="535781" y="2232422"/>
            <a:ext cx="942566" cy="101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1000" b="1" dirty="0">
                <a:solidFill>
                  <a:srgbClr val="0052CC"/>
                </a:solidFill>
              </a:rPr>
              <a:t>Dimension Tables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5781" y="2375297"/>
            <a:ext cx="560987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DimDate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5781" y="2568178"/>
            <a:ext cx="2979918" cy="14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date_key, full_date, year, month, quarter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8625" y="2853928"/>
            <a:ext cx="3857625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2853928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7" name="Text 14"/>
          <p:cNvSpPr/>
          <p:nvPr/>
        </p:nvSpPr>
        <p:spPr>
          <a:xfrm>
            <a:off x="535781" y="2911078"/>
            <a:ext cx="876843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DimCustomer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5781" y="3103959"/>
            <a:ext cx="2955809" cy="14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customer_id, age, gender, demographics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8625" y="3389709"/>
            <a:ext cx="3857625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3389709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Text 18"/>
          <p:cNvSpPr/>
          <p:nvPr/>
        </p:nvSpPr>
        <p:spPr>
          <a:xfrm>
            <a:off x="535781" y="3446859"/>
            <a:ext cx="762773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DimProduct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5781" y="3639741"/>
            <a:ext cx="2576283" cy="14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product_key, category, subcategory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8625" y="3925491"/>
            <a:ext cx="3857625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625" y="3925491"/>
            <a:ext cx="28575" cy="4357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5" name="Text 22"/>
          <p:cNvSpPr/>
          <p:nvPr/>
        </p:nvSpPr>
        <p:spPr>
          <a:xfrm>
            <a:off x="535781" y="3982641"/>
            <a:ext cx="805605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DimLocation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5781" y="4175522"/>
            <a:ext cx="3063980" cy="14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location_key, region, state, shopping_mall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87701" y="4393729"/>
            <a:ext cx="3567973" cy="64229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333333"/>
                </a:solidFill>
              </a:rPr>
              <a:t>Why Star Schema?</a:t>
            </a:r>
            <a:r>
              <a:rPr lang="en-US" sz="1400" dirty="0">
                <a:solidFill>
                  <a:srgbClr val="333333"/>
                </a:solidFill>
              </a:rPr>
              <a:t> Simplifies complex queries, improves dashboard performance, and ensures consistency across all reports.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57750" y="428625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DAX Measures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4857750" y="694730"/>
            <a:ext cx="914161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Key Calculations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57750" y="953691"/>
            <a:ext cx="3857625" cy="802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4857750" y="953691"/>
            <a:ext cx="28575" cy="80294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2" name="Text 29"/>
          <p:cNvSpPr/>
          <p:nvPr/>
        </p:nvSpPr>
        <p:spPr>
          <a:xfrm>
            <a:off x="4964906" y="1060847"/>
            <a:ext cx="782650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Total Sales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964906" y="1253728"/>
            <a:ext cx="3643313" cy="224303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Text 31"/>
          <p:cNvSpPr/>
          <p:nvPr/>
        </p:nvSpPr>
        <p:spPr>
          <a:xfrm>
            <a:off x="4964906" y="1253728"/>
            <a:ext cx="3643313" cy="2646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0052CC"/>
                </a:solidFill>
              </a:rPr>
              <a:t>SUMX(FactSales, [quantity] * [selling_price])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964906" y="1520893"/>
            <a:ext cx="2528706" cy="14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Total revenue from all transactions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857750" y="1885224"/>
            <a:ext cx="3857625" cy="802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857750" y="1885224"/>
            <a:ext cx="28575" cy="80294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8" name="Text 35"/>
          <p:cNvSpPr/>
          <p:nvPr/>
        </p:nvSpPr>
        <p:spPr>
          <a:xfrm>
            <a:off x="4964906" y="1992381"/>
            <a:ext cx="820546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Total Profit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964906" y="2185262"/>
            <a:ext cx="3643313" cy="224303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Text 37"/>
          <p:cNvSpPr/>
          <p:nvPr/>
        </p:nvSpPr>
        <p:spPr>
          <a:xfrm>
            <a:off x="4964906" y="2185262"/>
            <a:ext cx="3643313" cy="2646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0052CC"/>
                </a:solidFill>
              </a:rPr>
              <a:t>[Total Sales] - [Total Cost]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964906" y="2452427"/>
            <a:ext cx="2125262" cy="14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Net profit after product costs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857750" y="2816758"/>
            <a:ext cx="3857625" cy="802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0"/>
          <p:cNvSpPr/>
          <p:nvPr/>
        </p:nvSpPr>
        <p:spPr>
          <a:xfrm>
            <a:off x="4857750" y="2816758"/>
            <a:ext cx="28575" cy="80294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4" name="Text 41"/>
          <p:cNvSpPr/>
          <p:nvPr/>
        </p:nvSpPr>
        <p:spPr>
          <a:xfrm>
            <a:off x="4964906" y="2923915"/>
            <a:ext cx="991169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Profit Margin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964906" y="3116796"/>
            <a:ext cx="3643313" cy="224303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6" name="Text 43"/>
          <p:cNvSpPr/>
          <p:nvPr/>
        </p:nvSpPr>
        <p:spPr>
          <a:xfrm>
            <a:off x="4964906" y="3116796"/>
            <a:ext cx="3643313" cy="2646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0052CC"/>
                </a:solidFill>
              </a:rPr>
              <a:t>DIVIDE([Total Profit], [Total Sales])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964906" y="3383961"/>
            <a:ext cx="2300117" cy="14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Profitability percentage of sales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4857750" y="3748292"/>
            <a:ext cx="3857625" cy="802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6"/>
          <p:cNvSpPr/>
          <p:nvPr/>
        </p:nvSpPr>
        <p:spPr>
          <a:xfrm>
            <a:off x="4857750" y="3748292"/>
            <a:ext cx="28575" cy="80294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0" name="Text 47"/>
          <p:cNvSpPr/>
          <p:nvPr/>
        </p:nvSpPr>
        <p:spPr>
          <a:xfrm>
            <a:off x="4964906" y="3855448"/>
            <a:ext cx="1527726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1A1A1A"/>
                </a:solidFill>
              </a:rPr>
              <a:t>Average Order Value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4964906" y="4048330"/>
            <a:ext cx="3643313" cy="224303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Text 49"/>
          <p:cNvSpPr/>
          <p:nvPr/>
        </p:nvSpPr>
        <p:spPr>
          <a:xfrm>
            <a:off x="4964906" y="4048330"/>
            <a:ext cx="3643313" cy="2646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0052CC"/>
                </a:solidFill>
              </a:rPr>
              <a:t>DIVIDE([Total Sales], DISTINCTCOUNT(invoice_no))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4964906" y="4383815"/>
            <a:ext cx="2379241" cy="1435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Average revenue per transaction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2AAA0D11-7FDB-4D44-99A7-FAE2E460F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4288" cy="5143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1109727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Core SQL Queries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707231"/>
            <a:ext cx="3857625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SQL-Driven Analysis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428625" y="1181565"/>
            <a:ext cx="1171796" cy="114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Total Sales Revenue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8625" y="1354801"/>
            <a:ext cx="3857625" cy="28145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354801"/>
            <a:ext cx="21431" cy="28145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Text 6"/>
          <p:cNvSpPr/>
          <p:nvPr/>
        </p:nvSpPr>
        <p:spPr>
          <a:xfrm>
            <a:off x="417910" y="1301238"/>
            <a:ext cx="3857625" cy="4437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SELECT SUM(selling_price_per_unit * quantity) AS total_sales_revenue FROM sales;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1814847"/>
            <a:ext cx="109324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Gross Profit Margin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8625" y="1988083"/>
            <a:ext cx="3857625" cy="28145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1988083"/>
            <a:ext cx="21431" cy="28145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378271" y="1923543"/>
            <a:ext cx="3857625" cy="4437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SELECT ROUND((SUM(profit) / SUM(revenue)) * 100, 2) AS profit_margin_percent FROM sales;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8625" y="2448130"/>
            <a:ext cx="119423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Category Profitability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625" y="2621366"/>
            <a:ext cx="3857625" cy="39145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2621366"/>
            <a:ext cx="21431" cy="39145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2621366"/>
            <a:ext cx="3857625" cy="4437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SELECT category, SUM(profit) AS total_profit FROM sales GROUP BY category ORDER BY total_profit DESC;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28625" y="3191415"/>
            <a:ext cx="799899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Regional Sales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8625" y="3364650"/>
            <a:ext cx="3857625" cy="39145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3364650"/>
            <a:ext cx="21431" cy="39145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3364650"/>
            <a:ext cx="3857625" cy="4437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SELECT region, SUM(revenue) AS total_revenue FROM sales GROUP BY region ORDER BY total_revenue DESC;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57750" y="428625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0052CC"/>
                </a:solidFill>
              </a:rPr>
              <a:t>Exploratory Data Analysis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857750" y="707231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Key EDA Findings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4857750" y="1080492"/>
            <a:ext cx="12824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36344" y="1080492"/>
            <a:ext cx="1479764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Sales Trends Over Time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036344" y="1251942"/>
            <a:ext cx="3679031" cy="284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Clear seasonal patterns identified with peak sales during specific months, guiding marketing campaign timing.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57750" y="1673423"/>
            <a:ext cx="12824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36344" y="1673423"/>
            <a:ext cx="1748877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Product Category Distribution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36344" y="1844873"/>
            <a:ext cx="3679031" cy="284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Uneven distribution across categories; top 3 categories account for 65% of total revenue.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57750" y="2266355"/>
            <a:ext cx="12824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→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36344" y="2266355"/>
            <a:ext cx="1784143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Regional Revenue Comparison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36344" y="2437805"/>
            <a:ext cx="3679031" cy="284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Significant regional variation with top-performing region generating 3x revenue of lowest-performing region.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57750" y="2859286"/>
            <a:ext cx="12824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→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36344" y="2859286"/>
            <a:ext cx="1647887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Customer Behavior Patterns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36344" y="3030736"/>
            <a:ext cx="3679031" cy="284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Average transaction value varies by region and category, informing pricing and inventory strategies.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857750" y="3452217"/>
            <a:ext cx="12824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→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036344" y="3452217"/>
            <a:ext cx="1208664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Profitability Analysis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036344" y="3623667"/>
            <a:ext cx="3679031" cy="284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Some high-volume categories have low margins, indicating need for cost optimization or pricing adjustments.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84873453-3E46-4E05-9B4A-DBEAA107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Dashboard Overview: Structure and KPIs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12602"/>
            <a:ext cx="2632708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0052CC"/>
                </a:solidFill>
              </a:rPr>
              <a:t>Four Main Pages for Comprehensive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28625" y="1148358"/>
            <a:ext cx="4071938" cy="1110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48358"/>
            <a:ext cx="4071938" cy="28575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366242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7219" y="1685925"/>
            <a:ext cx="115256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7219" y="1912739"/>
            <a:ext cx="4459554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High-level KPIs and performance metrics at a glance for quick decision-making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43438" y="1148358"/>
            <a:ext cx="4071938" cy="1110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643438" y="1148358"/>
            <a:ext cx="4071938" cy="28575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1366242"/>
            <a:ext cx="225028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22031" y="1685925"/>
            <a:ext cx="101951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Regional Analysis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22031" y="1912739"/>
            <a:ext cx="4150175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Sales and profit breakdown by geographic area, state, and shopping mall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8625" y="2373511"/>
            <a:ext cx="4071938" cy="1110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428625" y="2373511"/>
            <a:ext cx="4071938" cy="28575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2591395"/>
            <a:ext cx="225028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7219" y="2911078"/>
            <a:ext cx="103554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Category Analysis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07219" y="3137892"/>
            <a:ext cx="3579506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Performance metrics for different product lines and categories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43438" y="2373511"/>
            <a:ext cx="4071938" cy="1110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4643438" y="2373511"/>
            <a:ext cx="4071938" cy="28575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2591395"/>
            <a:ext cx="250031" cy="2000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22031" y="2911078"/>
            <a:ext cx="1078821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Customer Analysis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822031" y="3137892"/>
            <a:ext cx="4185441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Demographics, purchasing behavior, and customer segmentation insights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28625" y="3584377"/>
            <a:ext cx="1346138" cy="114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100" b="1" kern="0" spc="1" dirty="0">
                <a:solidFill>
                  <a:srgbClr val="0052CC"/>
                </a:solidFill>
              </a:rPr>
              <a:t>Primary KPIs Displayed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28625" y="3807619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71500" y="3814763"/>
            <a:ext cx="114133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Total Sales Revenue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28625" y="4029075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71500" y="4036219"/>
            <a:ext cx="63799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28625" y="4250531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71500" y="4257675"/>
            <a:ext cx="133209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Gross Profit Margin (%)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28625" y="4471988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71500" y="4479131"/>
            <a:ext cx="88325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Sales by Region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28625" y="4693444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71500" y="4700588"/>
            <a:ext cx="100348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Sales by Category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714875" y="3584377"/>
            <a:ext cx="1209627" cy="114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100" b="1" kern="0" spc="1" dirty="0">
                <a:solidFill>
                  <a:srgbClr val="0052CC"/>
                </a:solidFill>
              </a:rPr>
              <a:t>Interactive Elements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714875" y="3807619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857750" y="3814763"/>
            <a:ext cx="150522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Dynamic date range filters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714875" y="4029075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4857750" y="4036219"/>
            <a:ext cx="155331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Region and category slicers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714875" y="4250531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4857750" y="4257675"/>
            <a:ext cx="140583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Drill-through capabilities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4714875" y="4471988"/>
            <a:ext cx="11541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▸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4857750" y="4479131"/>
            <a:ext cx="152285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Comparative analysis tools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4729162" y="4606669"/>
            <a:ext cx="4000500" cy="511448"/>
          </a:xfrm>
          <a:prstGeom prst="rect">
            <a:avLst/>
          </a:prstGeom>
          <a:solidFill>
            <a:srgbClr val="E8F0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6" name="Shape 39"/>
          <p:cNvSpPr/>
          <p:nvPr/>
        </p:nvSpPr>
        <p:spPr>
          <a:xfrm>
            <a:off x="4714875" y="4604309"/>
            <a:ext cx="28575" cy="51144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7" name="Text 40"/>
          <p:cNvSpPr/>
          <p:nvPr/>
        </p:nvSpPr>
        <p:spPr>
          <a:xfrm>
            <a:off x="4643438" y="4636865"/>
            <a:ext cx="4000500" cy="56746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Designed for Decision-Makers: Real-time monitoring of sales performance with actionable insights at every level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95303"/>
            <a:ext cx="4143375" cy="275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Dashboard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32505"/>
            <a:ext cx="41433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Transforming complex data into easily understandable visual insights through an interactive PowerBI dashboard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750414"/>
            <a:ext cx="4143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0052CC"/>
                </a:solidFill>
              </a:rPr>
              <a:t>Key Metrics Displayed</a:t>
            </a:r>
            <a:endParaRPr lang="en-US" sz="584" dirty="0"/>
          </a:p>
        </p:txBody>
      </p:sp>
      <p:sp>
        <p:nvSpPr>
          <p:cNvPr id="6" name="Shape 3"/>
          <p:cNvSpPr/>
          <p:nvPr/>
        </p:nvSpPr>
        <p:spPr>
          <a:xfrm>
            <a:off x="428625" y="1937938"/>
            <a:ext cx="2050256" cy="408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937938"/>
            <a:ext cx="2050256" cy="1428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485775" y="1995088"/>
            <a:ext cx="19359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Total Revenue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485775" y="2139748"/>
            <a:ext cx="1935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251.6M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521744" y="1937938"/>
            <a:ext cx="2050256" cy="408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21744" y="1937938"/>
            <a:ext cx="2050256" cy="1428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Text 9"/>
          <p:cNvSpPr/>
          <p:nvPr/>
        </p:nvSpPr>
        <p:spPr>
          <a:xfrm>
            <a:off x="2578894" y="2002231"/>
            <a:ext cx="19359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Total Profit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2578894" y="2146892"/>
            <a:ext cx="1935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26.6M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428625" y="2382636"/>
            <a:ext cx="2050256" cy="408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382636"/>
            <a:ext cx="2050256" cy="1428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6" name="Text 13"/>
          <p:cNvSpPr/>
          <p:nvPr/>
        </p:nvSpPr>
        <p:spPr>
          <a:xfrm>
            <a:off x="485775" y="2439786"/>
            <a:ext cx="19359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Gross Profit Margin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485775" y="2584447"/>
            <a:ext cx="1935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11%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2521744" y="2382636"/>
            <a:ext cx="2050256" cy="408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2521744" y="2382636"/>
            <a:ext cx="2050256" cy="1428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0" name="Text 17"/>
          <p:cNvSpPr/>
          <p:nvPr/>
        </p:nvSpPr>
        <p:spPr>
          <a:xfrm>
            <a:off x="2578894" y="2446930"/>
            <a:ext cx="19359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Avg Order Value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2578894" y="2591591"/>
            <a:ext cx="1935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2.53K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57213" y="2963066"/>
            <a:ext cx="40147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0052CC"/>
                </a:solidFill>
              </a:rPr>
              <a:t>Dashboard Features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557213" y="3136302"/>
            <a:ext cx="4014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Top-Selling Category analysis by revenue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57213" y="3294887"/>
            <a:ext cx="4014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Average Transaction Value by region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57213" y="3453473"/>
            <a:ext cx="4014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Profit by Category breakdown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57213" y="3612059"/>
            <a:ext cx="4014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Average Markup by category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557213" y="3770644"/>
            <a:ext cx="4014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Date slicer for dynamic filtering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57213" y="3929230"/>
            <a:ext cx="4014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Sales Revenue trend over time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428625" y="4173541"/>
            <a:ext cx="4143375" cy="61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4173541"/>
            <a:ext cx="21431" cy="6104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1" name="Text 28"/>
          <p:cNvSpPr/>
          <p:nvPr/>
        </p:nvSpPr>
        <p:spPr>
          <a:xfrm>
            <a:off x="514350" y="4259266"/>
            <a:ext cx="39719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0052CC"/>
                </a:solidFill>
              </a:rPr>
              <a:t>Added Value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514350" y="4418214"/>
            <a:ext cx="397192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Empowers users to explore data themselves and make quick, informed decisions based on visual charts and real-time indicators</a:t>
            </a:r>
            <a:endParaRPr lang="en-US" sz="727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471488"/>
            <a:ext cx="3929063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2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38122"/>
            <a:ext cx="4714875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Market Analysis and Growth Trends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35781" y="1249598"/>
            <a:ext cx="1116268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Total Market Size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5781" y="1442479"/>
            <a:ext cx="4607719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Calculation of the total sales value by aggregating revenue from each transaction. Data is consolidated monthly or annually to show market performance across different time periods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5781" y="2135423"/>
            <a:ext cx="1129092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Historical Growth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5781" y="2328304"/>
            <a:ext cx="4607719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Year-over-Year (YoY) growth analysis to understand market evolution over time. Consistent growth indicates a healthy market, while decline may signal the need for innovation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5781" y="2954997"/>
            <a:ext cx="1681807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Seasonality and Cyclicality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5781" y="3122860"/>
            <a:ext cx="4607719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Identifying peak sales months (e.g., holidays and seasons). These insights help in planning marketing campaigns and increasing inventory during optimal times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8625" y="3742767"/>
            <a:ext cx="4714875" cy="8268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3742767"/>
            <a:ext cx="21431" cy="82688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840934"/>
            <a:ext cx="963725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Strategic Value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0063" y="3997854"/>
            <a:ext cx="44291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Understanding these dimensions enables decision-makers to assess current market position and forecast future trends for improved planning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23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92931"/>
            <a:ext cx="2497863" cy="2753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Customer &amp; Regional Insights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04395"/>
            <a:ext cx="638957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PowerBI dashboard providing a comprehensive view of customer demographics and regional sales performance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28625" y="1461595"/>
            <a:ext cx="4086225" cy="71222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28625" y="1461595"/>
            <a:ext cx="21431" cy="71222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7" name="Text 4"/>
          <p:cNvSpPr/>
          <p:nvPr/>
        </p:nvSpPr>
        <p:spPr>
          <a:xfrm>
            <a:off x="514350" y="1547320"/>
            <a:ext cx="1043876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Total Customers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4350" y="1720555"/>
            <a:ext cx="362279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99.5K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4350" y="1958085"/>
            <a:ext cx="2798843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Total number of unique customers in the dataset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29150" y="1461595"/>
            <a:ext cx="4086225" cy="712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629150" y="1461595"/>
            <a:ext cx="21431" cy="71222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Text 9"/>
          <p:cNvSpPr/>
          <p:nvPr/>
        </p:nvSpPr>
        <p:spPr>
          <a:xfrm>
            <a:off x="4714875" y="1547320"/>
            <a:ext cx="2021772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Average Revenue per Customer</a:t>
            </a:r>
          </a:p>
        </p:txBody>
      </p:sp>
      <p:sp>
        <p:nvSpPr>
          <p:cNvPr id="13" name="Text 10"/>
          <p:cNvSpPr/>
          <p:nvPr/>
        </p:nvSpPr>
        <p:spPr>
          <a:xfrm>
            <a:off x="4714875" y="1720555"/>
            <a:ext cx="362279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$2.5K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14875" y="1958085"/>
            <a:ext cx="2442207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Average spending per unique customer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8625" y="2288121"/>
            <a:ext cx="4086225" cy="712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2288121"/>
            <a:ext cx="21431" cy="71222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7" name="Text 14"/>
          <p:cNvSpPr/>
          <p:nvPr/>
        </p:nvSpPr>
        <p:spPr>
          <a:xfrm>
            <a:off x="514350" y="2373846"/>
            <a:ext cx="1458091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Average Customer Age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4350" y="2547082"/>
            <a:ext cx="15709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43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4350" y="2784611"/>
            <a:ext cx="1734770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Mean age of customer base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29150" y="2288121"/>
            <a:ext cx="4086225" cy="712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629150" y="2288121"/>
            <a:ext cx="21431" cy="71222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2" name="Text 19"/>
          <p:cNvSpPr/>
          <p:nvPr/>
        </p:nvSpPr>
        <p:spPr>
          <a:xfrm>
            <a:off x="4714875" y="2373846"/>
            <a:ext cx="1366721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Top Performing State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14875" y="2547082"/>
            <a:ext cx="614848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California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14875" y="2784611"/>
            <a:ext cx="2070182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dirty="0">
                <a:solidFill>
                  <a:srgbClr val="666666"/>
                </a:solidFill>
              </a:rPr>
              <a:t>Highest revenue-generating state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28625" y="3086072"/>
            <a:ext cx="1658980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0052CC"/>
                </a:solidFill>
              </a:rPr>
              <a:t>Key Dashboard Components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7213" y="3293241"/>
            <a:ext cx="6142772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Average Revenue per Customer by Age - Shows how customer spending varies across age groups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7213" y="3500410"/>
            <a:ext cx="5042855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Average Quantity per Category - Displays purchase volume by product category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57213" y="3707578"/>
            <a:ext cx="5662961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Total Sales Revenue by Gender - Breakdown of revenue contribution by customer gender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57213" y="3914747"/>
            <a:ext cx="5210914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Sales by Region - Revenue distribution across West, East, Central, and South regions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28625" y="4293366"/>
            <a:ext cx="8286750" cy="6932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28625" y="4293366"/>
            <a:ext cx="21431" cy="69327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2" name="Text 29"/>
          <p:cNvSpPr/>
          <p:nvPr/>
        </p:nvSpPr>
        <p:spPr>
          <a:xfrm>
            <a:off x="514350" y="4379091"/>
            <a:ext cx="963725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Strategic Value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14350" y="4580902"/>
            <a:ext cx="8115300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This dashboard enables stakeholders to understand customer segmentation by demographics and geography, identify high-value regions and locations, and optimize resource allocation based on regional performance and customer behavior patterns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6D14D2C4-C821-44A2-B93B-87238635C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4288" cy="5143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1262525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Interactive Features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694730"/>
            <a:ext cx="1479187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Dashboard Capabilities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28625" y="989409"/>
            <a:ext cx="3857625" cy="103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989409"/>
            <a:ext cx="28575" cy="1034058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59073"/>
            <a:ext cx="107156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1398389"/>
            <a:ext cx="850939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Drill-Through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1500" y="1601986"/>
            <a:ext cx="3571875" cy="42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Click on any high-level metric to instantly dive into detailed transactions, customer lists, or specific product data for that selection.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8625" y="2166342"/>
            <a:ext cx="3857625" cy="103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28625" y="2166342"/>
            <a:ext cx="28575" cy="1034058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36006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1500" y="2575322"/>
            <a:ext cx="503728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Tooltips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71500" y="2778919"/>
            <a:ext cx="3571875" cy="42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Hover over data points to reveal additional context, definitions, and detailed information without cluttering the main view.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28625" y="3343275"/>
            <a:ext cx="3857625" cy="103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428625" y="3343275"/>
            <a:ext cx="28575" cy="1034058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12939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1500" y="3752255"/>
            <a:ext cx="1117037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Dynamic Filtering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71500" y="3955852"/>
            <a:ext cx="3571875" cy="42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Use interactive slicers for Date, Region, Category, and other dimensions to instantly update all visualizations in real time.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857750" y="428625"/>
            <a:ext cx="129817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Real-World Scenario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57750" y="694730"/>
            <a:ext cx="1344022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Manager's Workflow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857750" y="989409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4" name="Text 18"/>
          <p:cNvSpPr/>
          <p:nvPr/>
        </p:nvSpPr>
        <p:spPr>
          <a:xfrm>
            <a:off x="4857750" y="1040102"/>
            <a:ext cx="228600" cy="127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2F2F2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193506" y="989409"/>
            <a:ext cx="995337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Filter by Region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193506" y="1153716"/>
            <a:ext cx="3521869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Manager selects a specific region using the region slicer to focus analysis on that market.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193506" y="1489472"/>
            <a:ext cx="2006831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dirty="0">
                <a:solidFill>
                  <a:srgbClr val="0052CC"/>
                </a:solidFill>
              </a:rPr>
              <a:t>→ Dashboard updates instantly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857750" y="1744861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9" name="Text 23"/>
          <p:cNvSpPr/>
          <p:nvPr/>
        </p:nvSpPr>
        <p:spPr>
          <a:xfrm>
            <a:off x="4857750" y="1795554"/>
            <a:ext cx="228600" cy="127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2F2F2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193506" y="1744861"/>
            <a:ext cx="1445589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Spot Low Performance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193506" y="1909167"/>
            <a:ext cx="3521869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Notices a product category with declining sales and low profit margin compared to other categories.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193506" y="2244923"/>
            <a:ext cx="1601336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dirty="0">
                <a:solidFill>
                  <a:srgbClr val="0052CC"/>
                </a:solidFill>
              </a:rPr>
              <a:t>→ Identifies the problem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857750" y="2500313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34" name="Text 28"/>
          <p:cNvSpPr/>
          <p:nvPr/>
        </p:nvSpPr>
        <p:spPr>
          <a:xfrm>
            <a:off x="4857750" y="2551006"/>
            <a:ext cx="228600" cy="127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2F2F2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193506" y="2500313"/>
            <a:ext cx="1407821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Drill-Through Analysis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193506" y="2664619"/>
            <a:ext cx="3521869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Clicks on the underperforming category to see individual transactions, customer details, and pricing data.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193506" y="3000375"/>
            <a:ext cx="1530034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dirty="0">
                <a:solidFill>
                  <a:srgbClr val="0052CC"/>
                </a:solidFill>
              </a:rPr>
              <a:t>→ Uncovers root causes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57750" y="3255764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39" name="Text 33"/>
          <p:cNvSpPr/>
          <p:nvPr/>
        </p:nvSpPr>
        <p:spPr>
          <a:xfrm>
            <a:off x="4857750" y="3306457"/>
            <a:ext cx="228600" cy="127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2F2F2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193506" y="3255764"/>
            <a:ext cx="737510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Take Action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5193506" y="3420070"/>
            <a:ext cx="3521869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Based on insights, decides to adjust pricing, reduce costs, or reallocate inventory to improve performance.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5193506" y="3755827"/>
            <a:ext cx="1929503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dirty="0">
                <a:solidFill>
                  <a:srgbClr val="0052CC"/>
                </a:solidFill>
              </a:rPr>
              <a:t>→ Makes data-driven decision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4843463" y="4105079"/>
            <a:ext cx="3857625" cy="511448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4" name="Shape 38"/>
          <p:cNvSpPr/>
          <p:nvPr/>
        </p:nvSpPr>
        <p:spPr>
          <a:xfrm>
            <a:off x="4857750" y="4105079"/>
            <a:ext cx="28575" cy="51144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5" name="Text 39"/>
          <p:cNvSpPr/>
          <p:nvPr/>
        </p:nvSpPr>
        <p:spPr>
          <a:xfrm>
            <a:off x="4857750" y="4025503"/>
            <a:ext cx="3857625" cy="71917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</a:rPr>
              <a:t>Outcome: From problem identification to actionable decision in minutes, not days. The dashboard enables rapid decision-making and strategic action.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272374DD-0160-4B91-B168-854E5951C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Key Findings &amp; Actionable Business Insights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12602"/>
            <a:ext cx="2250937" cy="122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b="1" kern="0" spc="1" dirty="0">
                <a:solidFill>
                  <a:srgbClr val="0052CC"/>
                </a:solidFill>
              </a:rPr>
              <a:t>Strategic Discoveries from Data Analysis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234083"/>
            <a:ext cx="285750" cy="28575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23408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2F2F2"/>
                </a:solidFill>
              </a:rPr>
              <a:t>1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662708"/>
            <a:ext cx="1720023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Regional Profitability Leaders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8625" y="1937017"/>
            <a:ext cx="2619356" cy="6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Identified top-performing states and regions with the highest total profit. Certain geographic areas significantly outperform others, indicating strong market potential.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8625" y="2719927"/>
            <a:ext cx="2619356" cy="5968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Action: Allocate more resources and inventory to high-performing regions to maximize returns.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2294" y="1234083"/>
            <a:ext cx="285750" cy="28575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1" name="Text 8"/>
          <p:cNvSpPr/>
          <p:nvPr/>
        </p:nvSpPr>
        <p:spPr>
          <a:xfrm>
            <a:off x="3262294" y="123408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2F2F2"/>
                </a:solidFill>
              </a:rPr>
              <a:t>2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262294" y="1662708"/>
            <a:ext cx="1633460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Category Performance Gaps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62294" y="1937017"/>
            <a:ext cx="2619384" cy="6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Pinpointed product categories with low profit margins and underperforming sales. Some categories are generating volume but not profitability.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62294" y="2559918"/>
            <a:ext cx="2619384" cy="5968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Action: Adjust pricing strategies or reduce costs for low-margin categories to improve profitability.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95991" y="1234083"/>
            <a:ext cx="285750" cy="28575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6" name="Text 13"/>
          <p:cNvSpPr/>
          <p:nvPr/>
        </p:nvSpPr>
        <p:spPr>
          <a:xfrm>
            <a:off x="6095991" y="123408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2F2F2"/>
                </a:solidFill>
              </a:rPr>
              <a:t>3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095991" y="1662708"/>
            <a:ext cx="149880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Customer Loyalty Metrics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95991" y="1937017"/>
            <a:ext cx="2619356" cy="6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Analyzed repeat customer rates and average revenue per customer. Understanding customer lifetime value reveals retention opportunities.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95991" y="2559918"/>
            <a:ext cx="2619356" cy="5968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52CC"/>
                </a:solidFill>
              </a:rPr>
              <a:t>Action: Develop targeted loyalty programs to increase repeat purchases and customer lifetime value.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8625" y="3441446"/>
            <a:ext cx="828675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441446"/>
            <a:ext cx="8286750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3655758"/>
            <a:ext cx="835357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0052CC"/>
                </a:solidFill>
              </a:rPr>
              <a:t>Insight Impact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28625" y="3898646"/>
            <a:ext cx="8286750" cy="35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These findings directly guide strategic decision-making, enabling managers to reallocate inventory, adjust pricing, and develop customer retention strategies with data-driven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5BBB4EE3-C597-40EA-B885-47C6D85FE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Future Improvements &amp; Roadmap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12602"/>
            <a:ext cx="1906612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Scaling the Analytics Platform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28625" y="1119783"/>
            <a:ext cx="4086225" cy="16126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19783"/>
            <a:ext cx="28575" cy="161264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7" name="Shape 4"/>
          <p:cNvSpPr/>
          <p:nvPr/>
        </p:nvSpPr>
        <p:spPr>
          <a:xfrm>
            <a:off x="557213" y="1248370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557213" y="1292009"/>
            <a:ext cx="228600" cy="141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2F2F2"/>
                </a:solidFill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7213" y="1562695"/>
            <a:ext cx="1090042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Advanced Analytics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57213" y="1801285"/>
            <a:ext cx="38290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Enhance the platform with predictive capabilities and machine learning models to forecast future trends.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7213" y="2169858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2169858"/>
            <a:ext cx="1521250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Predictive sales forecasting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7213" y="2328807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2328807"/>
            <a:ext cx="1553310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ML-based demand planning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7213" y="2487755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2487755"/>
            <a:ext cx="1692771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Anomaly detection algorithms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29150" y="1119783"/>
            <a:ext cx="4086225" cy="16126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629150" y="1119783"/>
            <a:ext cx="28575" cy="161264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9" name="Shape 16"/>
          <p:cNvSpPr/>
          <p:nvPr/>
        </p:nvSpPr>
        <p:spPr>
          <a:xfrm>
            <a:off x="4757738" y="1248370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0" name="Text 17"/>
          <p:cNvSpPr/>
          <p:nvPr/>
        </p:nvSpPr>
        <p:spPr>
          <a:xfrm>
            <a:off x="4757738" y="1292009"/>
            <a:ext cx="228600" cy="141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2F2F2"/>
                </a:solidFill>
              </a:rPr>
              <a:t>2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57738" y="1562695"/>
            <a:ext cx="38290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Customer Intelligence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757738" y="1801285"/>
            <a:ext cx="38290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Develop advanced customer analytics to maximize lifetime value and retention.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4757738" y="2021291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86325" y="2021291"/>
            <a:ext cx="2085507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Customer Lifetime Value (CLV) model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57738" y="2180239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86325" y="2180239"/>
            <a:ext cx="1413849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Churn prediction analysis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57738" y="2339187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86325" y="2339187"/>
            <a:ext cx="1521250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Segmentation optimization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8625" y="2846729"/>
            <a:ext cx="4086225" cy="14640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2846729"/>
            <a:ext cx="28575" cy="146407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1" name="Shape 28"/>
          <p:cNvSpPr/>
          <p:nvPr/>
        </p:nvSpPr>
        <p:spPr>
          <a:xfrm>
            <a:off x="557213" y="2975316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32" name="Text 29"/>
          <p:cNvSpPr/>
          <p:nvPr/>
        </p:nvSpPr>
        <p:spPr>
          <a:xfrm>
            <a:off x="557213" y="3018955"/>
            <a:ext cx="228600" cy="141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2F2F2"/>
                </a:solidFill>
              </a:rPr>
              <a:t>3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57213" y="3289641"/>
            <a:ext cx="1041952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</a:rPr>
              <a:t>Data &amp; Integration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57213" y="3528231"/>
            <a:ext cx="390331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Expand data sources and automate refresh cycles for real-time insights.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57213" y="3748236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85800" y="3748236"/>
            <a:ext cx="1881925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Automated data refresh pipelines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57213" y="3907185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85800" y="3907185"/>
            <a:ext cx="1511632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Marketing data integration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57213" y="4066133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85800" y="4066133"/>
            <a:ext cx="1612621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Inventory &amp; CRM integration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29150" y="2846729"/>
            <a:ext cx="4086225" cy="14640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4629150" y="2846729"/>
            <a:ext cx="28575" cy="146407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3" name="Shape 40"/>
          <p:cNvSpPr/>
          <p:nvPr/>
        </p:nvSpPr>
        <p:spPr>
          <a:xfrm>
            <a:off x="4757738" y="2975316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44" name="Text 41"/>
          <p:cNvSpPr/>
          <p:nvPr/>
        </p:nvSpPr>
        <p:spPr>
          <a:xfrm>
            <a:off x="4757738" y="3018955"/>
            <a:ext cx="228600" cy="1413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2F2F2"/>
                </a:solidFill>
              </a:rPr>
              <a:t>4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757738" y="3289641"/>
            <a:ext cx="38290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User Experience</a:t>
            </a:r>
            <a:endParaRPr lang="en-US" sz="885" dirty="0"/>
          </a:p>
        </p:txBody>
      </p:sp>
      <p:sp>
        <p:nvSpPr>
          <p:cNvPr id="46" name="Text 43"/>
          <p:cNvSpPr/>
          <p:nvPr/>
        </p:nvSpPr>
        <p:spPr>
          <a:xfrm>
            <a:off x="4757738" y="3528231"/>
            <a:ext cx="38290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Extend the dashboard to mobile and create more accessible interfaces.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4757738" y="3748236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4886325" y="3748236"/>
            <a:ext cx="1497205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Mobile-friendly dashboard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757738" y="3907185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4886325" y="3907185"/>
            <a:ext cx="119423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Executive mobile app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757738" y="4066133"/>
            <a:ext cx="121828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→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886325" y="4066133"/>
            <a:ext cx="1740861" cy="112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Enhanced accessibility features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28625" y="4382244"/>
            <a:ext cx="8286750" cy="6447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428625" y="4382244"/>
            <a:ext cx="8286750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5" name="Text 52"/>
          <p:cNvSpPr/>
          <p:nvPr/>
        </p:nvSpPr>
        <p:spPr>
          <a:xfrm>
            <a:off x="428625" y="4496544"/>
            <a:ext cx="994311" cy="11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200" b="1" kern="0" spc="1" dirty="0">
                <a:solidFill>
                  <a:srgbClr val="0052CC"/>
                </a:solidFill>
              </a:rPr>
              <a:t>Strategic Vision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428625" y="4669780"/>
            <a:ext cx="7800975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Transform the analytics platform into a comprehensive, AI-powered intelligence system that enables real-time decision-making across the entire organization.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8372475" y="4505474"/>
            <a:ext cx="3429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92" dirty="0">
                <a:solidFill>
                  <a:srgbClr val="0052CC">
                    <a:alpha val="20000"/>
                  </a:srgbClr>
                </a:solidFill>
              </a:rPr>
              <a:t>★</a:t>
            </a:r>
            <a:endParaRPr lang="en-US" sz="259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03399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927222"/>
            <a:ext cx="3714750" cy="133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Turning </a:t>
            </a:r>
            <a:r>
              <a:rPr lang="en-US" sz="2436" b="1" dirty="0">
                <a:solidFill>
                  <a:srgbClr val="0052CC"/>
                </a:solidFill>
              </a:rPr>
              <a:t>Raw Data</a:t>
            </a:r>
            <a:r>
              <a:rPr lang="en-US" sz="2436" b="1" dirty="0">
                <a:solidFill>
                  <a:srgbClr val="F2F2F2"/>
                </a:solidFill>
              </a:rPr>
              <a:t> into </a:t>
            </a:r>
            <a:r>
              <a:rPr lang="en-US" sz="2436" b="1" dirty="0">
                <a:solidFill>
                  <a:srgbClr val="0052CC"/>
                </a:solidFill>
              </a:rPr>
              <a:t>Actionable Insights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3478811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52CC"/>
                </a:solidFill>
              </a:rPr>
              <a:t>LIMITLESS INSIGHTS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857750" y="987289"/>
            <a:ext cx="3714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2F2F2"/>
                </a:solidFill>
              </a:rPr>
              <a:t>Thank You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857750" y="1439131"/>
            <a:ext cx="3714750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We appreciate your attention and interest in the Sales Performance Analysis project. This comprehensive analytics solution demonstrates the power of data-driven decision-making in transforming business outcomes.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857750" y="2730698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2F2F2"/>
                </a:solidFill>
              </a:rPr>
              <a:t>Questions?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857750" y="3012877"/>
            <a:ext cx="3714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We welcome your questions, feedback, and suggestions. Let's discuss how these insights can drive strategic decisions and growth for your organization.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857750" y="3847244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0052CC"/>
                </a:solidFill>
              </a:rPr>
              <a:t>Key Takeaway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4857750" y="4070486"/>
            <a:ext cx="3714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2F2F2"/>
                </a:solidFill>
              </a:rPr>
              <a:t>Data is only valuable when it's transformed into actionable insights. Our dashboard empowers decision-makers with the information they need, when they need it.</a:t>
            </a:r>
            <a:endParaRPr lang="en-US" sz="7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1893</Words>
  <Application>Microsoft Office PowerPoint</Application>
  <PresentationFormat>On-screen Show (16:9)</PresentationFormat>
  <Paragraphs>333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8</cp:revision>
  <dcterms:created xsi:type="dcterms:W3CDTF">2025-11-30T20:52:08Z</dcterms:created>
  <dcterms:modified xsi:type="dcterms:W3CDTF">2025-11-30T21:56:02Z</dcterms:modified>
</cp:coreProperties>
</file>